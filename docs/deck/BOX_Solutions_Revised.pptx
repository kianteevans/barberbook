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needs staffed.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fixed-fee project and three twelve-month retainers. This is the internal side-by-side view,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7BA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figures are unset. No bracket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6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2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an ISV’s AWS business needs staffed.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8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0" name="Image 3" descr="/home/user/barberbook/docs/deck/assets/tile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 business needs staffed.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the product listed, running the AWS partnership, operating the Marketplace, and building the reseller channel — covered between the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472690"/>
            <a:ext cx="2819400" cy="2908300"/>
          </a:xfrm>
          <a:prstGeom prst="rect">
            <a:avLst/>
          </a:prstGeom>
        </p:spPr>
      </p:pic>
      <p:pic>
        <p:nvPicPr>
          <p:cNvPr id="10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3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2320" y="2472690"/>
            <a:ext cx="2819400" cy="2908300"/>
          </a:xfrm>
          <a:prstGeom prst="rect">
            <a:avLst/>
          </a:prstGeom>
        </p:spPr>
      </p:pic>
      <p:pic>
        <p:nvPicPr>
          <p:cNvPr id="14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7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9020" y="2472690"/>
            <a:ext cx="2819400" cy="2908300"/>
          </a:xfrm>
          <a:prstGeom prst="rect">
            <a:avLst/>
          </a:prstGeom>
        </p:spPr>
      </p:pic>
      <p:pic>
        <p:nvPicPr>
          <p:cNvPr id="18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0" name="Text 10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[listing engineering / the offer desk / reporting and integrations — proposed, confirm with Automatum] — at every tier. Volume, response time and reporting cadence set the rung.</a:t>
            </a:r>
            <a:endParaRPr lang="en-US" sz="900" dirty="0"/>
          </a:p>
        </p:txBody>
      </p:sp>
      <p:pic>
        <p:nvPicPr>
          <p:cNvPr id="21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5720" y="2472690"/>
            <a:ext cx="2819400" cy="2908300"/>
          </a:xfrm>
          <a:prstGeom prst="rect">
            <a:avLst/>
          </a:prstGeom>
        </p:spPr>
      </p:pic>
      <p:pic>
        <p:nvPicPr>
          <p:cNvPr id="22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4" name="Text 12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recruited, enabled and operated — measured by partners issuing offers, not roster size; no cap on roster size. Partner types set the tiers.</a:t>
            </a:r>
            <a:endParaRPr lang="en-US" sz="900" dirty="0"/>
          </a:p>
        </p:txBody>
      </p:sp>
      <p:sp>
        <p:nvSpPr>
          <p:cNvPr id="25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6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buyers, four boundaries.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ladder, different job, different buyer, different cost base, different Solution ID.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one-time path to a published, transacting listing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around a listing — not the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Running a listing that already exists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rung is.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0" name="Image 3" descr="/home/user/barberbook/docs/deck/assets/tile_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2" name="Image 4" descr="/home/user/barberbook/docs/deck/assets/tile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556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1242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1242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66420" y="38163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5275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52387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49300" y="35306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2857500" y="35306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38862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2857500" y="38862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42418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857500" y="42418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45974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2857500" y="45974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49530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2857500" y="49530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3086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2857500" y="53086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56642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2857500" y="56642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the co-sell desk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the deal desk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transacting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it on a tighter cadence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it at volume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Kiflo, resold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[Expand or Activate]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transacting roster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requires a published listing, delivered by the Accelerator or already in place. Alliances runs the partnership around a listing; it does not produce one.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each with a written action log issued within [N] business days.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Partner-tier progress, AWS-attributed pipeline, and accepted co-sell opportunities.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scheduled, held and minuted; action log within [N] business days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AWS partnership plan with dated actions and named owners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and compliance items tracked, chased and reported with status at each review</a:t>
            </a:r>
            <a:endParaRPr lang="en-US" sz="78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published and transacting inside the term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Partner-tier progress accepted by AWS at [target tier]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named AWS field contacts engaged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run the co-sell desk.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Mid-month pipeline review added to the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package filed within [N] business days of a complete opportunity record; up to [N] a month, further at [$X]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Rejection reason written back within [N] business days; one rework where curable from customer information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written update to the ISV’s AWS PDM and account team</a:t>
            </a:r>
            <a:endParaRPr lang="en-US" sz="78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ACE opportunities accepted — acceptance is AWS’s decision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[$X] AWS-attributed pipeline created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first meetings sourced through AWS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run the deal desk.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terms drafted within [N] business days of a complete, priced, customer-approved request, and submitted to Automatum for issue; up to [N] a month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deal review with the ISV’s sales lead; written next action on every open opportunity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records updated within [N] business days of notification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business-hour response on deal-blocking requests within [coverage window, time zone]</a:t>
            </a:r>
            <a:endParaRPr lang="en-US" sz="78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private offers issued; [$X]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opportunities Closed Won — the close sits with the ISV’s sales team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AWS funding requests approved — AWS decides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Automatum issues every offer. [Partner Central instance for ACE filing — to confirm.] All bracketed figures gate on the staffing model.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a live listing at volume. All nine services at every rung — volume, response time and reporting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requires a published AWS Marketplace listing, delivered by the Accelerator or already in place.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running the listing to a written service level issued at onboarding, twelve monthly operating packs, and an annual state-of-the-listing review.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Transacting subscriptions, renewal rate, and Marketplace-transacted revenue.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operations owner with a named backup; desk open [coverage hours, time zone]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drafted and submitted to Automatum for issue within [N] business days of a complete request; up to [N] a month, further at [$X]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submitted to AWS within [N] business days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operating report on a fixed date, reconciled against AWS statements as published</a:t>
            </a:r>
            <a:endParaRPr lang="en-US" sz="78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First offer issued and accepted within [N] days of onboarding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transacting subscriptions by month twelve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Reconciliation complete with no open exception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depth — run it on a tighter cadence.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Higher band: up to [N] offers a month; integration exceptions listed monthly and cleared within [N] business days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offer-desk stand-up with the customer’s named sales lead, with written actions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Expiry watch: every agreement flagged [N] days out with a renewal offer drafted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AWS-mandated changes assessed within [N] business days of notice, with an implementation plan issued</a:t>
            </a:r>
            <a:endParaRPr lang="en-US" sz="78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offers issued per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[X]% of expiring agreements renewed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Changes landed before AWS’s stated deadline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depth — run it at volume.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Top band: up to [N] offers a month; same-day drafting and submission for standard offers received before [cut-off time]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Coverage extended to [window, time zone] — this rung’s increment is coverage and response band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reporting; monthly reconciliation with every variance explained in writing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listing engineering review delivered as a written change plan</a:t>
            </a:r>
            <a:endParaRPr lang="en-US" sz="78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desk running at [N]+ offers a month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[$X] Marketplace-transacted revenue over the term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[X]% of revenue reconciled with no open exception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Offer issue turnaround is committed only where Automatum’s matching internal turnaround is in place. Selling authorizations and partner-issued offers sit in Managed Partner Development.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The headline number is partners issuing offers — not roster size.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[CONFIRM WITH AUTOMATUM — can a third-party reseller issue offers against Automatum’s listing under its seller-of-record position, and by what mechanism? The scoreboard below rests on it.]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manager, an agreement pack issued for signature, a live Kiflo portal, recruitment and enablement on a named cadence, and a monthly report whose headline number is partners issuing offers.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 partners issuing offers and [$Y] partner-sourced Marketplace revenue by month twelve.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channel manager at [N] hours, with a named backup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Agreement pack — partner agreement, margin schedule, registration rules — drafted and issued for signature within [N] business days of kickoff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portal live within [N] business days of [named customer inputs]; resold by OBP inside the fee, [N] seats included, further at [$Z]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Registration recommendation within [N] business days, plus the customer’s decision logged</a:t>
            </a:r>
            <a:endParaRPr lang="en-US" sz="78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signed by month [6]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First partner-issued offer by month [N]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 by month twelve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[Expand or Activate]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Establish — widen the transacting roster.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second partner type in scope; [N] targeted approaches a month across both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Enablement built and run — [N] sessions scheduled and held; attendance not guaranteed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Written activation plan for up to [N] partners, reviewed monthly until first offer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Selling authorization and offer requests submitted to Automatum within [N] business days</a:t>
            </a:r>
            <a:endParaRPr lang="en-US" sz="78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 by month twelve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partner-registered deals a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[$X] partner-sourced pipeline standing in Kiflo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the middle rung — 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deal-desk owner with a stated coverage window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Performance reviews offered monthly to up to [N] issuing partners, with written recovery plans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eligible partner-sourced deal filed within [N] business days of registration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pack reporting margin paid, commission accrued and revenue attributed</a:t>
            </a:r>
            <a:endParaRPr lang="en-US" sz="78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offers, sustained per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[$Y] partner-sourced revenue; conversion and attribution rates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ACE count — separate from the programme’s five per Solution ID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Execution of an agreement needs the customer’s legal function and the partner’s countersignature — a target, not a commit. Rung names and partner types [P] / [P+1] / [P+2] to confirm.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every number is settled.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or the commit column silently acquires a number nobody set.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0" name="Image 3" descr="/home/user/barberbook/docs/deck/assets/tile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2" name="Image 4" descr="/home/user/barberbook/docs/deck/assets/tile_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One-time listing production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opportunities and AWS funding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customer’s own listing, offers and reconciliation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and partner-issued offers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Resold by OBP inside Managed Partner Development, at every tier. System of record behind the partners-issuing-offers count. [Pricing basis, seats per rung, edition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terms to agree between us.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BLOCKING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$10,000 fee and the ladder cannot be validated until OBP knows its share. A split below OBP’s walk-away means the prices are wrong, not the split.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Confirmed project leads — Milestone 3, AWS-funded.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[Direction to confirm: owed by the partners, or flowing to them?]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102362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76504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850646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carries its own Solution ID and its own five ACE submissions; an opportunity belongs to one solution. Milestone apportionment is open — see partner economics.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waves, along the value chain.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p10’s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this slide is wrong.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Approve the sequence, confirm the lead partner of record, name the dates.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921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86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8511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4353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0195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6037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49300" y="26289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5143500" y="2628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366000" y="26289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(Aein, email) — evidence to attach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29210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5143500" y="2921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366000" y="29210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32131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5143500" y="3213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7366000" y="32131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35052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143500" y="3505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366000" y="35052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37973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1435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366000" y="37973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40894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/ target set per retainer rung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143500" y="4089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366000" y="40894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In draft — placeholders to close by [date]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49300" y="43815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band and overflow rate per rung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143500" y="4381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commercial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7366000" y="43815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decide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749300" y="46736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50" dirty="0"/>
          </a:p>
        </p:txBody>
      </p:sp>
      <p:sp>
        <p:nvSpPr>
          <p:cNvPr id="39" name="Text 35"/>
          <p:cNvSpPr txBox="1"/>
          <p:nvPr/>
        </p:nvSpPr>
        <p:spPr>
          <a:xfrm>
            <a:off x="5143500" y="46736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7366000" y="46736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agree on the call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749300" y="49657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143500" y="49657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7366000" y="49657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749300" y="53340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336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336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336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18" name="Text 11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NOBODY HAS PRICED THIS</a:t>
            </a:r>
            <a:endParaRPr lang="en-US" sz="800" dirty="0"/>
          </a:p>
        </p:txBody>
      </p:sp>
      <p:sp>
        <p:nvSpPr>
          <p:cNvPr id="19" name="Text 12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2026-09-02T03:29:36Z</dcterms:created>
  <dcterms:modified xsi:type="dcterms:W3CDTF">2026-09-02T03:29:36Z</dcterms:modified>
</cp:coreProperties>
</file>