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5.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3.png"/><Relationship Id="rId5" Type="http://schemas.openxmlformats.org/officeDocument/2006/relationships/image" Target="../media/image-2-3.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3.png"/><Relationship Id="rId6" Type="http://schemas.openxmlformats.org/officeDocument/2006/relationships/image" Target="../media/image-4-6.png"/><Relationship Id="rId7" Type="http://schemas.openxmlformats.org/officeDocument/2006/relationships/image" Target="../media/image-4-3.png"/><Relationship Id="rId8" Type="http://schemas.openxmlformats.org/officeDocument/2006/relationships/image" Target="../media/image-4-8.png"/><Relationship Id="rId9" Type="http://schemas.openxmlformats.org/officeDocument/2006/relationships/image" Target="../media/image-4-3.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6-3.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3.png"/><Relationship Id="rId5" Type="http://schemas.openxmlformats.org/officeDocument/2006/relationships/image" Target="../media/image-22-3.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user/barberbook/docs/deck/assets/bg_title.jp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logo_automatum.png">    </p:cNvPr>
          <p:cNvPicPr>
            <a:picLocks noChangeAspect="1"/>
          </p:cNvPicPr>
          <p:nvPr/>
        </p:nvPicPr>
        <p:blipFill>
          <a:blip r:embed="rId2"/>
          <a:stretch>
            <a:fillRect/>
          </a:stretch>
        </p:blipFill>
        <p:spPr>
          <a:xfrm>
            <a:off x="820420" y="657860"/>
            <a:ext cx="1779270" cy="420370"/>
          </a:xfrm>
          <a:prstGeom prst="rect">
            <a:avLst/>
          </a:prstGeom>
        </p:spPr>
      </p:pic>
      <p:sp>
        <p:nvSpPr>
          <p:cNvPr id="4" name="Text 0"/>
          <p:cNvSpPr txBox="1"/>
          <p:nvPr/>
        </p:nvSpPr>
        <p:spPr>
          <a:xfrm>
            <a:off x="3054350" y="800100"/>
            <a:ext cx="381000" cy="177800"/>
          </a:xfrm>
          <a:prstGeom prst="rect">
            <a:avLst/>
          </a:prstGeom>
          <a:noFill/>
          <a:ln/>
        </p:spPr>
        <p:txBody>
          <a:bodyPr wrap="square" lIns="0" tIns="0" rIns="0" bIns="0" rtlCol="0" anchor="t"/>
          <a:lstStyle/>
          <a:p>
            <a:pPr indent="0" marL="0">
              <a:buNone/>
            </a:pPr>
            <a:r>
              <a:rPr lang="en-US" sz="1100" dirty="0">
                <a:solidFill>
                  <a:srgbClr val="8FA0C6"/>
                </a:solidFill>
                <a:latin typeface="Segoe UI Semilight" pitchFamily="34" charset="0"/>
                <a:ea typeface="Segoe UI Semilight" pitchFamily="34" charset="-122"/>
                <a:cs typeface="Segoe UI Semilight" pitchFamily="34" charset="-120"/>
              </a:rPr>
              <a:t>with</a:t>
            </a:r>
            <a:endParaRPr lang="en-US" sz="1100" dirty="0"/>
          </a:p>
        </p:txBody>
      </p:sp>
      <p:pic>
        <p:nvPicPr>
          <p:cNvPr id="5" name="Image 2" descr="/home/user/barberbook/docs/deck/assets/logo_obp.png">    </p:cNvPr>
          <p:cNvPicPr>
            <a:picLocks noChangeAspect="1"/>
          </p:cNvPicPr>
          <p:nvPr/>
        </p:nvPicPr>
        <p:blipFill>
          <a:blip r:embed="rId3"/>
          <a:stretch>
            <a:fillRect/>
          </a:stretch>
        </p:blipFill>
        <p:spPr>
          <a:xfrm>
            <a:off x="3456940" y="664210"/>
            <a:ext cx="1828800" cy="410210"/>
          </a:xfrm>
          <a:prstGeom prst="rect">
            <a:avLst/>
          </a:prstGeom>
        </p:spPr>
      </p:pic>
      <p:sp>
        <p:nvSpPr>
          <p:cNvPr id="6" name="Shape 1"/>
          <p:cNvSpPr/>
          <p:nvPr/>
        </p:nvSpPr>
        <p:spPr>
          <a:xfrm>
            <a:off x="8077200" y="694690"/>
            <a:ext cx="3547110" cy="347980"/>
          </a:xfrm>
          <a:prstGeom prst="roundRect">
            <a:avLst>
              <a:gd name="adj" fmla="val 49927"/>
            </a:avLst>
          </a:prstGeom>
          <a:solidFill>
            <a:srgbClr val="B4432F"/>
          </a:solidFill>
          <a:ln/>
        </p:spPr>
      </p:sp>
      <p:sp>
        <p:nvSpPr>
          <p:cNvPr id="7" name="Text 2"/>
          <p:cNvSpPr txBox="1"/>
          <p:nvPr/>
        </p:nvSpPr>
        <p:spPr>
          <a:xfrm>
            <a:off x="8077200" y="787400"/>
            <a:ext cx="3547110" cy="203200"/>
          </a:xfrm>
          <a:prstGeom prst="rect">
            <a:avLst/>
          </a:prstGeom>
          <a:noFill/>
          <a:ln/>
        </p:spPr>
        <p:txBody>
          <a:bodyPr wrap="square" lIns="0" tIns="0" rIns="0" bIns="0" rtlCol="0" anchor="t"/>
          <a:lstStyle/>
          <a:p>
            <a:pPr algn="ctr" indent="0" marL="0">
              <a:buNone/>
            </a:pPr>
            <a:r>
              <a:rPr lang="en-US" sz="900" b="1" spc="90" kern="0" dirty="0">
                <a:solidFill>
                  <a:srgbClr val="FFFFFF"/>
                </a:solidFill>
                <a:latin typeface="Segoe UI" pitchFamily="34" charset="0"/>
                <a:ea typeface="Segoe UI" pitchFamily="34" charset="-122"/>
                <a:cs typeface="Segoe UI" pitchFamily="34" charset="-120"/>
              </a:rPr>
              <a:t>INTERNAL  ·  OBP AND AUTOMATUM ONLY</a:t>
            </a:r>
            <a:endParaRPr lang="en-US" sz="900" dirty="0"/>
          </a:p>
        </p:txBody>
      </p:sp>
      <p:sp>
        <p:nvSpPr>
          <p:cNvPr id="8" name="Text 3"/>
          <p:cNvSpPr txBox="1"/>
          <p:nvPr/>
        </p:nvSpPr>
        <p:spPr>
          <a:xfrm>
            <a:off x="657860" y="2260600"/>
            <a:ext cx="5080000" cy="228600"/>
          </a:xfrm>
          <a:prstGeom prst="rect">
            <a:avLst/>
          </a:prstGeom>
          <a:noFill/>
          <a:ln/>
        </p:spPr>
        <p:txBody>
          <a:bodyPr wrap="square" lIns="0" tIns="0" rIns="0" bIns="0" rtlCol="0" anchor="t"/>
          <a:lstStyle/>
          <a:p>
            <a:pPr indent="0" marL="0">
              <a:buNone/>
            </a:pPr>
            <a:r>
              <a:rPr lang="en-US" sz="1250" b="1" spc="340" kern="0" dirty="0">
                <a:solidFill>
                  <a:srgbClr val="F36F20"/>
                </a:solidFill>
                <a:latin typeface="Segoe UI" pitchFamily="34" charset="0"/>
                <a:ea typeface="Segoe UI" pitchFamily="34" charset="-122"/>
                <a:cs typeface="Segoe UI" pitchFamily="34" charset="-120"/>
              </a:rPr>
              <a:t>INTERNAL  ·  AUTOMATUM X OBP</a:t>
            </a:r>
            <a:endParaRPr lang="en-US" sz="1250" dirty="0"/>
          </a:p>
        </p:txBody>
      </p:sp>
      <p:sp>
        <p:nvSpPr>
          <p:cNvPr id="9" name="Text 4"/>
          <p:cNvSpPr txBox="1"/>
          <p:nvPr/>
        </p:nvSpPr>
        <p:spPr>
          <a:xfrm>
            <a:off x="657860" y="2768600"/>
            <a:ext cx="8890000" cy="1333500"/>
          </a:xfrm>
          <a:prstGeom prst="rect">
            <a:avLst/>
          </a:prstGeom>
          <a:noFill/>
          <a:ln/>
        </p:spPr>
        <p:txBody>
          <a:bodyPr wrap="square" lIns="0" tIns="0" rIns="0" bIns="0" rtlCol="0" anchor="t"/>
          <a:lstStyle/>
          <a:p>
            <a:pPr indent="0" marL="0">
              <a:lnSpc>
                <a:spcPts val="5000"/>
              </a:lnSpc>
              <a:buNone/>
            </a:pPr>
            <a:r>
              <a:rPr lang="en-US" sz="4400" b="1" dirty="0">
                <a:solidFill>
                  <a:srgbClr val="FFFFFF"/>
                </a:solidFill>
                <a:latin typeface="Segoe UI" pitchFamily="34" charset="0"/>
                <a:ea typeface="Segoe UI" pitchFamily="34" charset="-122"/>
                <a:cs typeface="Segoe UI" pitchFamily="34" charset="-120"/>
              </a:rPr>
              <a:t>Four jobs an ISV’s AWS</a:t>
            </a:r>
            <a:endParaRPr lang="en-US" sz="4400" dirty="0"/>
          </a:p>
          <a:p>
            <a:pPr indent="0" marL="0">
              <a:lnSpc>
                <a:spcPts val="5000"/>
              </a:lnSpc>
              <a:buNone/>
            </a:pPr>
            <a:r>
              <a:rPr lang="en-US" sz="4400" b="1" dirty="0">
                <a:solidFill>
                  <a:srgbClr val="FFFFFF"/>
                </a:solidFill>
                <a:latin typeface="Segoe UI" pitchFamily="34" charset="0"/>
                <a:ea typeface="Segoe UI" pitchFamily="34" charset="-122"/>
                <a:cs typeface="Segoe UI" pitchFamily="34" charset="-120"/>
              </a:rPr>
              <a:t>business needs staffed.</a:t>
            </a:r>
            <a:endParaRPr lang="en-US" sz="4400" dirty="0"/>
          </a:p>
        </p:txBody>
      </p:sp>
      <p:sp>
        <p:nvSpPr>
          <p:cNvPr id="10" name="Text 5"/>
          <p:cNvSpPr txBox="1"/>
          <p:nvPr/>
        </p:nvSpPr>
        <p:spPr>
          <a:xfrm>
            <a:off x="657860" y="4140200"/>
            <a:ext cx="10160000" cy="508000"/>
          </a:xfrm>
          <a:prstGeom prst="rect">
            <a:avLst/>
          </a:prstGeom>
          <a:noFill/>
          <a:ln/>
        </p:spPr>
        <p:txBody>
          <a:bodyPr wrap="square" lIns="0" tIns="0" rIns="0" bIns="0" rtlCol="0" anchor="t"/>
          <a:lstStyle/>
          <a:p>
            <a:pPr indent="0" marL="0">
              <a:buNone/>
            </a:pPr>
            <a:r>
              <a:rPr lang="en-US" sz="1500" dirty="0">
                <a:solidFill>
                  <a:srgbClr val="C6D2EA"/>
                </a:solidFill>
                <a:latin typeface="Segoe UI Semilight" pitchFamily="34" charset="0"/>
                <a:ea typeface="Segoe UI Semilight" pitchFamily="34" charset="-122"/>
                <a:cs typeface="Segoe UI Semilight" pitchFamily="34" charset="-120"/>
              </a:rPr>
              <a:t>One fixed-fee project and three twelve-month retainers. This is the internal side-by-side view,</a:t>
            </a:r>
            <a:endParaRPr lang="en-US" sz="1500" dirty="0"/>
          </a:p>
          <a:p>
            <a:pPr indent="0" marL="0">
              <a:buNone/>
            </a:pPr>
            <a:r>
              <a:rPr lang="en-US" sz="1500" dirty="0">
                <a:solidFill>
                  <a:srgbClr val="C6D2EA"/>
                </a:solidFill>
                <a:latin typeface="Segoe UI Semilight" pitchFamily="34" charset="0"/>
                <a:ea typeface="Segoe UI Semilight" pitchFamily="34" charset="-122"/>
                <a:cs typeface="Segoe UI Semilight" pitchFamily="34" charset="-120"/>
              </a:rPr>
              <a:t>for OBP and Automatum.</a:t>
            </a:r>
            <a:endParaRPr lang="en-US" sz="1500" dirty="0"/>
          </a:p>
        </p:txBody>
      </p:sp>
      <p:sp>
        <p:nvSpPr>
          <p:cNvPr id="11" name="Text 6"/>
          <p:cNvSpPr txBox="1"/>
          <p:nvPr/>
        </p:nvSpPr>
        <p:spPr>
          <a:xfrm>
            <a:off x="657860" y="4851400"/>
            <a:ext cx="10541000" cy="203200"/>
          </a:xfrm>
          <a:prstGeom prst="rect">
            <a:avLst/>
          </a:prstGeom>
          <a:noFill/>
          <a:ln/>
        </p:spPr>
        <p:txBody>
          <a:bodyPr wrap="square" lIns="0" tIns="0" rIns="0" bIns="0" rtlCol="0" anchor="ctr"/>
          <a:lstStyle/>
          <a:p>
            <a:pPr indent="0" marL="0">
              <a:buNone/>
            </a:pPr>
            <a:r>
              <a:rPr lang="en-US" sz="1050" b="1" dirty="0">
                <a:solidFill>
                  <a:srgbClr val="9FD0FF"/>
                </a:solidFill>
                <a:latin typeface="Segoe UI" pitchFamily="34" charset="0"/>
                <a:ea typeface="Segoe UI" pitchFamily="34" charset="-122"/>
                <a:cs typeface="Segoe UI" pitchFamily="34" charset="-120"/>
              </a:rPr>
              <a:t>Automatum leads the solution and owns the listed software</a:t>
            </a:r>
            <a:pPr indent="0" marL="0">
              <a:buNone/>
            </a:pPr>
            <a:r>
              <a:rPr lang="en-US" sz="1050" b="1" dirty="0">
                <a:solidFill>
                  <a:srgbClr val="6C7BA6"/>
                </a:solidFill>
                <a:latin typeface="Segoe UI" pitchFamily="34" charset="0"/>
                <a:ea typeface="Segoe UI" pitchFamily="34" charset="-122"/>
                <a:cs typeface="Segoe UI" pitchFamily="34" charset="-120"/>
              </a:rPr>
              <a:t>   ·   </a:t>
            </a:r>
            <a:pPr indent="0" marL="0">
              <a:buNone/>
            </a:pPr>
            <a:r>
              <a:rPr lang="en-US" sz="1050" b="1" dirty="0">
                <a:solidFill>
                  <a:srgbClr val="9FD0FF"/>
                </a:solidFill>
                <a:latin typeface="Segoe UI" pitchFamily="34" charset="0"/>
                <a:ea typeface="Segoe UI" pitchFamily="34" charset="-122"/>
                <a:cs typeface="Segoe UI" pitchFamily="34" charset="-120"/>
              </a:rPr>
              <a:t>OBP delivers the engagement</a:t>
            </a:r>
            <a:pPr indent="0" marL="0">
              <a:buNone/>
            </a:pPr>
            <a:r>
              <a:rPr lang="en-US" sz="1050" b="1" dirty="0">
                <a:solidFill>
                  <a:srgbClr val="6C7BA6"/>
                </a:solidFill>
                <a:latin typeface="Segoe UI" pitchFamily="34" charset="0"/>
                <a:ea typeface="Segoe UI" pitchFamily="34" charset="-122"/>
                <a:cs typeface="Segoe UI" pitchFamily="34" charset="-120"/>
              </a:rPr>
              <a:t>   ·   </a:t>
            </a:r>
            <a:pPr indent="0" marL="0">
              <a:buNone/>
            </a:pPr>
            <a:r>
              <a:rPr lang="en-US" sz="1050" b="1" dirty="0">
                <a:solidFill>
                  <a:srgbClr val="9FD0FF"/>
                </a:solidFill>
                <a:latin typeface="Segoe UI" pitchFamily="34" charset="0"/>
                <a:ea typeface="Segoe UI" pitchFamily="34" charset="-122"/>
                <a:cs typeface="Segoe UI" pitchFamily="34" charset="-120"/>
              </a:rPr>
              <a:t>Automatum is seller of record</a:t>
            </a:r>
            <a:endParaRPr lang="en-US" sz="1050" dirty="0"/>
          </a:p>
        </p:txBody>
      </p:sp>
      <p:pic>
        <p:nvPicPr>
          <p:cNvPr id="12" name="Image 3" descr="/home/user/barberbook/docs/deck/assets/tile_a.png">    </p:cNvPr>
          <p:cNvPicPr>
            <a:picLocks noChangeAspect="1"/>
          </p:cNvPicPr>
          <p:nvPr/>
        </p:nvPicPr>
        <p:blipFill>
          <a:blip r:embed="rId4"/>
          <a:stretch>
            <a:fillRect/>
          </a:stretch>
        </p:blipFill>
        <p:spPr>
          <a:xfrm>
            <a:off x="566420" y="5232400"/>
            <a:ext cx="603250" cy="603250"/>
          </a:xfrm>
          <a:prstGeom prst="rect">
            <a:avLst/>
          </a:prstGeom>
        </p:spPr>
      </p:pic>
      <p:pic>
        <p:nvPicPr>
          <p:cNvPr id="13" name="Image 4" descr="/home/user/barberbook/docs/deck/assets/tile_b.png">    </p:cNvPr>
          <p:cNvPicPr>
            <a:picLocks noChangeAspect="1"/>
          </p:cNvPicPr>
          <p:nvPr/>
        </p:nvPicPr>
        <p:blipFill>
          <a:blip r:embed="rId5"/>
          <a:stretch>
            <a:fillRect/>
          </a:stretch>
        </p:blipFill>
        <p:spPr>
          <a:xfrm>
            <a:off x="711200" y="5377180"/>
            <a:ext cx="313690" cy="313690"/>
          </a:xfrm>
          <a:prstGeom prst="rect">
            <a:avLst/>
          </a:prstGeom>
        </p:spPr>
      </p:pic>
      <p:sp>
        <p:nvSpPr>
          <p:cNvPr id="14" name="Text 7"/>
          <p:cNvSpPr txBox="1"/>
          <p:nvPr/>
        </p:nvSpPr>
        <p:spPr>
          <a:xfrm>
            <a:off x="566420" y="5943600"/>
            <a:ext cx="1143000" cy="355600"/>
          </a:xfrm>
          <a:prstGeom prst="rect">
            <a:avLst/>
          </a:prstGeom>
          <a:noFill/>
          <a:ln/>
        </p:spPr>
        <p:txBody>
          <a:bodyPr wrap="square" lIns="0" tIns="0" rIns="0" bIns="0" rtlCol="0" anchor="t"/>
          <a:lstStyle/>
          <a:p>
            <a:pPr indent="0" marL="0">
              <a:lnSpc>
                <a:spcPct val="105000"/>
              </a:lnSpc>
              <a:buNone/>
            </a:pPr>
            <a:r>
              <a:rPr lang="en-US" sz="1000" dirty="0">
                <a:solidFill>
                  <a:srgbClr val="D3DCEF"/>
                </a:solidFill>
                <a:latin typeface="Segoe UI Semilight" pitchFamily="34" charset="0"/>
                <a:ea typeface="Segoe UI Semilight" pitchFamily="34" charset="-122"/>
                <a:cs typeface="Segoe UI Semilight" pitchFamily="34" charset="-120"/>
              </a:rPr>
              <a:t>Four</a:t>
            </a:r>
            <a:endParaRPr lang="en-US" sz="1000" dirty="0"/>
          </a:p>
          <a:p>
            <a:pPr indent="0" marL="0">
              <a:lnSpc>
                <a:spcPct val="105000"/>
              </a:lnSpc>
              <a:buNone/>
            </a:pPr>
            <a:r>
              <a:rPr lang="en-US" sz="1000" dirty="0">
                <a:solidFill>
                  <a:srgbClr val="D3DCEF"/>
                </a:solidFill>
                <a:latin typeface="Segoe UI Semilight" pitchFamily="34" charset="0"/>
                <a:ea typeface="Segoe UI Semilight" pitchFamily="34" charset="-122"/>
                <a:cs typeface="Segoe UI Semilight" pitchFamily="34" charset="-120"/>
              </a:rPr>
              <a:t>solutions</a:t>
            </a:r>
            <a:endParaRPr lang="en-US" sz="1000" dirty="0"/>
          </a:p>
        </p:txBody>
      </p:sp>
      <p:pic>
        <p:nvPicPr>
          <p:cNvPr id="15" name="Image 5" descr="/home/user/barberbook/docs/deck/assets/tile_c.png">    </p:cNvPr>
          <p:cNvPicPr>
            <a:picLocks noChangeAspect="1"/>
          </p:cNvPicPr>
          <p:nvPr/>
        </p:nvPicPr>
        <p:blipFill>
          <a:blip r:embed="rId6"/>
          <a:stretch>
            <a:fillRect/>
          </a:stretch>
        </p:blipFill>
        <p:spPr>
          <a:xfrm>
            <a:off x="1811020" y="5232400"/>
            <a:ext cx="603250" cy="603250"/>
          </a:xfrm>
          <a:prstGeom prst="rect">
            <a:avLst/>
          </a:prstGeom>
        </p:spPr>
      </p:pic>
      <p:pic>
        <p:nvPicPr>
          <p:cNvPr id="16" name="Image 6" descr="/home/user/barberbook/docs/deck/assets/tile_b.png">    </p:cNvPr>
          <p:cNvPicPr>
            <a:picLocks noChangeAspect="1"/>
          </p:cNvPicPr>
          <p:nvPr/>
        </p:nvPicPr>
        <p:blipFill>
          <a:blip r:embed="rId7"/>
          <a:stretch>
            <a:fillRect/>
          </a:stretch>
        </p:blipFill>
        <p:spPr>
          <a:xfrm>
            <a:off x="1955800" y="5377180"/>
            <a:ext cx="313690" cy="313690"/>
          </a:xfrm>
          <a:prstGeom prst="rect">
            <a:avLst/>
          </a:prstGeom>
        </p:spPr>
      </p:pic>
      <p:sp>
        <p:nvSpPr>
          <p:cNvPr id="17" name="Text 8"/>
          <p:cNvSpPr txBox="1"/>
          <p:nvPr/>
        </p:nvSpPr>
        <p:spPr>
          <a:xfrm>
            <a:off x="1811020" y="5943600"/>
            <a:ext cx="1143000" cy="355600"/>
          </a:xfrm>
          <a:prstGeom prst="rect">
            <a:avLst/>
          </a:prstGeom>
          <a:noFill/>
          <a:ln/>
        </p:spPr>
        <p:txBody>
          <a:bodyPr wrap="square" lIns="0" tIns="0" rIns="0" bIns="0" rtlCol="0" anchor="t"/>
          <a:lstStyle/>
          <a:p>
            <a:pPr indent="0" marL="0">
              <a:lnSpc>
                <a:spcPct val="105000"/>
              </a:lnSpc>
              <a:buNone/>
            </a:pPr>
            <a:r>
              <a:rPr lang="en-US" sz="1000" dirty="0">
                <a:solidFill>
                  <a:srgbClr val="D3DCEF"/>
                </a:solidFill>
                <a:latin typeface="Segoe UI Semilight" pitchFamily="34" charset="0"/>
                <a:ea typeface="Segoe UI Semilight" pitchFamily="34" charset="-122"/>
                <a:cs typeface="Segoe UI Semilight" pitchFamily="34" charset="-120"/>
              </a:rPr>
              <a:t>One</a:t>
            </a:r>
            <a:endParaRPr lang="en-US" sz="1000" dirty="0"/>
          </a:p>
          <a:p>
            <a:pPr indent="0" marL="0">
              <a:lnSpc>
                <a:spcPct val="105000"/>
              </a:lnSpc>
              <a:buNone/>
            </a:pPr>
            <a:r>
              <a:rPr lang="en-US" sz="1000" dirty="0">
                <a:solidFill>
                  <a:srgbClr val="D3DCEF"/>
                </a:solidFill>
                <a:latin typeface="Segoe UI Semilight" pitchFamily="34" charset="0"/>
                <a:ea typeface="Segoe UI Semilight" pitchFamily="34" charset="-122"/>
                <a:cs typeface="Segoe UI Semilight" pitchFamily="34" charset="-120"/>
              </a:rPr>
              <a:t>platform</a:t>
            </a:r>
            <a:endParaRPr lang="en-US" sz="1000" dirty="0"/>
          </a:p>
        </p:txBody>
      </p:sp>
      <p:pic>
        <p:nvPicPr>
          <p:cNvPr id="18" name="Image 7" descr="/home/user/barberbook/docs/deck/assets/tile_d.png">    </p:cNvPr>
          <p:cNvPicPr>
            <a:picLocks noChangeAspect="1"/>
          </p:cNvPicPr>
          <p:nvPr/>
        </p:nvPicPr>
        <p:blipFill>
          <a:blip r:embed="rId8"/>
          <a:stretch>
            <a:fillRect/>
          </a:stretch>
        </p:blipFill>
        <p:spPr>
          <a:xfrm>
            <a:off x="3055620" y="5232400"/>
            <a:ext cx="603250" cy="603250"/>
          </a:xfrm>
          <a:prstGeom prst="rect">
            <a:avLst/>
          </a:prstGeom>
        </p:spPr>
      </p:pic>
      <p:pic>
        <p:nvPicPr>
          <p:cNvPr id="19" name="Image 8" descr="/home/user/barberbook/docs/deck/assets/tile_glyph2.png">    </p:cNvPr>
          <p:cNvPicPr>
            <a:picLocks noChangeAspect="1"/>
          </p:cNvPicPr>
          <p:nvPr/>
        </p:nvPicPr>
        <p:blipFill>
          <a:blip r:embed="rId9"/>
          <a:stretch>
            <a:fillRect/>
          </a:stretch>
        </p:blipFill>
        <p:spPr>
          <a:xfrm>
            <a:off x="3200400" y="5377180"/>
            <a:ext cx="313690" cy="313690"/>
          </a:xfrm>
          <a:prstGeom prst="rect">
            <a:avLst/>
          </a:prstGeom>
        </p:spPr>
      </p:pic>
      <p:sp>
        <p:nvSpPr>
          <p:cNvPr id="20" name="Text 9"/>
          <p:cNvSpPr txBox="1"/>
          <p:nvPr/>
        </p:nvSpPr>
        <p:spPr>
          <a:xfrm>
            <a:off x="3055620" y="5943600"/>
            <a:ext cx="1143000" cy="355600"/>
          </a:xfrm>
          <a:prstGeom prst="rect">
            <a:avLst/>
          </a:prstGeom>
          <a:noFill/>
          <a:ln/>
        </p:spPr>
        <p:txBody>
          <a:bodyPr wrap="square" lIns="0" tIns="0" rIns="0" bIns="0" rtlCol="0" anchor="t"/>
          <a:lstStyle/>
          <a:p>
            <a:pPr indent="0" marL="0">
              <a:lnSpc>
                <a:spcPct val="105000"/>
              </a:lnSpc>
              <a:buNone/>
            </a:pPr>
            <a:r>
              <a:rPr lang="en-US" sz="1000" dirty="0">
                <a:solidFill>
                  <a:srgbClr val="D3DCEF"/>
                </a:solidFill>
                <a:latin typeface="Segoe UI Semilight" pitchFamily="34" charset="0"/>
                <a:ea typeface="Segoe UI Semilight" pitchFamily="34" charset="-122"/>
                <a:cs typeface="Segoe UI Semilight" pitchFamily="34" charset="-120"/>
              </a:rPr>
              <a:t>One</a:t>
            </a:r>
            <a:endParaRPr lang="en-US" sz="1000" dirty="0"/>
          </a:p>
          <a:p>
            <a:pPr indent="0" marL="0">
              <a:lnSpc>
                <a:spcPct val="105000"/>
              </a:lnSpc>
              <a:buNone/>
            </a:pPr>
            <a:r>
              <a:rPr lang="en-US" sz="1000" dirty="0">
                <a:solidFill>
                  <a:srgbClr val="D3DCEF"/>
                </a:solidFill>
                <a:latin typeface="Segoe UI Semilight" pitchFamily="34" charset="0"/>
                <a:ea typeface="Segoe UI Semilight" pitchFamily="34" charset="-122"/>
                <a:cs typeface="Segoe UI Semilight" pitchFamily="34" charset="-120"/>
              </a:rPr>
              <a:t>operator</a:t>
            </a:r>
            <a:endParaRPr lang="en-US" sz="1000" dirty="0"/>
          </a:p>
        </p:txBody>
      </p:sp>
      <p:sp>
        <p:nvSpPr>
          <p:cNvPr id="21" name="Text 10"/>
          <p:cNvSpPr txBox="1"/>
          <p:nvPr/>
        </p:nvSpPr>
        <p:spPr>
          <a:xfrm>
            <a:off x="5461000" y="6070600"/>
            <a:ext cx="4191000" cy="177800"/>
          </a:xfrm>
          <a:prstGeom prst="rect">
            <a:avLst/>
          </a:prstGeom>
          <a:noFill/>
          <a:ln/>
        </p:spPr>
        <p:txBody>
          <a:bodyPr wrap="square" lIns="0" tIns="0" rIns="0" bIns="0" rtlCol="0" anchor="t"/>
          <a:lstStyle/>
          <a:p>
            <a:pPr indent="0" marL="0">
              <a:buNone/>
            </a:pPr>
            <a:r>
              <a:rPr lang="en-US" sz="950" dirty="0">
                <a:solidFill>
                  <a:srgbClr val="8FA0C6"/>
                </a:solidFill>
                <a:latin typeface="Segoe UI Semilight" pitchFamily="34" charset="0"/>
                <a:ea typeface="Segoe UI Semilight" pitchFamily="34" charset="-122"/>
                <a:cs typeface="Segoe UI Semilight" pitchFamily="34" charset="-120"/>
              </a:rPr>
              <a:t>One pricing ladder — a convention, not a product.</a:t>
            </a:r>
            <a:endParaRPr lang="en-US" sz="950" dirty="0"/>
          </a:p>
        </p:txBody>
      </p:sp>
      <p:sp>
        <p:nvSpPr>
          <p:cNvPr id="22" name="Text 11"/>
          <p:cNvSpPr txBox="1"/>
          <p:nvPr/>
        </p:nvSpPr>
        <p:spPr>
          <a:xfrm>
            <a:off x="5461000" y="6273800"/>
            <a:ext cx="4191000" cy="177800"/>
          </a:xfrm>
          <a:prstGeom prst="rect">
            <a:avLst/>
          </a:prstGeom>
          <a:noFill/>
          <a:ln/>
        </p:spPr>
        <p:txBody>
          <a:bodyPr wrap="square" lIns="0" tIns="0" rIns="0" bIns="0" rtlCol="0" anchor="t"/>
          <a:lstStyle/>
          <a:p>
            <a:pPr indent="0" marL="0">
              <a:buNone/>
            </a:pPr>
            <a:r>
              <a:rPr lang="en-US" sz="850" dirty="0">
                <a:solidFill>
                  <a:srgbClr val="6C7BA6"/>
                </a:solidFill>
                <a:latin typeface="Segoe UI Semilight" pitchFamily="34" charset="0"/>
                <a:ea typeface="Segoe UI Semilight" pitchFamily="34" charset="-122"/>
                <a:cs typeface="Segoe UI Semilight" pitchFamily="34" charset="-120"/>
              </a:rPr>
              <a:t>Bracketed figures are unset. No bracket reaches a customer artifact.</a:t>
            </a:r>
            <a:endParaRPr lang="en-US" sz="850" dirty="0"/>
          </a:p>
        </p:txBody>
      </p:sp>
      <p:sp>
        <p:nvSpPr>
          <p:cNvPr id="23" name="Text 12"/>
          <p:cNvSpPr txBox="1"/>
          <p:nvPr/>
        </p:nvSpPr>
        <p:spPr>
          <a:xfrm>
            <a:off x="8890000" y="6464300"/>
            <a:ext cx="2628900" cy="177800"/>
          </a:xfrm>
          <a:prstGeom prst="rect">
            <a:avLst/>
          </a:prstGeom>
          <a:noFill/>
          <a:ln/>
        </p:spPr>
        <p:txBody>
          <a:bodyPr wrap="square" lIns="0" tIns="0" rIns="0" bIns="0" rtlCol="0" anchor="t"/>
          <a:lstStyle/>
          <a:p>
            <a:pPr algn="r" indent="0" marL="0">
              <a:buNone/>
            </a:pPr>
            <a:r>
              <a:rPr lang="en-US" sz="900" dirty="0">
                <a:solidFill>
                  <a:srgbClr val="8FA0C6"/>
                </a:solidFill>
                <a:latin typeface="Segoe UI" pitchFamily="34" charset="0"/>
                <a:ea typeface="Segoe UI" pitchFamily="34" charset="-122"/>
                <a:cs typeface="Segoe UI" pitchFamily="34" charset="-120"/>
              </a:rPr>
              <a:t>BOX Solutions   ·   revised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user/barberbook/docs/deck/assets/bg_cont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eyebrow_p2.png">    </p:cNvPr>
          <p:cNvPicPr>
            <a:picLocks noChangeAspect="1"/>
          </p:cNvPicPr>
          <p:nvPr/>
        </p:nvPicPr>
        <p:blipFill>
          <a:blip r:embed="rId2"/>
          <a:stretch>
            <a:fillRect/>
          </a:stretch>
        </p:blipFill>
        <p:spPr>
          <a:xfrm>
            <a:off x="566420" y="474980"/>
            <a:ext cx="256540" cy="256540"/>
          </a:xfrm>
          <a:prstGeom prst="rect">
            <a:avLst/>
          </a:prstGeom>
        </p:spPr>
      </p:pic>
      <p:sp>
        <p:nvSpPr>
          <p:cNvPr id="4" name="Text 0"/>
          <p:cNvSpPr txBox="1"/>
          <p:nvPr/>
        </p:nvSpPr>
        <p:spPr>
          <a:xfrm>
            <a:off x="1023620" y="501650"/>
            <a:ext cx="6350000" cy="228600"/>
          </a:xfrm>
          <a:prstGeom prst="rect">
            <a:avLst/>
          </a:prstGeom>
          <a:noFill/>
          <a:ln/>
        </p:spPr>
        <p:txBody>
          <a:bodyPr wrap="square" lIns="0" tIns="0" rIns="0" bIns="0" rtlCol="0" anchor="t"/>
          <a:lstStyle/>
          <a:p>
            <a:pPr indent="0" marL="0">
              <a:buNone/>
            </a:pPr>
            <a:r>
              <a:rPr lang="en-US" sz="1150" b="1" spc="160" kern="0" dirty="0">
                <a:solidFill>
                  <a:srgbClr val="F36F20"/>
                </a:solidFill>
                <a:latin typeface="Segoe UI" pitchFamily="34" charset="0"/>
                <a:ea typeface="Segoe UI" pitchFamily="34" charset="-122"/>
                <a:cs typeface="Segoe UI" pitchFamily="34" charset="-120"/>
              </a:rPr>
              <a:t>AGENDA</a:t>
            </a:r>
            <a:endParaRPr lang="en-US" sz="1150" dirty="0"/>
          </a:p>
        </p:txBody>
      </p:sp>
      <p:sp>
        <p:nvSpPr>
          <p:cNvPr id="5" name="Text 1"/>
          <p:cNvSpPr txBox="1"/>
          <p:nvPr/>
        </p:nvSpPr>
        <p:spPr>
          <a:xfrm>
            <a:off x="657860" y="939800"/>
            <a:ext cx="10922000" cy="508000"/>
          </a:xfrm>
          <a:prstGeom prst="rect">
            <a:avLst/>
          </a:prstGeom>
          <a:noFill/>
          <a:ln/>
        </p:spPr>
        <p:txBody>
          <a:bodyPr wrap="square" lIns="0" tIns="0" rIns="0" bIns="0" rtlCol="0" anchor="t"/>
          <a:lstStyle/>
          <a:p>
            <a:pPr indent="0" marL="0">
              <a:buNone/>
            </a:pPr>
            <a:r>
              <a:rPr lang="en-US" sz="2500" b="1" dirty="0">
                <a:solidFill>
                  <a:srgbClr val="15224B"/>
                </a:solidFill>
                <a:latin typeface="Segoe UI" pitchFamily="34" charset="0"/>
                <a:ea typeface="Segoe UI" pitchFamily="34" charset="-122"/>
                <a:cs typeface="Segoe UI" pitchFamily="34" charset="-120"/>
              </a:rPr>
              <a:t>Three parts.</a:t>
            </a:r>
            <a:endParaRPr lang="en-US" sz="2500" dirty="0"/>
          </a:p>
        </p:txBody>
      </p:sp>
      <p:sp>
        <p:nvSpPr>
          <p:cNvPr id="6" name="Text 2"/>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7" name="Text 3"/>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02 / 22</a:t>
            </a:r>
            <a:endParaRPr lang="en-US" sz="900" dirty="0"/>
          </a:p>
        </p:txBody>
      </p:sp>
      <p:pic>
        <p:nvPicPr>
          <p:cNvPr id="8" name="Image 2" descr="/home/user/barberbook/docs/deck/assets/panel.png">    </p:cNvPr>
          <p:cNvPicPr>
            <a:picLocks noChangeAspect="1"/>
          </p:cNvPicPr>
          <p:nvPr/>
        </p:nvPicPr>
        <p:blipFill>
          <a:blip r:embed="rId3"/>
          <a:stretch>
            <a:fillRect/>
          </a:stretch>
        </p:blipFill>
        <p:spPr>
          <a:xfrm>
            <a:off x="420370" y="2523490"/>
            <a:ext cx="2933700" cy="2908300"/>
          </a:xfrm>
          <a:prstGeom prst="rect">
            <a:avLst/>
          </a:prstGeom>
        </p:spPr>
      </p:pic>
      <p:sp>
        <p:nvSpPr>
          <p:cNvPr id="9" name="Text 4"/>
          <p:cNvSpPr txBox="1"/>
          <p:nvPr/>
        </p:nvSpPr>
        <p:spPr>
          <a:xfrm>
            <a:off x="1023620" y="2540000"/>
            <a:ext cx="3411220" cy="584200"/>
          </a:xfrm>
          <a:prstGeom prst="rect">
            <a:avLst/>
          </a:prstGeom>
          <a:noFill/>
          <a:ln/>
        </p:spPr>
        <p:txBody>
          <a:bodyPr wrap="square" lIns="0" tIns="0" rIns="0" bIns="0" rtlCol="0" anchor="t"/>
          <a:lstStyle/>
          <a:p>
            <a:pPr indent="0" marL="0">
              <a:buNone/>
            </a:pPr>
            <a:r>
              <a:rPr lang="en-US" sz="1700" b="1" dirty="0">
                <a:solidFill>
                  <a:srgbClr val="15224B"/>
                </a:solidFill>
                <a:latin typeface="Segoe UI" pitchFamily="34" charset="0"/>
                <a:ea typeface="Segoe UI" pitchFamily="34" charset="-122"/>
                <a:cs typeface="Segoe UI" pitchFamily="34" charset="-120"/>
              </a:rPr>
              <a:t>The portfolio</a:t>
            </a:r>
            <a:endParaRPr lang="en-US" sz="1700" dirty="0"/>
          </a:p>
        </p:txBody>
      </p:sp>
      <p:sp>
        <p:nvSpPr>
          <p:cNvPr id="10" name="Text 5"/>
          <p:cNvSpPr txBox="1"/>
          <p:nvPr/>
        </p:nvSpPr>
        <p:spPr>
          <a:xfrm>
            <a:off x="1023620" y="2921000"/>
            <a:ext cx="3411220" cy="203200"/>
          </a:xfrm>
          <a:prstGeom prst="rect">
            <a:avLst/>
          </a:prstGeom>
          <a:noFill/>
          <a:ln/>
        </p:spPr>
        <p:txBody>
          <a:bodyPr wrap="square" lIns="0" tIns="0" rIns="0" bIns="0" rtlCol="0" anchor="t"/>
          <a:lstStyle/>
          <a:p>
            <a:pPr indent="0" marL="0">
              <a:buNone/>
            </a:pPr>
            <a:r>
              <a:rPr lang="en-US" sz="850" b="1" spc="80" kern="0" dirty="0">
                <a:solidFill>
                  <a:srgbClr val="2E7CC4"/>
                </a:solidFill>
                <a:latin typeface="Segoe UI" pitchFamily="34" charset="0"/>
                <a:ea typeface="Segoe UI" pitchFamily="34" charset="-122"/>
                <a:cs typeface="Segoe UI" pitchFamily="34" charset="-120"/>
              </a:rPr>
              <a:t>01</a:t>
            </a:r>
            <a:endParaRPr lang="en-US" sz="850" dirty="0"/>
          </a:p>
        </p:txBody>
      </p:sp>
      <p:sp>
        <p:nvSpPr>
          <p:cNvPr id="11" name="Text 6"/>
          <p:cNvSpPr txBox="1"/>
          <p:nvPr/>
        </p:nvSpPr>
        <p:spPr>
          <a:xfrm>
            <a:off x="1023620" y="3136900"/>
            <a:ext cx="3411220" cy="2578100"/>
          </a:xfrm>
          <a:prstGeom prst="rect">
            <a:avLst/>
          </a:prstGeom>
          <a:noFill/>
          <a:ln/>
        </p:spPr>
        <p:txBody>
          <a:bodyPr wrap="square" lIns="0" tIns="0" rIns="0" bIns="0" rtlCol="0" anchor="t"/>
          <a:lstStyle/>
          <a:p>
            <a:pPr indent="0" marL="0">
              <a:buNone/>
            </a:pPr>
            <a:r>
              <a:rPr lang="en-US" sz="1100" dirty="0">
                <a:solidFill>
                  <a:srgbClr val="5B6378"/>
                </a:solidFill>
                <a:latin typeface="Segoe UI Semilight" pitchFamily="34" charset="0"/>
                <a:ea typeface="Segoe UI Semilight" pitchFamily="34" charset="-122"/>
                <a:cs typeface="Segoe UI Semilight" pitchFamily="34" charset="-120"/>
              </a:rPr>
              <a:t>Four jobs, four buyers, one platform.</a:t>
            </a:r>
            <a:endParaRPr lang="en-US" sz="1100" dirty="0"/>
          </a:p>
        </p:txBody>
      </p:sp>
      <p:pic>
        <p:nvPicPr>
          <p:cNvPr id="12" name="Image 3" descr="/home/user/barberbook/docs/deck/assets/panel.png">    </p:cNvPr>
          <p:cNvPicPr>
            <a:picLocks noChangeAspect="1"/>
          </p:cNvPicPr>
          <p:nvPr/>
        </p:nvPicPr>
        <p:blipFill>
          <a:blip r:embed="rId4"/>
          <a:stretch>
            <a:fillRect/>
          </a:stretch>
        </p:blipFill>
        <p:spPr>
          <a:xfrm>
            <a:off x="4161790" y="2523490"/>
            <a:ext cx="2933700" cy="2908300"/>
          </a:xfrm>
          <a:prstGeom prst="rect">
            <a:avLst/>
          </a:prstGeom>
        </p:spPr>
      </p:pic>
      <p:sp>
        <p:nvSpPr>
          <p:cNvPr id="13" name="Text 7"/>
          <p:cNvSpPr txBox="1"/>
          <p:nvPr/>
        </p:nvSpPr>
        <p:spPr>
          <a:xfrm>
            <a:off x="4765040" y="2540000"/>
            <a:ext cx="3411220" cy="584200"/>
          </a:xfrm>
          <a:prstGeom prst="rect">
            <a:avLst/>
          </a:prstGeom>
          <a:noFill/>
          <a:ln/>
        </p:spPr>
        <p:txBody>
          <a:bodyPr wrap="square" lIns="0" tIns="0" rIns="0" bIns="0" rtlCol="0" anchor="t"/>
          <a:lstStyle/>
          <a:p>
            <a:pPr indent="0" marL="0">
              <a:buNone/>
            </a:pPr>
            <a:r>
              <a:rPr lang="en-US" sz="1700" b="1" dirty="0">
                <a:solidFill>
                  <a:srgbClr val="15224B"/>
                </a:solidFill>
                <a:latin typeface="Segoe UI" pitchFamily="34" charset="0"/>
                <a:ea typeface="Segoe UI" pitchFamily="34" charset="-122"/>
                <a:cs typeface="Segoe UI" pitchFamily="34" charset="-120"/>
              </a:rPr>
              <a:t>The four solutions</a:t>
            </a:r>
            <a:endParaRPr lang="en-US" sz="1700" dirty="0"/>
          </a:p>
        </p:txBody>
      </p:sp>
      <p:sp>
        <p:nvSpPr>
          <p:cNvPr id="14" name="Text 8"/>
          <p:cNvSpPr txBox="1"/>
          <p:nvPr/>
        </p:nvSpPr>
        <p:spPr>
          <a:xfrm>
            <a:off x="4765040" y="2921000"/>
            <a:ext cx="3411220" cy="203200"/>
          </a:xfrm>
          <a:prstGeom prst="rect">
            <a:avLst/>
          </a:prstGeom>
          <a:noFill/>
          <a:ln/>
        </p:spPr>
        <p:txBody>
          <a:bodyPr wrap="square" lIns="0" tIns="0" rIns="0" bIns="0" rtlCol="0" anchor="t"/>
          <a:lstStyle/>
          <a:p>
            <a:pPr indent="0" marL="0">
              <a:buNone/>
            </a:pPr>
            <a:r>
              <a:rPr lang="en-US" sz="850" b="1" spc="80" kern="0" dirty="0">
                <a:solidFill>
                  <a:srgbClr val="2E7CC4"/>
                </a:solidFill>
                <a:latin typeface="Segoe UI" pitchFamily="34" charset="0"/>
                <a:ea typeface="Segoe UI" pitchFamily="34" charset="-122"/>
                <a:cs typeface="Segoe UI" pitchFamily="34" charset="-120"/>
              </a:rPr>
              <a:t>02</a:t>
            </a:r>
            <a:endParaRPr lang="en-US" sz="850" dirty="0"/>
          </a:p>
        </p:txBody>
      </p:sp>
      <p:sp>
        <p:nvSpPr>
          <p:cNvPr id="15" name="Text 9"/>
          <p:cNvSpPr txBox="1"/>
          <p:nvPr/>
        </p:nvSpPr>
        <p:spPr>
          <a:xfrm>
            <a:off x="4765040" y="3136900"/>
            <a:ext cx="3411220" cy="2578100"/>
          </a:xfrm>
          <a:prstGeom prst="rect">
            <a:avLst/>
          </a:prstGeom>
          <a:noFill/>
          <a:ln/>
        </p:spPr>
        <p:txBody>
          <a:bodyPr wrap="square" lIns="0" tIns="0" rIns="0" bIns="0" rtlCol="0" anchor="t"/>
          <a:lstStyle/>
          <a:p>
            <a:pPr indent="0" marL="0">
              <a:buNone/>
            </a:pPr>
            <a:r>
              <a:rPr lang="en-US" sz="1100" dirty="0">
                <a:solidFill>
                  <a:srgbClr val="5B6378"/>
                </a:solidFill>
                <a:latin typeface="Segoe UI Semilight" pitchFamily="34" charset="0"/>
                <a:ea typeface="Segoe UI Semilight" pitchFamily="34" charset="-122"/>
                <a:cs typeface="Segoe UI Semilight" pitchFamily="34" charset="-120"/>
              </a:rPr>
              <a:t>The project and the three retainers — each on its own page, each with what we commit and what we target.</a:t>
            </a:r>
            <a:endParaRPr lang="en-US" sz="1100" dirty="0"/>
          </a:p>
        </p:txBody>
      </p:sp>
      <p:pic>
        <p:nvPicPr>
          <p:cNvPr id="16" name="Image 4" descr="/home/user/barberbook/docs/deck/assets/panel.png">    </p:cNvPr>
          <p:cNvPicPr>
            <a:picLocks noChangeAspect="1"/>
          </p:cNvPicPr>
          <p:nvPr/>
        </p:nvPicPr>
        <p:blipFill>
          <a:blip r:embed="rId5"/>
          <a:stretch>
            <a:fillRect/>
          </a:stretch>
        </p:blipFill>
        <p:spPr>
          <a:xfrm>
            <a:off x="7903210" y="2523490"/>
            <a:ext cx="2933700" cy="2908300"/>
          </a:xfrm>
          <a:prstGeom prst="rect">
            <a:avLst/>
          </a:prstGeom>
        </p:spPr>
      </p:pic>
      <p:sp>
        <p:nvSpPr>
          <p:cNvPr id="17" name="Text 10"/>
          <p:cNvSpPr txBox="1"/>
          <p:nvPr/>
        </p:nvSpPr>
        <p:spPr>
          <a:xfrm>
            <a:off x="8506460" y="2540000"/>
            <a:ext cx="3411220" cy="584200"/>
          </a:xfrm>
          <a:prstGeom prst="rect">
            <a:avLst/>
          </a:prstGeom>
          <a:noFill/>
          <a:ln/>
        </p:spPr>
        <p:txBody>
          <a:bodyPr wrap="square" lIns="0" tIns="0" rIns="0" bIns="0" rtlCol="0" anchor="t"/>
          <a:lstStyle/>
          <a:p>
            <a:pPr indent="0" marL="0">
              <a:buNone/>
            </a:pPr>
            <a:r>
              <a:rPr lang="en-US" sz="1700" b="1" dirty="0">
                <a:solidFill>
                  <a:srgbClr val="15224B"/>
                </a:solidFill>
                <a:latin typeface="Segoe UI" pitchFamily="34" charset="0"/>
                <a:ea typeface="Segoe UI" pitchFamily="34" charset="-122"/>
                <a:cs typeface="Segoe UI" pitchFamily="34" charset="-120"/>
              </a:rPr>
              <a:t>The machinery</a:t>
            </a:r>
            <a:endParaRPr lang="en-US" sz="1700" dirty="0"/>
          </a:p>
        </p:txBody>
      </p:sp>
      <p:sp>
        <p:nvSpPr>
          <p:cNvPr id="18" name="Text 11"/>
          <p:cNvSpPr txBox="1"/>
          <p:nvPr/>
        </p:nvSpPr>
        <p:spPr>
          <a:xfrm>
            <a:off x="8506460" y="2921000"/>
            <a:ext cx="3411220" cy="203200"/>
          </a:xfrm>
          <a:prstGeom prst="rect">
            <a:avLst/>
          </a:prstGeom>
          <a:noFill/>
          <a:ln/>
        </p:spPr>
        <p:txBody>
          <a:bodyPr wrap="square" lIns="0" tIns="0" rIns="0" bIns="0" rtlCol="0" anchor="t"/>
          <a:lstStyle/>
          <a:p>
            <a:pPr indent="0" marL="0">
              <a:buNone/>
            </a:pPr>
            <a:r>
              <a:rPr lang="en-US" sz="850" b="1" spc="80" kern="0" dirty="0">
                <a:solidFill>
                  <a:srgbClr val="2E7CC4"/>
                </a:solidFill>
                <a:latin typeface="Segoe UI" pitchFamily="34" charset="0"/>
                <a:ea typeface="Segoe UI" pitchFamily="34" charset="-122"/>
                <a:cs typeface="Segoe UI" pitchFamily="34" charset="-120"/>
              </a:rPr>
              <a:t>03</a:t>
            </a:r>
            <a:endParaRPr lang="en-US" sz="850" dirty="0"/>
          </a:p>
        </p:txBody>
      </p:sp>
      <p:sp>
        <p:nvSpPr>
          <p:cNvPr id="19" name="Text 12"/>
          <p:cNvSpPr txBox="1"/>
          <p:nvPr/>
        </p:nvSpPr>
        <p:spPr>
          <a:xfrm>
            <a:off x="8506460" y="3136900"/>
            <a:ext cx="3411220" cy="2578100"/>
          </a:xfrm>
          <a:prstGeom prst="rect">
            <a:avLst/>
          </a:prstGeom>
          <a:noFill/>
          <a:ln/>
        </p:spPr>
        <p:txBody>
          <a:bodyPr wrap="square" lIns="0" tIns="0" rIns="0" bIns="0" rtlCol="0" anchor="t"/>
          <a:lstStyle/>
          <a:p>
            <a:pPr indent="0" marL="0">
              <a:buNone/>
            </a:pPr>
            <a:r>
              <a:rPr lang="en-US" sz="1100" dirty="0">
                <a:solidFill>
                  <a:srgbClr val="5B6378"/>
                </a:solidFill>
                <a:latin typeface="Segoe UI Semilight" pitchFamily="34" charset="0"/>
                <a:ea typeface="Segoe UI Semilight" pitchFamily="34" charset="-122"/>
                <a:cs typeface="Segoe UI Semilight" pitchFamily="34" charset="-120"/>
              </a:rPr>
              <a:t>Value chain, components, partner economics, the exchange, the sequence, the decision.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user/barberbook/docs/deck/assets/bg_divider1.jp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txBox="1"/>
          <p:nvPr/>
        </p:nvSpPr>
        <p:spPr>
          <a:xfrm>
            <a:off x="657860" y="1905000"/>
            <a:ext cx="5080000" cy="254000"/>
          </a:xfrm>
          <a:prstGeom prst="rect">
            <a:avLst/>
          </a:prstGeom>
          <a:noFill/>
          <a:ln/>
        </p:spPr>
        <p:txBody>
          <a:bodyPr wrap="square" lIns="0" tIns="0" rIns="0" bIns="0" rtlCol="0" anchor="t"/>
          <a:lstStyle/>
          <a:p>
            <a:pPr indent="0" marL="0">
              <a:buNone/>
            </a:pPr>
            <a:r>
              <a:rPr lang="en-US" sz="1150" b="1" spc="320" kern="0" dirty="0">
                <a:solidFill>
                  <a:srgbClr val="F36F20"/>
                </a:solidFill>
                <a:latin typeface="Segoe UI" pitchFamily="34" charset="0"/>
                <a:ea typeface="Segoe UI" pitchFamily="34" charset="-122"/>
                <a:cs typeface="Segoe UI" pitchFamily="34" charset="-120"/>
              </a:rPr>
              <a:t>PART ONE</a:t>
            </a:r>
            <a:endParaRPr lang="en-US" sz="1150" dirty="0"/>
          </a:p>
        </p:txBody>
      </p:sp>
      <p:sp>
        <p:nvSpPr>
          <p:cNvPr id="4" name="Text 1"/>
          <p:cNvSpPr txBox="1"/>
          <p:nvPr/>
        </p:nvSpPr>
        <p:spPr>
          <a:xfrm>
            <a:off x="657860" y="2349500"/>
            <a:ext cx="8890000" cy="635000"/>
          </a:xfrm>
          <a:prstGeom prst="rect">
            <a:avLst/>
          </a:prstGeom>
          <a:noFill/>
          <a:ln/>
        </p:spPr>
        <p:txBody>
          <a:bodyPr wrap="square" lIns="0" tIns="0" rIns="0" bIns="0" rtlCol="0" anchor="t"/>
          <a:lstStyle/>
          <a:p>
            <a:pPr indent="0" marL="0">
              <a:buNone/>
            </a:pPr>
            <a:r>
              <a:rPr lang="en-US" sz="3400" b="1" dirty="0">
                <a:solidFill>
                  <a:srgbClr val="FFFFFF"/>
                </a:solidFill>
                <a:latin typeface="Segoe UI" pitchFamily="34" charset="0"/>
                <a:ea typeface="Segoe UI" pitchFamily="34" charset="-122"/>
                <a:cs typeface="Segoe UI" pitchFamily="34" charset="-120"/>
              </a:rPr>
              <a:t>The portfolio</a:t>
            </a:r>
            <a:endParaRPr lang="en-US" sz="3400" dirty="0"/>
          </a:p>
        </p:txBody>
      </p:sp>
      <p:sp>
        <p:nvSpPr>
          <p:cNvPr id="5" name="Text 2"/>
          <p:cNvSpPr txBox="1"/>
          <p:nvPr/>
        </p:nvSpPr>
        <p:spPr>
          <a:xfrm>
            <a:off x="657860" y="3111500"/>
            <a:ext cx="8128000" cy="304800"/>
          </a:xfrm>
          <a:prstGeom prst="rect">
            <a:avLst/>
          </a:prstGeom>
          <a:noFill/>
          <a:ln/>
        </p:spPr>
        <p:txBody>
          <a:bodyPr wrap="square" lIns="0" tIns="0" rIns="0" bIns="0" rtlCol="0" anchor="t"/>
          <a:lstStyle/>
          <a:p>
            <a:pPr indent="0" marL="0">
              <a:buNone/>
            </a:pPr>
            <a:r>
              <a:rPr lang="en-US" sz="1300" dirty="0">
                <a:solidFill>
                  <a:srgbClr val="C6D2EA"/>
                </a:solidFill>
                <a:latin typeface="Segoe UI Semilight" pitchFamily="34" charset="0"/>
                <a:ea typeface="Segoe UI Semilight" pitchFamily="34" charset="-122"/>
                <a:cs typeface="Segoe UI Semilight" pitchFamily="34" charset="-120"/>
              </a:rPr>
              <a:t>Four jobs an ISV’s AWS business needs staffed.</a:t>
            </a:r>
            <a:endParaRPr lang="en-US" sz="1300" dirty="0"/>
          </a:p>
        </p:txBody>
      </p:sp>
      <p:pic>
        <p:nvPicPr>
          <p:cNvPr id="6" name="Image 1" descr="/home/user/barberbook/docs/deck/assets/tile_a.png">    </p:cNvPr>
          <p:cNvPicPr>
            <a:picLocks noChangeAspect="1"/>
          </p:cNvPicPr>
          <p:nvPr/>
        </p:nvPicPr>
        <p:blipFill>
          <a:blip r:embed="rId2"/>
          <a:stretch>
            <a:fillRect/>
          </a:stretch>
        </p:blipFill>
        <p:spPr>
          <a:xfrm>
            <a:off x="657860" y="3810000"/>
            <a:ext cx="431800" cy="431800"/>
          </a:xfrm>
          <a:prstGeom prst="rect">
            <a:avLst/>
          </a:prstGeom>
        </p:spPr>
      </p:pic>
      <p:sp>
        <p:nvSpPr>
          <p:cNvPr id="7" name="Text 3"/>
          <p:cNvSpPr txBox="1"/>
          <p:nvPr/>
        </p:nvSpPr>
        <p:spPr>
          <a:xfrm>
            <a:off x="657860" y="4368800"/>
            <a:ext cx="1422400" cy="203200"/>
          </a:xfrm>
          <a:prstGeom prst="rect">
            <a:avLst/>
          </a:prstGeom>
          <a:noFill/>
          <a:ln/>
        </p:spPr>
        <p:txBody>
          <a:bodyPr wrap="square" lIns="0" tIns="0" rIns="0" bIns="0" rtlCol="0" anchor="t"/>
          <a:lstStyle/>
          <a:p>
            <a:pPr indent="0" marL="0">
              <a:buNone/>
            </a:pPr>
            <a:r>
              <a:rPr lang="en-US" sz="1000" dirty="0">
                <a:solidFill>
                  <a:srgbClr val="D3DCEF"/>
                </a:solidFill>
                <a:latin typeface="Segoe UI Semilight" pitchFamily="34" charset="0"/>
                <a:ea typeface="Segoe UI Semilight" pitchFamily="34" charset="-122"/>
                <a:cs typeface="Segoe UI Semilight" pitchFamily="34" charset="-120"/>
              </a:rPr>
              <a:t>Portfolio</a:t>
            </a:r>
            <a:endParaRPr lang="en-US" sz="1000" dirty="0"/>
          </a:p>
        </p:txBody>
      </p:sp>
      <p:pic>
        <p:nvPicPr>
          <p:cNvPr id="8" name="Image 2" descr="/home/user/barberbook/docs/deck/assets/tile_b.png">    </p:cNvPr>
          <p:cNvPicPr>
            <a:picLocks noChangeAspect="1"/>
          </p:cNvPicPr>
          <p:nvPr/>
        </p:nvPicPr>
        <p:blipFill>
          <a:blip r:embed="rId3"/>
          <a:stretch>
            <a:fillRect/>
          </a:stretch>
        </p:blipFill>
        <p:spPr>
          <a:xfrm>
            <a:off x="2207260" y="3810000"/>
            <a:ext cx="431800" cy="431800"/>
          </a:xfrm>
          <a:prstGeom prst="rect">
            <a:avLst/>
          </a:prstGeom>
        </p:spPr>
      </p:pic>
      <p:sp>
        <p:nvSpPr>
          <p:cNvPr id="9" name="Text 4"/>
          <p:cNvSpPr txBox="1"/>
          <p:nvPr/>
        </p:nvSpPr>
        <p:spPr>
          <a:xfrm>
            <a:off x="2207260" y="4368800"/>
            <a:ext cx="1422400" cy="203200"/>
          </a:xfrm>
          <a:prstGeom prst="rect">
            <a:avLst/>
          </a:prstGeom>
          <a:noFill/>
          <a:ln/>
        </p:spPr>
        <p:txBody>
          <a:bodyPr wrap="square" lIns="0" tIns="0" rIns="0" bIns="0" rtlCol="0" anchor="t"/>
          <a:lstStyle/>
          <a:p>
            <a:pPr indent="0" marL="0">
              <a:buNone/>
            </a:pPr>
            <a:r>
              <a:rPr lang="en-US" sz="1000" dirty="0">
                <a:solidFill>
                  <a:srgbClr val="D3DCEF"/>
                </a:solidFill>
                <a:latin typeface="Segoe UI Semilight" pitchFamily="34" charset="0"/>
                <a:ea typeface="Segoe UI Semilight" pitchFamily="34" charset="-122"/>
                <a:cs typeface="Segoe UI Semilight" pitchFamily="34" charset="-120"/>
              </a:rPr>
              <a:t>Buyers</a:t>
            </a:r>
            <a:endParaRPr lang="en-US" sz="1000" dirty="0"/>
          </a:p>
        </p:txBody>
      </p:sp>
      <p:pic>
        <p:nvPicPr>
          <p:cNvPr id="10" name="Image 3" descr="/home/user/barberbook/docs/deck/assets/tile_d.png">    </p:cNvPr>
          <p:cNvPicPr>
            <a:picLocks noChangeAspect="1"/>
          </p:cNvPicPr>
          <p:nvPr/>
        </p:nvPicPr>
        <p:blipFill>
          <a:blip r:embed="rId4"/>
          <a:stretch>
            <a:fillRect/>
          </a:stretch>
        </p:blipFill>
        <p:spPr>
          <a:xfrm>
            <a:off x="3756660" y="3810000"/>
            <a:ext cx="431800" cy="431800"/>
          </a:xfrm>
          <a:prstGeom prst="rect">
            <a:avLst/>
          </a:prstGeom>
        </p:spPr>
      </p:pic>
      <p:sp>
        <p:nvSpPr>
          <p:cNvPr id="11" name="Text 5"/>
          <p:cNvSpPr txBox="1"/>
          <p:nvPr/>
        </p:nvSpPr>
        <p:spPr>
          <a:xfrm>
            <a:off x="3756660" y="4368800"/>
            <a:ext cx="1422400" cy="203200"/>
          </a:xfrm>
          <a:prstGeom prst="rect">
            <a:avLst/>
          </a:prstGeom>
          <a:noFill/>
          <a:ln/>
        </p:spPr>
        <p:txBody>
          <a:bodyPr wrap="square" lIns="0" tIns="0" rIns="0" bIns="0" rtlCol="0" anchor="t"/>
          <a:lstStyle/>
          <a:p>
            <a:pPr indent="0" marL="0">
              <a:buNone/>
            </a:pPr>
            <a:r>
              <a:rPr lang="en-US" sz="1000" dirty="0">
                <a:solidFill>
                  <a:srgbClr val="D3DCEF"/>
                </a:solidFill>
                <a:latin typeface="Segoe UI Semilight" pitchFamily="34" charset="0"/>
                <a:ea typeface="Segoe UI Semilight" pitchFamily="34" charset="-122"/>
                <a:cs typeface="Segoe UI Semilight" pitchFamily="34" charset="-120"/>
              </a:rPr>
              <a:t>Ladder</a:t>
            </a:r>
            <a:endParaRPr lang="en-US" sz="1000" dirty="0"/>
          </a:p>
        </p:txBody>
      </p:sp>
      <p:sp>
        <p:nvSpPr>
          <p:cNvPr id="12" name="Text 6"/>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13" name="Text 7"/>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03 / 22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user/barberbook/docs/deck/assets/bg_cont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eyebrow_p4.png">    </p:cNvPr>
          <p:cNvPicPr>
            <a:picLocks noChangeAspect="1"/>
          </p:cNvPicPr>
          <p:nvPr/>
        </p:nvPicPr>
        <p:blipFill>
          <a:blip r:embed="rId2"/>
          <a:stretch>
            <a:fillRect/>
          </a:stretch>
        </p:blipFill>
        <p:spPr>
          <a:xfrm>
            <a:off x="566420" y="474980"/>
            <a:ext cx="256540" cy="256540"/>
          </a:xfrm>
          <a:prstGeom prst="rect">
            <a:avLst/>
          </a:prstGeom>
        </p:spPr>
      </p:pic>
      <p:sp>
        <p:nvSpPr>
          <p:cNvPr id="4" name="Text 0"/>
          <p:cNvSpPr txBox="1"/>
          <p:nvPr/>
        </p:nvSpPr>
        <p:spPr>
          <a:xfrm>
            <a:off x="1023620" y="501650"/>
            <a:ext cx="6350000" cy="228600"/>
          </a:xfrm>
          <a:prstGeom prst="rect">
            <a:avLst/>
          </a:prstGeom>
          <a:noFill/>
          <a:ln/>
        </p:spPr>
        <p:txBody>
          <a:bodyPr wrap="square" lIns="0" tIns="0" rIns="0" bIns="0" rtlCol="0" anchor="t"/>
          <a:lstStyle/>
          <a:p>
            <a:pPr indent="0" marL="0">
              <a:buNone/>
            </a:pPr>
            <a:r>
              <a:rPr lang="en-US" sz="1150" b="1" spc="160" kern="0" dirty="0">
                <a:solidFill>
                  <a:srgbClr val="F36F20"/>
                </a:solidFill>
                <a:latin typeface="Segoe UI" pitchFamily="34" charset="0"/>
                <a:ea typeface="Segoe UI" pitchFamily="34" charset="-122"/>
                <a:cs typeface="Segoe UI" pitchFamily="34" charset="-120"/>
              </a:rPr>
              <a:t>THE THESIS</a:t>
            </a:r>
            <a:endParaRPr lang="en-US" sz="1150" dirty="0"/>
          </a:p>
        </p:txBody>
      </p:sp>
      <p:sp>
        <p:nvSpPr>
          <p:cNvPr id="5" name="Text 1"/>
          <p:cNvSpPr txBox="1"/>
          <p:nvPr/>
        </p:nvSpPr>
        <p:spPr>
          <a:xfrm>
            <a:off x="657860" y="939800"/>
            <a:ext cx="10922000" cy="508000"/>
          </a:xfrm>
          <a:prstGeom prst="rect">
            <a:avLst/>
          </a:prstGeom>
          <a:noFill/>
          <a:ln/>
        </p:spPr>
        <p:txBody>
          <a:bodyPr wrap="square" lIns="0" tIns="0" rIns="0" bIns="0" rtlCol="0" anchor="t"/>
          <a:lstStyle/>
          <a:p>
            <a:pPr indent="0" marL="0">
              <a:buNone/>
            </a:pPr>
            <a:r>
              <a:rPr lang="en-US" sz="2500" b="1" dirty="0">
                <a:solidFill>
                  <a:srgbClr val="15224B"/>
                </a:solidFill>
                <a:latin typeface="Segoe UI" pitchFamily="34" charset="0"/>
                <a:ea typeface="Segoe UI" pitchFamily="34" charset="-122"/>
                <a:cs typeface="Segoe UI" pitchFamily="34" charset="-120"/>
              </a:rPr>
              <a:t>Four jobs an ISV’s AWS business needs staffed.</a:t>
            </a:r>
            <a:endParaRPr lang="en-US" sz="2500" dirty="0"/>
          </a:p>
        </p:txBody>
      </p:sp>
      <p:sp>
        <p:nvSpPr>
          <p:cNvPr id="6" name="Text 2"/>
          <p:cNvSpPr txBox="1"/>
          <p:nvPr/>
        </p:nvSpPr>
        <p:spPr>
          <a:xfrm>
            <a:off x="657860" y="1651000"/>
            <a:ext cx="10541000" cy="431800"/>
          </a:xfrm>
          <a:prstGeom prst="rect">
            <a:avLst/>
          </a:prstGeom>
          <a:noFill/>
          <a:ln/>
        </p:spPr>
        <p:txBody>
          <a:bodyPr wrap="square" lIns="0" tIns="0" rIns="0" bIns="0" rtlCol="0" anchor="t"/>
          <a:lstStyle/>
          <a:p>
            <a:pPr indent="0" marL="0">
              <a:buNone/>
            </a:pPr>
            <a:r>
              <a:rPr lang="en-US" sz="1250" dirty="0">
                <a:solidFill>
                  <a:srgbClr val="5B6378"/>
                </a:solidFill>
                <a:latin typeface="Segoe UI Semilight" pitchFamily="34" charset="0"/>
                <a:ea typeface="Segoe UI Semilight" pitchFamily="34" charset="-122"/>
                <a:cs typeface="Segoe UI Semilight" pitchFamily="34" charset="-120"/>
              </a:rPr>
              <a:t>Getting the product listed, running the AWS partnership, operating the Marketplace, and building the reseller channel — covered between the four.</a:t>
            </a:r>
            <a:endParaRPr lang="en-US" sz="1250" dirty="0"/>
          </a:p>
        </p:txBody>
      </p:sp>
      <p:sp>
        <p:nvSpPr>
          <p:cNvPr id="7" name="Text 3"/>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8" name="Text 4"/>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04 / 22</a:t>
            </a:r>
            <a:endParaRPr lang="en-US" sz="900" dirty="0"/>
          </a:p>
        </p:txBody>
      </p:sp>
      <p:pic>
        <p:nvPicPr>
          <p:cNvPr id="9" name="Image 2" descr="/home/user/barberbook/docs/deck/assets/panel.png">    </p:cNvPr>
          <p:cNvPicPr>
            <a:picLocks noChangeAspect="1"/>
          </p:cNvPicPr>
          <p:nvPr/>
        </p:nvPicPr>
        <p:blipFill>
          <a:blip r:embed="rId3"/>
          <a:stretch>
            <a:fillRect/>
          </a:stretch>
        </p:blipFill>
        <p:spPr>
          <a:xfrm>
            <a:off x="420370" y="2472690"/>
            <a:ext cx="2933700" cy="2908300"/>
          </a:xfrm>
          <a:prstGeom prst="rect">
            <a:avLst/>
          </a:prstGeom>
        </p:spPr>
      </p:pic>
      <p:pic>
        <p:nvPicPr>
          <p:cNvPr id="10" name="Image 3" descr="/home/user/barberbook/docs/deck/assets/icon_a.png">    </p:cNvPr>
          <p:cNvPicPr>
            <a:picLocks noChangeAspect="1"/>
          </p:cNvPicPr>
          <p:nvPr/>
        </p:nvPicPr>
        <p:blipFill>
          <a:blip r:embed="rId4"/>
          <a:stretch>
            <a:fillRect/>
          </a:stretch>
        </p:blipFill>
        <p:spPr>
          <a:xfrm>
            <a:off x="934720" y="2730500"/>
            <a:ext cx="274320" cy="274320"/>
          </a:xfrm>
          <a:prstGeom prst="rect">
            <a:avLst/>
          </a:prstGeom>
        </p:spPr>
      </p:pic>
      <p:sp>
        <p:nvSpPr>
          <p:cNvPr id="11" name="Text 5"/>
          <p:cNvSpPr txBox="1"/>
          <p:nvPr/>
        </p:nvSpPr>
        <p:spPr>
          <a:xfrm>
            <a:off x="1023620" y="3149600"/>
            <a:ext cx="2476500" cy="584200"/>
          </a:xfrm>
          <a:prstGeom prst="rect">
            <a:avLst/>
          </a:prstGeom>
          <a:noFill/>
          <a:ln/>
        </p:spPr>
        <p:txBody>
          <a:bodyPr wrap="square" lIns="0" tIns="0" rIns="0" bIns="0" rtlCol="0" anchor="t"/>
          <a:lstStyle/>
          <a:p>
            <a:pPr indent="0" marL="0">
              <a:buNone/>
            </a:pPr>
            <a:r>
              <a:rPr lang="en-US" sz="1200" b="1" dirty="0">
                <a:solidFill>
                  <a:srgbClr val="15224B"/>
                </a:solidFill>
                <a:latin typeface="Segoe UI" pitchFamily="34" charset="0"/>
                <a:ea typeface="Segoe UI" pitchFamily="34" charset="-122"/>
                <a:cs typeface="Segoe UI" pitchFamily="34" charset="-120"/>
              </a:rPr>
              <a:t>Get a product qualified and listed on AWS Marketplace.</a:t>
            </a:r>
            <a:endParaRPr lang="en-US" sz="1200" dirty="0"/>
          </a:p>
        </p:txBody>
      </p:sp>
      <p:sp>
        <p:nvSpPr>
          <p:cNvPr id="12" name="Text 6"/>
          <p:cNvSpPr txBox="1"/>
          <p:nvPr/>
        </p:nvSpPr>
        <p:spPr>
          <a:xfrm>
            <a:off x="1023620" y="3708400"/>
            <a:ext cx="2476500" cy="190500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A fixed-fee project: from unassessed to a published, transacting listing in 14 to 18 business days of delivery.</a:t>
            </a:r>
            <a:endParaRPr lang="en-US" sz="900" dirty="0"/>
          </a:p>
        </p:txBody>
      </p:sp>
      <p:pic>
        <p:nvPicPr>
          <p:cNvPr id="13" name="Image 4" descr="/home/user/barberbook/docs/deck/assets/panel.png">    </p:cNvPr>
          <p:cNvPicPr>
            <a:picLocks noChangeAspect="1"/>
          </p:cNvPicPr>
          <p:nvPr/>
        </p:nvPicPr>
        <p:blipFill>
          <a:blip r:embed="rId5"/>
          <a:stretch>
            <a:fillRect/>
          </a:stretch>
        </p:blipFill>
        <p:spPr>
          <a:xfrm>
            <a:off x="3227070" y="2472690"/>
            <a:ext cx="2933700" cy="2908300"/>
          </a:xfrm>
          <a:prstGeom prst="rect">
            <a:avLst/>
          </a:prstGeom>
        </p:spPr>
      </p:pic>
      <p:pic>
        <p:nvPicPr>
          <p:cNvPr id="14" name="Image 5" descr="/home/user/barberbook/docs/deck/assets/icon_b.png">    </p:cNvPr>
          <p:cNvPicPr>
            <a:picLocks noChangeAspect="1"/>
          </p:cNvPicPr>
          <p:nvPr/>
        </p:nvPicPr>
        <p:blipFill>
          <a:blip r:embed="rId6"/>
          <a:stretch>
            <a:fillRect/>
          </a:stretch>
        </p:blipFill>
        <p:spPr>
          <a:xfrm>
            <a:off x="3741420" y="2730500"/>
            <a:ext cx="274320" cy="274320"/>
          </a:xfrm>
          <a:prstGeom prst="rect">
            <a:avLst/>
          </a:prstGeom>
        </p:spPr>
      </p:pic>
      <p:sp>
        <p:nvSpPr>
          <p:cNvPr id="15" name="Text 7"/>
          <p:cNvSpPr txBox="1"/>
          <p:nvPr/>
        </p:nvSpPr>
        <p:spPr>
          <a:xfrm>
            <a:off x="3830320" y="3149600"/>
            <a:ext cx="2476500" cy="584200"/>
          </a:xfrm>
          <a:prstGeom prst="rect">
            <a:avLst/>
          </a:prstGeom>
          <a:noFill/>
          <a:ln/>
        </p:spPr>
        <p:txBody>
          <a:bodyPr wrap="square" lIns="0" tIns="0" rIns="0" bIns="0" rtlCol="0" anchor="t"/>
          <a:lstStyle/>
          <a:p>
            <a:pPr indent="0" marL="0">
              <a:buNone/>
            </a:pPr>
            <a:r>
              <a:rPr lang="en-US" sz="1200" b="1" dirty="0">
                <a:solidFill>
                  <a:srgbClr val="15224B"/>
                </a:solidFill>
                <a:latin typeface="Segoe UI" pitchFamily="34" charset="0"/>
                <a:ea typeface="Segoe UI" pitchFamily="34" charset="-122"/>
                <a:cs typeface="Segoe UI" pitchFamily="34" charset="-120"/>
              </a:rPr>
              <a:t>Put a named owner on the AWS partnership.</a:t>
            </a:r>
            <a:endParaRPr lang="en-US" sz="1200" dirty="0"/>
          </a:p>
        </p:txBody>
      </p:sp>
      <p:sp>
        <p:nvSpPr>
          <p:cNvPr id="16" name="Text 8"/>
          <p:cNvSpPr txBox="1"/>
          <p:nvPr/>
        </p:nvSpPr>
        <p:spPr>
          <a:xfrm>
            <a:off x="3830320" y="3708400"/>
            <a:ext cx="2476500" cy="190500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OBP as the ISV’s Director of Alliances for twelve months — a named owner at [N] hours a month, [N] partnership reviews and [N] quarterly AWS plans across the term — across three strictly additive tiers.</a:t>
            </a:r>
            <a:endParaRPr lang="en-US" sz="900" dirty="0"/>
          </a:p>
        </p:txBody>
      </p:sp>
      <p:pic>
        <p:nvPicPr>
          <p:cNvPr id="17" name="Image 6" descr="/home/user/barberbook/docs/deck/assets/panel.png">    </p:cNvPr>
          <p:cNvPicPr>
            <a:picLocks noChangeAspect="1"/>
          </p:cNvPicPr>
          <p:nvPr/>
        </p:nvPicPr>
        <p:blipFill>
          <a:blip r:embed="rId7"/>
          <a:stretch>
            <a:fillRect/>
          </a:stretch>
        </p:blipFill>
        <p:spPr>
          <a:xfrm>
            <a:off x="6033770" y="2472690"/>
            <a:ext cx="2933700" cy="2908300"/>
          </a:xfrm>
          <a:prstGeom prst="rect">
            <a:avLst/>
          </a:prstGeom>
        </p:spPr>
      </p:pic>
      <p:pic>
        <p:nvPicPr>
          <p:cNvPr id="18" name="Image 7" descr="/home/user/barberbook/docs/deck/assets/icon_c.png">    </p:cNvPr>
          <p:cNvPicPr>
            <a:picLocks noChangeAspect="1"/>
          </p:cNvPicPr>
          <p:nvPr/>
        </p:nvPicPr>
        <p:blipFill>
          <a:blip r:embed="rId8"/>
          <a:stretch>
            <a:fillRect/>
          </a:stretch>
        </p:blipFill>
        <p:spPr>
          <a:xfrm>
            <a:off x="6548120" y="2730500"/>
            <a:ext cx="274320" cy="274320"/>
          </a:xfrm>
          <a:prstGeom prst="rect">
            <a:avLst/>
          </a:prstGeom>
        </p:spPr>
      </p:pic>
      <p:sp>
        <p:nvSpPr>
          <p:cNvPr id="19" name="Text 9"/>
          <p:cNvSpPr txBox="1"/>
          <p:nvPr/>
        </p:nvSpPr>
        <p:spPr>
          <a:xfrm>
            <a:off x="6637020" y="3149600"/>
            <a:ext cx="2476500" cy="584200"/>
          </a:xfrm>
          <a:prstGeom prst="rect">
            <a:avLst/>
          </a:prstGeom>
          <a:noFill/>
          <a:ln/>
        </p:spPr>
        <p:txBody>
          <a:bodyPr wrap="square" lIns="0" tIns="0" rIns="0" bIns="0" rtlCol="0" anchor="t"/>
          <a:lstStyle/>
          <a:p>
            <a:pPr indent="0" marL="0">
              <a:buNone/>
            </a:pPr>
            <a:r>
              <a:rPr lang="en-US" sz="1200" b="1" dirty="0">
                <a:solidFill>
                  <a:srgbClr val="15224B"/>
                </a:solidFill>
                <a:latin typeface="Segoe UI" pitchFamily="34" charset="0"/>
                <a:ea typeface="Segoe UI" pitchFamily="34" charset="-122"/>
                <a:cs typeface="Segoe UI" pitchFamily="34" charset="-120"/>
              </a:rPr>
              <a:t>Operate a live listing at volume.</a:t>
            </a:r>
            <a:endParaRPr lang="en-US" sz="1200" dirty="0"/>
          </a:p>
        </p:txBody>
      </p:sp>
      <p:sp>
        <p:nvSpPr>
          <p:cNvPr id="20" name="Text 10"/>
          <p:cNvSpPr txBox="1"/>
          <p:nvPr/>
        </p:nvSpPr>
        <p:spPr>
          <a:xfrm>
            <a:off x="6637020" y="3530600"/>
            <a:ext cx="2476500" cy="208280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Nine services in three groups — [listing engineering / the offer desk / reporting and integrations — proposed, confirm with Automatum] — at every tier. Volume, response time and reporting cadence set the rung.</a:t>
            </a:r>
            <a:endParaRPr lang="en-US" sz="900" dirty="0"/>
          </a:p>
        </p:txBody>
      </p:sp>
      <p:pic>
        <p:nvPicPr>
          <p:cNvPr id="21" name="Image 8" descr="/home/user/barberbook/docs/deck/assets/panel.png">    </p:cNvPr>
          <p:cNvPicPr>
            <a:picLocks noChangeAspect="1"/>
          </p:cNvPicPr>
          <p:nvPr/>
        </p:nvPicPr>
        <p:blipFill>
          <a:blip r:embed="rId9"/>
          <a:stretch>
            <a:fillRect/>
          </a:stretch>
        </p:blipFill>
        <p:spPr>
          <a:xfrm>
            <a:off x="8840470" y="2472690"/>
            <a:ext cx="2933700" cy="2908300"/>
          </a:xfrm>
          <a:prstGeom prst="rect">
            <a:avLst/>
          </a:prstGeom>
        </p:spPr>
      </p:pic>
      <p:pic>
        <p:nvPicPr>
          <p:cNvPr id="22" name="Image 9" descr="/home/user/barberbook/docs/deck/assets/icon_d.png">    </p:cNvPr>
          <p:cNvPicPr>
            <a:picLocks noChangeAspect="1"/>
          </p:cNvPicPr>
          <p:nvPr/>
        </p:nvPicPr>
        <p:blipFill>
          <a:blip r:embed="rId10"/>
          <a:stretch>
            <a:fillRect/>
          </a:stretch>
        </p:blipFill>
        <p:spPr>
          <a:xfrm>
            <a:off x="9354820" y="2730500"/>
            <a:ext cx="274320" cy="274320"/>
          </a:xfrm>
          <a:prstGeom prst="rect">
            <a:avLst/>
          </a:prstGeom>
        </p:spPr>
      </p:pic>
      <p:sp>
        <p:nvSpPr>
          <p:cNvPr id="23" name="Text 11"/>
          <p:cNvSpPr txBox="1"/>
          <p:nvPr/>
        </p:nvSpPr>
        <p:spPr>
          <a:xfrm>
            <a:off x="9443720" y="3149600"/>
            <a:ext cx="2476500" cy="584200"/>
          </a:xfrm>
          <a:prstGeom prst="rect">
            <a:avLst/>
          </a:prstGeom>
          <a:noFill/>
          <a:ln/>
        </p:spPr>
        <p:txBody>
          <a:bodyPr wrap="square" lIns="0" tIns="0" rIns="0" bIns="0" rtlCol="0" anchor="t"/>
          <a:lstStyle/>
          <a:p>
            <a:pPr indent="0" marL="0">
              <a:buNone/>
            </a:pPr>
            <a:r>
              <a:rPr lang="en-US" sz="1200" b="1" dirty="0">
                <a:solidFill>
                  <a:srgbClr val="15224B"/>
                </a:solidFill>
                <a:latin typeface="Segoe UI" pitchFamily="34" charset="0"/>
                <a:ea typeface="Segoe UI" pitchFamily="34" charset="-122"/>
                <a:cs typeface="Segoe UI" pitchFamily="34" charset="-120"/>
              </a:rPr>
              <a:t>Build and run a reseller channel.</a:t>
            </a:r>
            <a:endParaRPr lang="en-US" sz="1200" dirty="0"/>
          </a:p>
        </p:txBody>
      </p:sp>
      <p:sp>
        <p:nvSpPr>
          <p:cNvPr id="24" name="Text 12"/>
          <p:cNvSpPr txBox="1"/>
          <p:nvPr/>
        </p:nvSpPr>
        <p:spPr>
          <a:xfrm>
            <a:off x="9443720" y="3530600"/>
            <a:ext cx="2476500" cy="208280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Partners recruited, enabled and operated — measured by partners issuing offers, not roster size; no cap on roster size. Partner types set the tiers.</a:t>
            </a:r>
            <a:endParaRPr lang="en-US" sz="900" dirty="0"/>
          </a:p>
        </p:txBody>
      </p:sp>
      <p:sp>
        <p:nvSpPr>
          <p:cNvPr id="25" name="Shape 13"/>
          <p:cNvSpPr/>
          <p:nvPr/>
        </p:nvSpPr>
        <p:spPr>
          <a:xfrm>
            <a:off x="566420" y="5760720"/>
            <a:ext cx="11057890" cy="566420"/>
          </a:xfrm>
          <a:prstGeom prst="roundRect">
            <a:avLst>
              <a:gd name="adj" fmla="val 22601"/>
            </a:avLst>
          </a:prstGeom>
          <a:solidFill>
            <a:srgbClr val="15224B"/>
          </a:solidFill>
          <a:ln/>
        </p:spPr>
      </p:sp>
      <p:sp>
        <p:nvSpPr>
          <p:cNvPr id="26" name="Text 14"/>
          <p:cNvSpPr txBox="1"/>
          <p:nvPr/>
        </p:nvSpPr>
        <p:spPr>
          <a:xfrm>
            <a:off x="838200" y="5867400"/>
            <a:ext cx="10541000" cy="355600"/>
          </a:xfrm>
          <a:prstGeom prst="rect">
            <a:avLst/>
          </a:prstGeom>
          <a:noFill/>
          <a:ln/>
        </p:spPr>
        <p:txBody>
          <a:bodyPr wrap="square" lIns="0" tIns="0" rIns="0" bIns="0" rtlCol="0" anchor="ctr"/>
          <a:lstStyle/>
          <a:p>
            <a:pPr indent="0" marL="0">
              <a:buNone/>
            </a:pPr>
            <a:r>
              <a:rPr lang="en-US" sz="1050" b="1" spc="110" kern="0" dirty="0">
                <a:solidFill>
                  <a:srgbClr val="F36F20"/>
                </a:solidFill>
                <a:latin typeface="Segoe UI" pitchFamily="34" charset="0"/>
                <a:ea typeface="Segoe UI" pitchFamily="34" charset="-122"/>
                <a:cs typeface="Segoe UI" pitchFamily="34" charset="-120"/>
              </a:rPr>
              <a:t>ONE LADDER</a:t>
            </a:r>
            <a:pPr indent="0" marL="0">
              <a:buNone/>
            </a:pPr>
            <a:r>
              <a:rPr lang="en-US" sz="1050" dirty="0">
                <a:solidFill>
                  <a:srgbClr val="D7E1F5"/>
                </a:solidFill>
                <a:latin typeface="Segoe UI Semilight" pitchFamily="34" charset="0"/>
                <a:ea typeface="Segoe UI Semilight" pitchFamily="34" charset="-122"/>
                <a:cs typeface="Segoe UI Semilight" pitchFamily="34" charset="-120"/>
              </a:rPr>
              <a:t>    The three retainers price on the same $2,500 / $5,000 / $7,500 ladder — a pricing convention, not a product.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user/barberbook/docs/deck/assets/bg_cont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eyebrow_p5.png">    </p:cNvPr>
          <p:cNvPicPr>
            <a:picLocks noChangeAspect="1"/>
          </p:cNvPicPr>
          <p:nvPr/>
        </p:nvPicPr>
        <p:blipFill>
          <a:blip r:embed="rId2"/>
          <a:stretch>
            <a:fillRect/>
          </a:stretch>
        </p:blipFill>
        <p:spPr>
          <a:xfrm>
            <a:off x="566420" y="474980"/>
            <a:ext cx="256540" cy="256540"/>
          </a:xfrm>
          <a:prstGeom prst="rect">
            <a:avLst/>
          </a:prstGeom>
        </p:spPr>
      </p:pic>
      <p:sp>
        <p:nvSpPr>
          <p:cNvPr id="4" name="Text 0"/>
          <p:cNvSpPr txBox="1"/>
          <p:nvPr/>
        </p:nvSpPr>
        <p:spPr>
          <a:xfrm>
            <a:off x="1023620" y="501650"/>
            <a:ext cx="6350000" cy="228600"/>
          </a:xfrm>
          <a:prstGeom prst="rect">
            <a:avLst/>
          </a:prstGeom>
          <a:noFill/>
          <a:ln/>
        </p:spPr>
        <p:txBody>
          <a:bodyPr wrap="square" lIns="0" tIns="0" rIns="0" bIns="0" rtlCol="0" anchor="t"/>
          <a:lstStyle/>
          <a:p>
            <a:pPr indent="0" marL="0">
              <a:buNone/>
            </a:pPr>
            <a:r>
              <a:rPr lang="en-US" sz="1150" b="1" spc="160" kern="0" dirty="0">
                <a:solidFill>
                  <a:srgbClr val="F36F20"/>
                </a:solidFill>
                <a:latin typeface="Segoe UI" pitchFamily="34" charset="0"/>
                <a:ea typeface="Segoe UI" pitchFamily="34" charset="-122"/>
                <a:cs typeface="Segoe UI" pitchFamily="34" charset="-120"/>
              </a:rPr>
              <a:t>WHY FOUR, NOT ONE</a:t>
            </a:r>
            <a:endParaRPr lang="en-US" sz="1150" dirty="0"/>
          </a:p>
        </p:txBody>
      </p:sp>
      <p:sp>
        <p:nvSpPr>
          <p:cNvPr id="5" name="Text 1"/>
          <p:cNvSpPr txBox="1"/>
          <p:nvPr/>
        </p:nvSpPr>
        <p:spPr>
          <a:xfrm>
            <a:off x="657860" y="939800"/>
            <a:ext cx="10922000" cy="508000"/>
          </a:xfrm>
          <a:prstGeom prst="rect">
            <a:avLst/>
          </a:prstGeom>
          <a:noFill/>
          <a:ln/>
        </p:spPr>
        <p:txBody>
          <a:bodyPr wrap="square" lIns="0" tIns="0" rIns="0" bIns="0" rtlCol="0" anchor="t"/>
          <a:lstStyle/>
          <a:p>
            <a:pPr indent="0" marL="0">
              <a:buNone/>
            </a:pPr>
            <a:r>
              <a:rPr lang="en-US" sz="2500" b="1" dirty="0">
                <a:solidFill>
                  <a:srgbClr val="15224B"/>
                </a:solidFill>
                <a:latin typeface="Segoe UI" pitchFamily="34" charset="0"/>
                <a:ea typeface="Segoe UI" pitchFamily="34" charset="-122"/>
                <a:cs typeface="Segoe UI" pitchFamily="34" charset="-120"/>
              </a:rPr>
              <a:t>Four buyers, four boundaries.</a:t>
            </a:r>
            <a:endParaRPr lang="en-US" sz="2500" dirty="0"/>
          </a:p>
        </p:txBody>
      </p:sp>
      <p:sp>
        <p:nvSpPr>
          <p:cNvPr id="6" name="Text 2"/>
          <p:cNvSpPr txBox="1"/>
          <p:nvPr/>
        </p:nvSpPr>
        <p:spPr>
          <a:xfrm>
            <a:off x="657860" y="1651000"/>
            <a:ext cx="10541000" cy="431800"/>
          </a:xfrm>
          <a:prstGeom prst="rect">
            <a:avLst/>
          </a:prstGeom>
          <a:noFill/>
          <a:ln/>
        </p:spPr>
        <p:txBody>
          <a:bodyPr wrap="square" lIns="0" tIns="0" rIns="0" bIns="0" rtlCol="0" anchor="t"/>
          <a:lstStyle/>
          <a:p>
            <a:pPr indent="0" marL="0">
              <a:buNone/>
            </a:pPr>
            <a:r>
              <a:rPr lang="en-US" sz="1250" dirty="0">
                <a:solidFill>
                  <a:srgbClr val="5B6378"/>
                </a:solidFill>
                <a:latin typeface="Segoe UI Semilight" pitchFamily="34" charset="0"/>
                <a:ea typeface="Segoe UI Semilight" pitchFamily="34" charset="-122"/>
                <a:cs typeface="Segoe UI Semilight" pitchFamily="34" charset="-120"/>
              </a:rPr>
              <a:t>Same ladder, different job, different buyer, different cost base, different Solution ID.</a:t>
            </a:r>
            <a:endParaRPr lang="en-US" sz="1250" dirty="0"/>
          </a:p>
        </p:txBody>
      </p:sp>
      <p:sp>
        <p:nvSpPr>
          <p:cNvPr id="7" name="Text 3"/>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8" name="Text 4"/>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05 / 22</a:t>
            </a:r>
            <a:endParaRPr lang="en-US" sz="900" dirty="0"/>
          </a:p>
        </p:txBody>
      </p:sp>
      <p:sp>
        <p:nvSpPr>
          <p:cNvPr id="9" name="Text 5"/>
          <p:cNvSpPr txBox="1"/>
          <p:nvPr/>
        </p:nvSpPr>
        <p:spPr>
          <a:xfrm>
            <a:off x="2006600" y="2286000"/>
            <a:ext cx="2235200" cy="330200"/>
          </a:xfrm>
          <a:prstGeom prst="rect">
            <a:avLst/>
          </a:prstGeom>
          <a:noFill/>
          <a:ln/>
        </p:spPr>
        <p:txBody>
          <a:bodyPr wrap="square" lIns="0" tIns="0" rIns="0" bIns="0" rtlCol="0" anchor="t"/>
          <a:lstStyle/>
          <a:p>
            <a:pPr indent="0" marL="0">
              <a:buNone/>
            </a:pPr>
            <a:r>
              <a:rPr lang="en-US" sz="1050" b="1" dirty="0">
                <a:solidFill>
                  <a:srgbClr val="15224B"/>
                </a:solidFill>
                <a:latin typeface="Segoe UI" pitchFamily="34" charset="0"/>
                <a:ea typeface="Segoe UI" pitchFamily="34" charset="-122"/>
                <a:cs typeface="Segoe UI" pitchFamily="34" charset="-120"/>
              </a:rPr>
              <a:t>Marketplace Compliance Accelerator</a:t>
            </a:r>
            <a:endParaRPr lang="en-US" sz="1050" dirty="0"/>
          </a:p>
        </p:txBody>
      </p:sp>
      <p:sp>
        <p:nvSpPr>
          <p:cNvPr id="10" name="Text 6"/>
          <p:cNvSpPr txBox="1"/>
          <p:nvPr/>
        </p:nvSpPr>
        <p:spPr>
          <a:xfrm>
            <a:off x="4419600" y="2286000"/>
            <a:ext cx="2235200" cy="330200"/>
          </a:xfrm>
          <a:prstGeom prst="rect">
            <a:avLst/>
          </a:prstGeom>
          <a:noFill/>
          <a:ln/>
        </p:spPr>
        <p:txBody>
          <a:bodyPr wrap="square" lIns="0" tIns="0" rIns="0" bIns="0" rtlCol="0" anchor="t"/>
          <a:lstStyle/>
          <a:p>
            <a:pPr indent="0" marL="0">
              <a:buNone/>
            </a:pPr>
            <a:r>
              <a:rPr lang="en-US" sz="1050" b="1" dirty="0">
                <a:solidFill>
                  <a:srgbClr val="15224B"/>
                </a:solidFill>
                <a:latin typeface="Segoe UI" pitchFamily="34" charset="0"/>
                <a:ea typeface="Segoe UI" pitchFamily="34" charset="-122"/>
                <a:cs typeface="Segoe UI" pitchFamily="34" charset="-120"/>
              </a:rPr>
              <a:t>Managed AWS Alliances</a:t>
            </a:r>
            <a:endParaRPr lang="en-US" sz="1050" dirty="0"/>
          </a:p>
        </p:txBody>
      </p:sp>
      <p:sp>
        <p:nvSpPr>
          <p:cNvPr id="11" name="Text 7"/>
          <p:cNvSpPr txBox="1"/>
          <p:nvPr/>
        </p:nvSpPr>
        <p:spPr>
          <a:xfrm>
            <a:off x="6832600" y="2286000"/>
            <a:ext cx="2235200" cy="330200"/>
          </a:xfrm>
          <a:prstGeom prst="rect">
            <a:avLst/>
          </a:prstGeom>
          <a:noFill/>
          <a:ln/>
        </p:spPr>
        <p:txBody>
          <a:bodyPr wrap="square" lIns="0" tIns="0" rIns="0" bIns="0" rtlCol="0" anchor="t"/>
          <a:lstStyle/>
          <a:p>
            <a:pPr indent="0" marL="0">
              <a:buNone/>
            </a:pPr>
            <a:r>
              <a:rPr lang="en-US" sz="1050" b="1" dirty="0">
                <a:solidFill>
                  <a:srgbClr val="15224B"/>
                </a:solidFill>
                <a:latin typeface="Segoe UI" pitchFamily="34" charset="0"/>
                <a:ea typeface="Segoe UI" pitchFamily="34" charset="-122"/>
                <a:cs typeface="Segoe UI" pitchFamily="34" charset="-120"/>
              </a:rPr>
              <a:t>Managed Marketplace Operations</a:t>
            </a:r>
            <a:endParaRPr lang="en-US" sz="1050" dirty="0"/>
          </a:p>
        </p:txBody>
      </p:sp>
      <p:sp>
        <p:nvSpPr>
          <p:cNvPr id="12" name="Text 8"/>
          <p:cNvSpPr txBox="1"/>
          <p:nvPr/>
        </p:nvSpPr>
        <p:spPr>
          <a:xfrm>
            <a:off x="9245600" y="2286000"/>
            <a:ext cx="2235200" cy="330200"/>
          </a:xfrm>
          <a:prstGeom prst="rect">
            <a:avLst/>
          </a:prstGeom>
          <a:noFill/>
          <a:ln/>
        </p:spPr>
        <p:txBody>
          <a:bodyPr wrap="square" lIns="0" tIns="0" rIns="0" bIns="0" rtlCol="0" anchor="t"/>
          <a:lstStyle/>
          <a:p>
            <a:pPr indent="0" marL="0">
              <a:buNone/>
            </a:pPr>
            <a:r>
              <a:rPr lang="en-US" sz="1050" b="1" dirty="0">
                <a:solidFill>
                  <a:srgbClr val="15224B"/>
                </a:solidFill>
                <a:latin typeface="Segoe UI" pitchFamily="34" charset="0"/>
                <a:ea typeface="Segoe UI" pitchFamily="34" charset="-122"/>
                <a:cs typeface="Segoe UI" pitchFamily="34" charset="-120"/>
              </a:rPr>
              <a:t>Managed Partner Development</a:t>
            </a:r>
            <a:endParaRPr lang="en-US" sz="1050" dirty="0"/>
          </a:p>
        </p:txBody>
      </p:sp>
      <p:sp>
        <p:nvSpPr>
          <p:cNvPr id="13" name="Text 9"/>
          <p:cNvSpPr txBox="1"/>
          <p:nvPr/>
        </p:nvSpPr>
        <p:spPr>
          <a:xfrm>
            <a:off x="657860" y="2667000"/>
            <a:ext cx="1219200" cy="431800"/>
          </a:xfrm>
          <a:prstGeom prst="rect">
            <a:avLst/>
          </a:prstGeom>
          <a:noFill/>
          <a:ln/>
        </p:spPr>
        <p:txBody>
          <a:bodyPr wrap="square" lIns="0" tIns="0" rIns="0" bIns="0" rtlCol="0" anchor="t"/>
          <a:lstStyle/>
          <a:p>
            <a:pPr indent="0" marL="0">
              <a:buNone/>
            </a:pPr>
            <a:r>
              <a:rPr lang="en-US" sz="800" b="1" spc="50" kern="0" dirty="0">
                <a:solidFill>
                  <a:srgbClr val="F36F20"/>
                </a:solidFill>
                <a:latin typeface="Segoe UI" pitchFamily="34" charset="0"/>
                <a:ea typeface="Segoe UI" pitchFamily="34" charset="-122"/>
                <a:cs typeface="Segoe UI" pitchFamily="34" charset="-120"/>
              </a:rPr>
              <a:t>WHO SIGNS</a:t>
            </a:r>
            <a:endParaRPr lang="en-US" sz="800" dirty="0"/>
          </a:p>
        </p:txBody>
      </p:sp>
      <p:sp>
        <p:nvSpPr>
          <p:cNvPr id="14" name="Text 10"/>
          <p:cNvSpPr txBox="1"/>
          <p:nvPr/>
        </p:nvSpPr>
        <p:spPr>
          <a:xfrm>
            <a:off x="2006600" y="2667000"/>
            <a:ext cx="2235200" cy="4318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[CTO / VP Engineering]</a:t>
            </a:r>
            <a:endParaRPr lang="en-US" sz="850" dirty="0"/>
          </a:p>
        </p:txBody>
      </p:sp>
      <p:sp>
        <p:nvSpPr>
          <p:cNvPr id="15" name="Text 11"/>
          <p:cNvSpPr txBox="1"/>
          <p:nvPr/>
        </p:nvSpPr>
        <p:spPr>
          <a:xfrm>
            <a:off x="4419600" y="2667000"/>
            <a:ext cx="2235200" cy="4318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[CEO or CRO]</a:t>
            </a:r>
            <a:endParaRPr lang="en-US" sz="850" dirty="0"/>
          </a:p>
        </p:txBody>
      </p:sp>
      <p:sp>
        <p:nvSpPr>
          <p:cNvPr id="16" name="Text 12"/>
          <p:cNvSpPr txBox="1"/>
          <p:nvPr/>
        </p:nvSpPr>
        <p:spPr>
          <a:xfrm>
            <a:off x="6832600" y="2667000"/>
            <a:ext cx="2235200" cy="4318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[RevOps / deal desk or COO]</a:t>
            </a:r>
            <a:endParaRPr lang="en-US" sz="850" dirty="0"/>
          </a:p>
        </p:txBody>
      </p:sp>
      <p:sp>
        <p:nvSpPr>
          <p:cNvPr id="17" name="Text 13"/>
          <p:cNvSpPr txBox="1"/>
          <p:nvPr/>
        </p:nvSpPr>
        <p:spPr>
          <a:xfrm>
            <a:off x="9245600" y="2667000"/>
            <a:ext cx="2235200" cy="4318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[CRO / VP Channel]</a:t>
            </a:r>
            <a:endParaRPr lang="en-US" sz="850" dirty="0"/>
          </a:p>
        </p:txBody>
      </p:sp>
      <p:sp>
        <p:nvSpPr>
          <p:cNvPr id="18" name="Text 14"/>
          <p:cNvSpPr txBox="1"/>
          <p:nvPr/>
        </p:nvSpPr>
        <p:spPr>
          <a:xfrm>
            <a:off x="657860" y="3098800"/>
            <a:ext cx="1219200" cy="711200"/>
          </a:xfrm>
          <a:prstGeom prst="rect">
            <a:avLst/>
          </a:prstGeom>
          <a:noFill/>
          <a:ln/>
        </p:spPr>
        <p:txBody>
          <a:bodyPr wrap="square" lIns="0" tIns="0" rIns="0" bIns="0" rtlCol="0" anchor="t"/>
          <a:lstStyle/>
          <a:p>
            <a:pPr indent="0" marL="0">
              <a:buNone/>
            </a:pPr>
            <a:r>
              <a:rPr lang="en-US" sz="800" b="1" spc="50" kern="0" dirty="0">
                <a:solidFill>
                  <a:srgbClr val="F36F20"/>
                </a:solidFill>
                <a:latin typeface="Segoe UI" pitchFamily="34" charset="0"/>
                <a:ea typeface="Segoe UI" pitchFamily="34" charset="-122"/>
                <a:cs typeface="Segoe UI" pitchFamily="34" charset="-120"/>
              </a:rPr>
              <a:t>WHAT IT REPLACES</a:t>
            </a:r>
            <a:endParaRPr lang="en-US" sz="800" dirty="0"/>
          </a:p>
        </p:txBody>
      </p:sp>
      <p:sp>
        <p:nvSpPr>
          <p:cNvPr id="19" name="Text 15"/>
          <p:cNvSpPr txBox="1"/>
          <p:nvPr/>
        </p:nvSpPr>
        <p:spPr>
          <a:xfrm>
            <a:off x="2006600" y="3098800"/>
            <a:ext cx="2235200" cy="7112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[N] engineer-weeks on Well-Architected, FTR and seller registration</a:t>
            </a:r>
            <a:endParaRPr lang="en-US" sz="850" dirty="0"/>
          </a:p>
        </p:txBody>
      </p:sp>
      <p:sp>
        <p:nvSpPr>
          <p:cNvPr id="20" name="Text 16"/>
          <p:cNvSpPr txBox="1"/>
          <p:nvPr/>
        </p:nvSpPr>
        <p:spPr>
          <a:xfrm>
            <a:off x="4419600" y="3098800"/>
            <a:ext cx="2235200" cy="7112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A Director of Alliances hire</a:t>
            </a:r>
            <a:endParaRPr lang="en-US" sz="850" dirty="0"/>
          </a:p>
        </p:txBody>
      </p:sp>
      <p:sp>
        <p:nvSpPr>
          <p:cNvPr id="21" name="Text 17"/>
          <p:cNvSpPr txBox="1"/>
          <p:nvPr/>
        </p:nvSpPr>
        <p:spPr>
          <a:xfrm>
            <a:off x="6832600" y="3098800"/>
            <a:ext cx="2235200" cy="7112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A Marketplace ops / offer-desk hire plus compliance engineering hours</a:t>
            </a:r>
            <a:endParaRPr lang="en-US" sz="850" dirty="0"/>
          </a:p>
        </p:txBody>
      </p:sp>
      <p:sp>
        <p:nvSpPr>
          <p:cNvPr id="22" name="Text 18"/>
          <p:cNvSpPr txBox="1"/>
          <p:nvPr/>
        </p:nvSpPr>
        <p:spPr>
          <a:xfrm>
            <a:off x="9245600" y="3098800"/>
            <a:ext cx="2235200" cy="7112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A channel manager plus a PRM subscription</a:t>
            </a:r>
            <a:endParaRPr lang="en-US" sz="850" dirty="0"/>
          </a:p>
        </p:txBody>
      </p:sp>
      <p:sp>
        <p:nvSpPr>
          <p:cNvPr id="23" name="Text 19"/>
          <p:cNvSpPr txBox="1"/>
          <p:nvPr/>
        </p:nvSpPr>
        <p:spPr>
          <a:xfrm>
            <a:off x="657860" y="3810000"/>
            <a:ext cx="1219200" cy="838200"/>
          </a:xfrm>
          <a:prstGeom prst="rect">
            <a:avLst/>
          </a:prstGeom>
          <a:noFill/>
          <a:ln/>
        </p:spPr>
        <p:txBody>
          <a:bodyPr wrap="square" lIns="0" tIns="0" rIns="0" bIns="0" rtlCol="0" anchor="t"/>
          <a:lstStyle/>
          <a:p>
            <a:pPr indent="0" marL="0">
              <a:buNone/>
            </a:pPr>
            <a:r>
              <a:rPr lang="en-US" sz="800" b="1" spc="50" kern="0" dirty="0">
                <a:solidFill>
                  <a:srgbClr val="F36F20"/>
                </a:solidFill>
                <a:latin typeface="Segoe UI" pitchFamily="34" charset="0"/>
                <a:ea typeface="Segoe UI" pitchFamily="34" charset="-122"/>
                <a:cs typeface="Segoe UI" pitchFamily="34" charset="-120"/>
              </a:rPr>
              <a:t>THE LISTING BOUNDARY</a:t>
            </a:r>
            <a:endParaRPr lang="en-US" sz="800" dirty="0"/>
          </a:p>
        </p:txBody>
      </p:sp>
      <p:sp>
        <p:nvSpPr>
          <p:cNvPr id="24" name="Text 20"/>
          <p:cNvSpPr txBox="1"/>
          <p:nvPr/>
        </p:nvSpPr>
        <p:spPr>
          <a:xfrm>
            <a:off x="2006600" y="3810000"/>
            <a:ext cx="2235200" cy="8382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The one-time path to a published, transacting listing</a:t>
            </a:r>
            <a:endParaRPr lang="en-US" sz="850" dirty="0"/>
          </a:p>
        </p:txBody>
      </p:sp>
      <p:sp>
        <p:nvSpPr>
          <p:cNvPr id="25" name="Text 21"/>
          <p:cNvSpPr txBox="1"/>
          <p:nvPr/>
        </p:nvSpPr>
        <p:spPr>
          <a:xfrm>
            <a:off x="4419600" y="3810000"/>
            <a:ext cx="2235200" cy="8382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The AWS partnership programme around a listing — not the listing work</a:t>
            </a:r>
            <a:endParaRPr lang="en-US" sz="850" dirty="0"/>
          </a:p>
        </p:txBody>
      </p:sp>
      <p:sp>
        <p:nvSpPr>
          <p:cNvPr id="26" name="Text 22"/>
          <p:cNvSpPr txBox="1"/>
          <p:nvPr/>
        </p:nvSpPr>
        <p:spPr>
          <a:xfrm>
            <a:off x="6832600" y="3810000"/>
            <a:ext cx="2235200" cy="8382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Running a listing that already exists</a:t>
            </a:r>
            <a:endParaRPr lang="en-US" sz="850" dirty="0"/>
          </a:p>
        </p:txBody>
      </p:sp>
      <p:sp>
        <p:nvSpPr>
          <p:cNvPr id="27" name="Text 23"/>
          <p:cNvSpPr txBox="1"/>
          <p:nvPr/>
        </p:nvSpPr>
        <p:spPr>
          <a:xfrm>
            <a:off x="9245600" y="3810000"/>
            <a:ext cx="2235200" cy="8382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Third-party sellers — not the customer’s own listing</a:t>
            </a:r>
            <a:endParaRPr lang="en-US" sz="850" dirty="0"/>
          </a:p>
        </p:txBody>
      </p:sp>
      <p:sp>
        <p:nvSpPr>
          <p:cNvPr id="28" name="Text 24"/>
          <p:cNvSpPr txBox="1"/>
          <p:nvPr/>
        </p:nvSpPr>
        <p:spPr>
          <a:xfrm>
            <a:off x="657860" y="4648200"/>
            <a:ext cx="1219200" cy="558800"/>
          </a:xfrm>
          <a:prstGeom prst="rect">
            <a:avLst/>
          </a:prstGeom>
          <a:noFill/>
          <a:ln/>
        </p:spPr>
        <p:txBody>
          <a:bodyPr wrap="square" lIns="0" tIns="0" rIns="0" bIns="0" rtlCol="0" anchor="t"/>
          <a:lstStyle/>
          <a:p>
            <a:pPr indent="0" marL="0">
              <a:buNone/>
            </a:pPr>
            <a:r>
              <a:rPr lang="en-US" sz="800" b="1" spc="50" kern="0" dirty="0">
                <a:solidFill>
                  <a:srgbClr val="F36F20"/>
                </a:solidFill>
                <a:latin typeface="Segoe UI" pitchFamily="34" charset="0"/>
                <a:ea typeface="Segoe UI" pitchFamily="34" charset="-122"/>
                <a:cs typeface="Segoe UI" pitchFamily="34" charset="-120"/>
              </a:rPr>
              <a:t>COMPONENT</a:t>
            </a:r>
            <a:endParaRPr lang="en-US" sz="800" dirty="0"/>
          </a:p>
        </p:txBody>
      </p:sp>
      <p:sp>
        <p:nvSpPr>
          <p:cNvPr id="29" name="Text 25"/>
          <p:cNvSpPr txBox="1"/>
          <p:nvPr/>
        </p:nvSpPr>
        <p:spPr>
          <a:xfrm>
            <a:off x="2006600" y="4648200"/>
            <a:ext cx="2235200" cy="5588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ASecureCloud</a:t>
            </a:r>
            <a:endParaRPr lang="en-US" sz="850" dirty="0"/>
          </a:p>
        </p:txBody>
      </p:sp>
      <p:sp>
        <p:nvSpPr>
          <p:cNvPr id="30" name="Text 26"/>
          <p:cNvSpPr txBox="1"/>
          <p:nvPr/>
        </p:nvSpPr>
        <p:spPr>
          <a:xfrm>
            <a:off x="4419600" y="4648200"/>
            <a:ext cx="2235200" cy="5588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[none named in the deck — confirm]</a:t>
            </a:r>
            <a:endParaRPr lang="en-US" sz="850" dirty="0"/>
          </a:p>
        </p:txBody>
      </p:sp>
      <p:sp>
        <p:nvSpPr>
          <p:cNvPr id="31" name="Text 27"/>
          <p:cNvSpPr txBox="1"/>
          <p:nvPr/>
        </p:nvSpPr>
        <p:spPr>
          <a:xfrm>
            <a:off x="6832600" y="4648200"/>
            <a:ext cx="2235200" cy="5588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[none named in the deck — confirm]</a:t>
            </a:r>
            <a:endParaRPr lang="en-US" sz="850" dirty="0"/>
          </a:p>
        </p:txBody>
      </p:sp>
      <p:sp>
        <p:nvSpPr>
          <p:cNvPr id="32" name="Text 28"/>
          <p:cNvSpPr txBox="1"/>
          <p:nvPr/>
        </p:nvSpPr>
        <p:spPr>
          <a:xfrm>
            <a:off x="9245600" y="4648200"/>
            <a:ext cx="2235200" cy="5588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Kiflo, resold inside the fee</a:t>
            </a:r>
            <a:endParaRPr lang="en-US" sz="850" dirty="0"/>
          </a:p>
        </p:txBody>
      </p:sp>
      <p:sp>
        <p:nvSpPr>
          <p:cNvPr id="33" name="Text 29"/>
          <p:cNvSpPr txBox="1"/>
          <p:nvPr/>
        </p:nvSpPr>
        <p:spPr>
          <a:xfrm>
            <a:off x="657860" y="5207000"/>
            <a:ext cx="1219200" cy="431800"/>
          </a:xfrm>
          <a:prstGeom prst="rect">
            <a:avLst/>
          </a:prstGeom>
          <a:noFill/>
          <a:ln/>
        </p:spPr>
        <p:txBody>
          <a:bodyPr wrap="square" lIns="0" tIns="0" rIns="0" bIns="0" rtlCol="0" anchor="t"/>
          <a:lstStyle/>
          <a:p>
            <a:pPr indent="0" marL="0">
              <a:buNone/>
            </a:pPr>
            <a:r>
              <a:rPr lang="en-US" sz="800" b="1" spc="50" kern="0" dirty="0">
                <a:solidFill>
                  <a:srgbClr val="F36F20"/>
                </a:solidFill>
                <a:latin typeface="Segoe UI" pitchFamily="34" charset="0"/>
                <a:ea typeface="Segoe UI" pitchFamily="34" charset="-122"/>
                <a:cs typeface="Segoe UI" pitchFamily="34" charset="-120"/>
              </a:rPr>
              <a:t>SOLUTION ID</a:t>
            </a:r>
            <a:endParaRPr lang="en-US" sz="800" dirty="0"/>
          </a:p>
        </p:txBody>
      </p:sp>
      <p:sp>
        <p:nvSpPr>
          <p:cNvPr id="34" name="Text 30"/>
          <p:cNvSpPr txBox="1"/>
          <p:nvPr/>
        </p:nvSpPr>
        <p:spPr>
          <a:xfrm>
            <a:off x="2006600" y="5207000"/>
            <a:ext cx="2235200" cy="4318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Its own, with its own milestone submission</a:t>
            </a:r>
            <a:endParaRPr lang="en-US" sz="850" dirty="0"/>
          </a:p>
        </p:txBody>
      </p:sp>
      <p:sp>
        <p:nvSpPr>
          <p:cNvPr id="35" name="Text 31"/>
          <p:cNvSpPr txBox="1"/>
          <p:nvPr/>
        </p:nvSpPr>
        <p:spPr>
          <a:xfrm>
            <a:off x="4419600" y="5207000"/>
            <a:ext cx="2235200" cy="4318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Its own</a:t>
            </a:r>
            <a:endParaRPr lang="en-US" sz="850" dirty="0"/>
          </a:p>
        </p:txBody>
      </p:sp>
      <p:sp>
        <p:nvSpPr>
          <p:cNvPr id="36" name="Text 32"/>
          <p:cNvSpPr txBox="1"/>
          <p:nvPr/>
        </p:nvSpPr>
        <p:spPr>
          <a:xfrm>
            <a:off x="6832600" y="5207000"/>
            <a:ext cx="2235200" cy="4318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Its own</a:t>
            </a:r>
            <a:endParaRPr lang="en-US" sz="850" dirty="0"/>
          </a:p>
        </p:txBody>
      </p:sp>
      <p:sp>
        <p:nvSpPr>
          <p:cNvPr id="37" name="Text 33"/>
          <p:cNvSpPr txBox="1"/>
          <p:nvPr/>
        </p:nvSpPr>
        <p:spPr>
          <a:xfrm>
            <a:off x="9245600" y="5207000"/>
            <a:ext cx="2235200" cy="4318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Its own</a:t>
            </a:r>
            <a:endParaRPr lang="en-US" sz="850" dirty="0"/>
          </a:p>
        </p:txBody>
      </p:sp>
      <p:sp>
        <p:nvSpPr>
          <p:cNvPr id="38" name="Text 34"/>
          <p:cNvSpPr txBox="1"/>
          <p:nvPr/>
        </p:nvSpPr>
        <p:spPr>
          <a:xfrm>
            <a:off x="657860" y="5486400"/>
            <a:ext cx="6350000" cy="177800"/>
          </a:xfrm>
          <a:prstGeom prst="rect">
            <a:avLst/>
          </a:prstGeom>
          <a:noFill/>
          <a:ln/>
        </p:spPr>
        <p:txBody>
          <a:bodyPr wrap="square" lIns="0" tIns="0" rIns="0" bIns="0" rtlCol="0" anchor="t"/>
          <a:lstStyle/>
          <a:p>
            <a:pPr indent="0" marL="0">
              <a:buNone/>
            </a:pPr>
            <a:r>
              <a:rPr lang="en-US" sz="850" dirty="0">
                <a:solidFill>
                  <a:srgbClr val="9AA2B5"/>
                </a:solidFill>
                <a:latin typeface="Segoe UI Semilight" pitchFamily="34" charset="0"/>
                <a:ea typeface="Segoe UI Semilight" pitchFamily="34" charset="-122"/>
                <a:cs typeface="Segoe UI Semilight" pitchFamily="34" charset="-120"/>
              </a:rPr>
              <a:t>Buyer profiles to be validated against OBP’s closed and in-flight deals.</a:t>
            </a:r>
            <a:endParaRPr lang="en-US" sz="850" dirty="0"/>
          </a:p>
        </p:txBody>
      </p:sp>
      <p:sp>
        <p:nvSpPr>
          <p:cNvPr id="39" name="Shape 35"/>
          <p:cNvSpPr/>
          <p:nvPr/>
        </p:nvSpPr>
        <p:spPr>
          <a:xfrm>
            <a:off x="566420" y="5760720"/>
            <a:ext cx="11057890" cy="566420"/>
          </a:xfrm>
          <a:prstGeom prst="roundRect">
            <a:avLst>
              <a:gd name="adj" fmla="val 22601"/>
            </a:avLst>
          </a:prstGeom>
          <a:solidFill>
            <a:srgbClr val="15224B"/>
          </a:solidFill>
          <a:ln/>
        </p:spPr>
      </p:sp>
      <p:sp>
        <p:nvSpPr>
          <p:cNvPr id="40" name="Text 36"/>
          <p:cNvSpPr txBox="1"/>
          <p:nvPr/>
        </p:nvSpPr>
        <p:spPr>
          <a:xfrm>
            <a:off x="838200" y="5867400"/>
            <a:ext cx="10541000" cy="355600"/>
          </a:xfrm>
          <a:prstGeom prst="rect">
            <a:avLst/>
          </a:prstGeom>
          <a:noFill/>
          <a:ln/>
        </p:spPr>
        <p:txBody>
          <a:bodyPr wrap="square" lIns="0" tIns="0" rIns="0" bIns="0" rtlCol="0" anchor="ctr"/>
          <a:lstStyle/>
          <a:p>
            <a:pPr indent="0" marL="0">
              <a:buNone/>
            </a:pPr>
            <a:r>
              <a:rPr lang="en-US" sz="1050" b="1" spc="110" kern="0" dirty="0">
                <a:solidFill>
                  <a:srgbClr val="F36F20"/>
                </a:solidFill>
                <a:latin typeface="Segoe UI" pitchFamily="34" charset="0"/>
                <a:ea typeface="Segoe UI" pitchFamily="34" charset="-122"/>
                <a:cs typeface="Segoe UI" pitchFamily="34" charset="-120"/>
              </a:rPr>
              <a:t>NOT CUSTOMER-FACING</a:t>
            </a:r>
            <a:pPr indent="0" marL="0">
              <a:buNone/>
            </a:pPr>
            <a:r>
              <a:rPr lang="en-US" sz="1050" dirty="0">
                <a:solidFill>
                  <a:srgbClr val="D7E1F5"/>
                </a:solidFill>
                <a:latin typeface="Segoe UI Semilight" pitchFamily="34" charset="0"/>
                <a:ea typeface="Segoe UI Semilight" pitchFamily="34" charset="-122"/>
                <a:cs typeface="Segoe UI Semilight" pitchFamily="34" charset="-120"/>
              </a:rPr>
              <a:t>    Each customer overview and deck names its own solution only.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user/barberbook/docs/deck/assets/bg_cont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eyebrow_p7.png">    </p:cNvPr>
          <p:cNvPicPr>
            <a:picLocks noChangeAspect="1"/>
          </p:cNvPicPr>
          <p:nvPr/>
        </p:nvPicPr>
        <p:blipFill>
          <a:blip r:embed="rId2"/>
          <a:stretch>
            <a:fillRect/>
          </a:stretch>
        </p:blipFill>
        <p:spPr>
          <a:xfrm>
            <a:off x="566420" y="474980"/>
            <a:ext cx="256540" cy="256540"/>
          </a:xfrm>
          <a:prstGeom prst="rect">
            <a:avLst/>
          </a:prstGeom>
        </p:spPr>
      </p:pic>
      <p:sp>
        <p:nvSpPr>
          <p:cNvPr id="4" name="Text 0"/>
          <p:cNvSpPr txBox="1"/>
          <p:nvPr/>
        </p:nvSpPr>
        <p:spPr>
          <a:xfrm>
            <a:off x="1023620" y="501650"/>
            <a:ext cx="6350000" cy="228600"/>
          </a:xfrm>
          <a:prstGeom prst="rect">
            <a:avLst/>
          </a:prstGeom>
          <a:noFill/>
          <a:ln/>
        </p:spPr>
        <p:txBody>
          <a:bodyPr wrap="square" lIns="0" tIns="0" rIns="0" bIns="0" rtlCol="0" anchor="t"/>
          <a:lstStyle/>
          <a:p>
            <a:pPr indent="0" marL="0">
              <a:buNone/>
            </a:pPr>
            <a:r>
              <a:rPr lang="en-US" sz="1150" b="1" spc="160" kern="0" dirty="0">
                <a:solidFill>
                  <a:srgbClr val="F36F20"/>
                </a:solidFill>
                <a:latin typeface="Segoe UI" pitchFamily="34" charset="0"/>
                <a:ea typeface="Segoe UI" pitchFamily="34" charset="-122"/>
                <a:cs typeface="Segoe UI" pitchFamily="34" charset="-120"/>
              </a:rPr>
              <a:t>HOW THE BOX FRAMING WORKS</a:t>
            </a:r>
            <a:endParaRPr lang="en-US" sz="1150" dirty="0"/>
          </a:p>
        </p:txBody>
      </p:sp>
      <p:sp>
        <p:nvSpPr>
          <p:cNvPr id="5" name="Text 1"/>
          <p:cNvSpPr txBox="1"/>
          <p:nvPr/>
        </p:nvSpPr>
        <p:spPr>
          <a:xfrm>
            <a:off x="657860" y="939800"/>
            <a:ext cx="10922000" cy="508000"/>
          </a:xfrm>
          <a:prstGeom prst="rect">
            <a:avLst/>
          </a:prstGeom>
          <a:noFill/>
          <a:ln/>
        </p:spPr>
        <p:txBody>
          <a:bodyPr wrap="square" lIns="0" tIns="0" rIns="0" bIns="0" rtlCol="0" anchor="t"/>
          <a:lstStyle/>
          <a:p>
            <a:pPr indent="0" marL="0">
              <a:buNone/>
            </a:pPr>
            <a:r>
              <a:rPr lang="en-US" sz="2500" b="1" dirty="0">
                <a:solidFill>
                  <a:srgbClr val="15224B"/>
                </a:solidFill>
                <a:latin typeface="Segoe UI" pitchFamily="34" charset="0"/>
                <a:ea typeface="Segoe UI" pitchFamily="34" charset="-122"/>
                <a:cs typeface="Segoe UI" pitchFamily="34" charset="-120"/>
              </a:rPr>
              <a:t>One structure across all four.</a:t>
            </a:r>
            <a:endParaRPr lang="en-US" sz="2500" dirty="0"/>
          </a:p>
        </p:txBody>
      </p:sp>
      <p:sp>
        <p:nvSpPr>
          <p:cNvPr id="6" name="Text 2"/>
          <p:cNvSpPr txBox="1"/>
          <p:nvPr/>
        </p:nvSpPr>
        <p:spPr>
          <a:xfrm>
            <a:off x="657860" y="1651000"/>
            <a:ext cx="10541000" cy="431800"/>
          </a:xfrm>
          <a:prstGeom prst="rect">
            <a:avLst/>
          </a:prstGeom>
          <a:noFill/>
          <a:ln/>
        </p:spPr>
        <p:txBody>
          <a:bodyPr wrap="square" lIns="0" tIns="0" rIns="0" bIns="0" rtlCol="0" anchor="t"/>
          <a:lstStyle/>
          <a:p>
            <a:pPr indent="0" marL="0">
              <a:buNone/>
            </a:pPr>
            <a:r>
              <a:rPr lang="en-US" sz="1250" dirty="0">
                <a:solidFill>
                  <a:srgbClr val="5B6378"/>
                </a:solidFill>
                <a:latin typeface="Segoe UI Semilight" pitchFamily="34" charset="0"/>
                <a:ea typeface="Segoe UI Semilight" pitchFamily="34" charset="-122"/>
                <a:cs typeface="Segoe UI Semilight" pitchFamily="34" charset="-120"/>
              </a:rPr>
              <a:t>Automatum leads the solution and owns the listed software; OBP delivers the engagement. Automatum is seller of record.</a:t>
            </a:r>
            <a:endParaRPr lang="en-US" sz="1250" dirty="0"/>
          </a:p>
        </p:txBody>
      </p:sp>
      <p:sp>
        <p:nvSpPr>
          <p:cNvPr id="7" name="Text 3"/>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8" name="Text 4"/>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06 / 22</a:t>
            </a:r>
            <a:endParaRPr lang="en-US" sz="900" dirty="0"/>
          </a:p>
        </p:txBody>
      </p:sp>
      <p:pic>
        <p:nvPicPr>
          <p:cNvPr id="9" name="Image 2" descr="/home/user/barberbook/docs/deck/assets/panel.png">    </p:cNvPr>
          <p:cNvPicPr>
            <a:picLocks noChangeAspect="1"/>
          </p:cNvPicPr>
          <p:nvPr/>
        </p:nvPicPr>
        <p:blipFill>
          <a:blip r:embed="rId3"/>
          <a:stretch>
            <a:fillRect/>
          </a:stretch>
        </p:blipFill>
        <p:spPr>
          <a:xfrm>
            <a:off x="420370" y="2523490"/>
            <a:ext cx="2933700" cy="2908300"/>
          </a:xfrm>
          <a:prstGeom prst="rect">
            <a:avLst/>
          </a:prstGeom>
        </p:spPr>
      </p:pic>
      <p:sp>
        <p:nvSpPr>
          <p:cNvPr id="10" name="Text 5"/>
          <p:cNvSpPr txBox="1"/>
          <p:nvPr/>
        </p:nvSpPr>
        <p:spPr>
          <a:xfrm>
            <a:off x="1023620" y="2540000"/>
            <a:ext cx="3411220" cy="584200"/>
          </a:xfrm>
          <a:prstGeom prst="rect">
            <a:avLst/>
          </a:prstGeom>
          <a:noFill/>
          <a:ln/>
        </p:spPr>
        <p:txBody>
          <a:bodyPr wrap="square" lIns="0" tIns="0" rIns="0" bIns="0" rtlCol="0" anchor="t"/>
          <a:lstStyle/>
          <a:p>
            <a:pPr indent="0" marL="0">
              <a:buNone/>
            </a:pPr>
            <a:r>
              <a:rPr lang="en-US" sz="1500" b="1" dirty="0">
                <a:solidFill>
                  <a:srgbClr val="15224B"/>
                </a:solidFill>
                <a:latin typeface="Segoe UI" pitchFamily="34" charset="0"/>
                <a:ea typeface="Segoe UI" pitchFamily="34" charset="-122"/>
                <a:cs typeface="Segoe UI" pitchFamily="34" charset="-120"/>
              </a:rPr>
              <a:t>One agreement</a:t>
            </a:r>
            <a:endParaRPr lang="en-US" sz="1500" dirty="0"/>
          </a:p>
        </p:txBody>
      </p:sp>
      <p:sp>
        <p:nvSpPr>
          <p:cNvPr id="11" name="Text 6"/>
          <p:cNvSpPr txBox="1"/>
          <p:nvPr/>
        </p:nvSpPr>
        <p:spPr>
          <a:xfrm>
            <a:off x="1023620" y="2921000"/>
            <a:ext cx="3411220" cy="2540000"/>
          </a:xfrm>
          <a:prstGeom prst="rect">
            <a:avLst/>
          </a:prstGeom>
          <a:noFill/>
          <a:ln/>
        </p:spPr>
        <p:txBody>
          <a:bodyPr wrap="square" lIns="0" tIns="0" rIns="0" bIns="0" rtlCol="0" anchor="t"/>
          <a:lstStyle/>
          <a:p>
            <a:pPr indent="0" marL="0">
              <a:buNone/>
            </a:pPr>
            <a:r>
              <a:rPr lang="en-US" sz="950" dirty="0">
                <a:solidFill>
                  <a:srgbClr val="5B6378"/>
                </a:solidFill>
                <a:latin typeface="Segoe UI Semilight" pitchFamily="34" charset="0"/>
                <a:ea typeface="Segoe UI Semilight" pitchFamily="34" charset="-122"/>
                <a:cs typeface="Segoe UI Semilight" pitchFamily="34" charset="-120"/>
              </a:rPr>
              <a:t>Standalone sale. One agreement per Solution ID, no bundle SKU, list price per solution. [Multi-solution discount policy — to decide.] The customer transacts through AWS Marketplace on Automatum’s listing — software on one line, professional services on the other.</a:t>
            </a:r>
            <a:endParaRPr lang="en-US" sz="950" dirty="0"/>
          </a:p>
        </p:txBody>
      </p:sp>
      <p:pic>
        <p:nvPicPr>
          <p:cNvPr id="12" name="Image 3" descr="/home/user/barberbook/docs/deck/assets/panel.png">    </p:cNvPr>
          <p:cNvPicPr>
            <a:picLocks noChangeAspect="1"/>
          </p:cNvPicPr>
          <p:nvPr/>
        </p:nvPicPr>
        <p:blipFill>
          <a:blip r:embed="rId4"/>
          <a:stretch>
            <a:fillRect/>
          </a:stretch>
        </p:blipFill>
        <p:spPr>
          <a:xfrm>
            <a:off x="4161790" y="2523490"/>
            <a:ext cx="2933700" cy="2908300"/>
          </a:xfrm>
          <a:prstGeom prst="rect">
            <a:avLst/>
          </a:prstGeom>
        </p:spPr>
      </p:pic>
      <p:sp>
        <p:nvSpPr>
          <p:cNvPr id="13" name="Text 7"/>
          <p:cNvSpPr txBox="1"/>
          <p:nvPr/>
        </p:nvSpPr>
        <p:spPr>
          <a:xfrm>
            <a:off x="4765040" y="2540000"/>
            <a:ext cx="3411220" cy="584200"/>
          </a:xfrm>
          <a:prstGeom prst="rect">
            <a:avLst/>
          </a:prstGeom>
          <a:noFill/>
          <a:ln/>
        </p:spPr>
        <p:txBody>
          <a:bodyPr wrap="square" lIns="0" tIns="0" rIns="0" bIns="0" rtlCol="0" anchor="t"/>
          <a:lstStyle/>
          <a:p>
            <a:pPr indent="0" marL="0">
              <a:buNone/>
            </a:pPr>
            <a:r>
              <a:rPr lang="en-US" sz="1500" b="1" dirty="0">
                <a:solidFill>
                  <a:srgbClr val="15224B"/>
                </a:solidFill>
                <a:latin typeface="Segoe UI" pitchFamily="34" charset="0"/>
                <a:ea typeface="Segoe UI" pitchFamily="34" charset="-122"/>
                <a:cs typeface="Segoe UI" pitchFamily="34" charset="-120"/>
              </a:rPr>
              <a:t>The software line</a:t>
            </a:r>
            <a:endParaRPr lang="en-US" sz="1500" dirty="0"/>
          </a:p>
        </p:txBody>
      </p:sp>
      <p:sp>
        <p:nvSpPr>
          <p:cNvPr id="14" name="Text 8"/>
          <p:cNvSpPr txBox="1"/>
          <p:nvPr/>
        </p:nvSpPr>
        <p:spPr>
          <a:xfrm>
            <a:off x="4765040" y="2921000"/>
            <a:ext cx="3411220" cy="2540000"/>
          </a:xfrm>
          <a:prstGeom prst="rect">
            <a:avLst/>
          </a:prstGeom>
          <a:noFill/>
          <a:ln/>
        </p:spPr>
        <p:txBody>
          <a:bodyPr wrap="square" lIns="0" tIns="0" rIns="0" bIns="0" rtlCol="0" anchor="t"/>
          <a:lstStyle/>
          <a:p>
            <a:pPr indent="0" marL="0">
              <a:buNone/>
            </a:pPr>
            <a:r>
              <a:rPr lang="en-US" sz="950" dirty="0">
                <a:solidFill>
                  <a:srgbClr val="5B6378"/>
                </a:solidFill>
                <a:latin typeface="Segoe UI Semilight" pitchFamily="34" charset="0"/>
                <a:ea typeface="Segoe UI Semilight" pitchFamily="34" charset="-122"/>
                <a:cs typeface="Segoe UI Semilight" pitchFamily="34" charset="-120"/>
              </a:rPr>
              <a:t>Every solution puts Automatum software on the software line. [Automatum software component — to name, per solution.] Load-bearing for both the four-solutions defence and the revenue split.</a:t>
            </a:r>
            <a:endParaRPr lang="en-US" sz="950" dirty="0"/>
          </a:p>
        </p:txBody>
      </p:sp>
      <p:pic>
        <p:nvPicPr>
          <p:cNvPr id="15" name="Image 4" descr="/home/user/barberbook/docs/deck/assets/panel.png">    </p:cNvPr>
          <p:cNvPicPr>
            <a:picLocks noChangeAspect="1"/>
          </p:cNvPicPr>
          <p:nvPr/>
        </p:nvPicPr>
        <p:blipFill>
          <a:blip r:embed="rId5"/>
          <a:stretch>
            <a:fillRect/>
          </a:stretch>
        </p:blipFill>
        <p:spPr>
          <a:xfrm>
            <a:off x="7903210" y="2523490"/>
            <a:ext cx="2933700" cy="2908300"/>
          </a:xfrm>
          <a:prstGeom prst="rect">
            <a:avLst/>
          </a:prstGeom>
        </p:spPr>
      </p:pic>
      <p:sp>
        <p:nvSpPr>
          <p:cNvPr id="16" name="Text 9"/>
          <p:cNvSpPr txBox="1"/>
          <p:nvPr/>
        </p:nvSpPr>
        <p:spPr>
          <a:xfrm>
            <a:off x="8506460" y="2540000"/>
            <a:ext cx="3411220" cy="584200"/>
          </a:xfrm>
          <a:prstGeom prst="rect">
            <a:avLst/>
          </a:prstGeom>
          <a:noFill/>
          <a:ln/>
        </p:spPr>
        <p:txBody>
          <a:bodyPr wrap="square" lIns="0" tIns="0" rIns="0" bIns="0" rtlCol="0" anchor="t"/>
          <a:lstStyle/>
          <a:p>
            <a:pPr indent="0" marL="0">
              <a:buNone/>
            </a:pPr>
            <a:r>
              <a:rPr lang="en-US" sz="1500" b="1" dirty="0">
                <a:solidFill>
                  <a:srgbClr val="15224B"/>
                </a:solidFill>
                <a:latin typeface="Segoe UI" pitchFamily="34" charset="0"/>
                <a:ea typeface="Segoe UI" pitchFamily="34" charset="-122"/>
                <a:cs typeface="Segoe UI" pitchFamily="34" charset="-120"/>
              </a:rPr>
              <a:t>Entry conditions</a:t>
            </a:r>
            <a:endParaRPr lang="en-US" sz="1500" dirty="0"/>
          </a:p>
        </p:txBody>
      </p:sp>
      <p:sp>
        <p:nvSpPr>
          <p:cNvPr id="17" name="Text 10"/>
          <p:cNvSpPr txBox="1"/>
          <p:nvPr/>
        </p:nvSpPr>
        <p:spPr>
          <a:xfrm>
            <a:off x="8506460" y="2921000"/>
            <a:ext cx="3411220" cy="2540000"/>
          </a:xfrm>
          <a:prstGeom prst="rect">
            <a:avLst/>
          </a:prstGeom>
          <a:noFill/>
          <a:ln/>
        </p:spPr>
        <p:txBody>
          <a:bodyPr wrap="square" lIns="0" tIns="0" rIns="0" bIns="0" rtlCol="0" anchor="t"/>
          <a:lstStyle/>
          <a:p>
            <a:pPr indent="0" marL="0">
              <a:buNone/>
            </a:pPr>
            <a:r>
              <a:rPr lang="en-US" sz="950" dirty="0">
                <a:solidFill>
                  <a:srgbClr val="5B6378"/>
                </a:solidFill>
                <a:latin typeface="Segoe UI Semilight" pitchFamily="34" charset="0"/>
                <a:ea typeface="Segoe UI Semilight" pitchFamily="34" charset="-122"/>
                <a:cs typeface="Segoe UI Semilight" pitchFamily="34" charset="-120"/>
              </a:rPr>
              <a:t>Validated or Differentiated held by the lead partner — stated by Automatum, evidence to attach. Solution lists within 12 months. [Clock basis — per Solution ID from entry, or programme-level — to confirm.]</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user/barberbook/docs/deck/assets/bg_cont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eyebrow_p8.png">    </p:cNvPr>
          <p:cNvPicPr>
            <a:picLocks noChangeAspect="1"/>
          </p:cNvPicPr>
          <p:nvPr/>
        </p:nvPicPr>
        <p:blipFill>
          <a:blip r:embed="rId2"/>
          <a:stretch>
            <a:fillRect/>
          </a:stretch>
        </p:blipFill>
        <p:spPr>
          <a:xfrm>
            <a:off x="566420" y="474980"/>
            <a:ext cx="256540" cy="256540"/>
          </a:xfrm>
          <a:prstGeom prst="rect">
            <a:avLst/>
          </a:prstGeom>
        </p:spPr>
      </p:pic>
      <p:sp>
        <p:nvSpPr>
          <p:cNvPr id="4" name="Text 0"/>
          <p:cNvSpPr txBox="1"/>
          <p:nvPr/>
        </p:nvSpPr>
        <p:spPr>
          <a:xfrm>
            <a:off x="1023620" y="501650"/>
            <a:ext cx="6350000" cy="228600"/>
          </a:xfrm>
          <a:prstGeom prst="rect">
            <a:avLst/>
          </a:prstGeom>
          <a:noFill/>
          <a:ln/>
        </p:spPr>
        <p:txBody>
          <a:bodyPr wrap="square" lIns="0" tIns="0" rIns="0" bIns="0" rtlCol="0" anchor="t"/>
          <a:lstStyle/>
          <a:p>
            <a:pPr indent="0" marL="0">
              <a:buNone/>
            </a:pPr>
            <a:r>
              <a:rPr lang="en-US" sz="1150" b="1" spc="160" kern="0" dirty="0">
                <a:solidFill>
                  <a:srgbClr val="2E7CC4"/>
                </a:solidFill>
                <a:latin typeface="Segoe UI" pitchFamily="34" charset="0"/>
                <a:ea typeface="Segoe UI" pitchFamily="34" charset="-122"/>
                <a:cs typeface="Segoe UI" pitchFamily="34" charset="-120"/>
              </a:rPr>
              <a:t>THE RULE</a:t>
            </a:r>
            <a:endParaRPr lang="en-US" sz="1150" dirty="0"/>
          </a:p>
        </p:txBody>
      </p:sp>
      <p:sp>
        <p:nvSpPr>
          <p:cNvPr id="5" name="Text 1"/>
          <p:cNvSpPr txBox="1"/>
          <p:nvPr/>
        </p:nvSpPr>
        <p:spPr>
          <a:xfrm>
            <a:off x="657860" y="939800"/>
            <a:ext cx="10922000" cy="508000"/>
          </a:xfrm>
          <a:prstGeom prst="rect">
            <a:avLst/>
          </a:prstGeom>
          <a:noFill/>
          <a:ln/>
        </p:spPr>
        <p:txBody>
          <a:bodyPr wrap="square" lIns="0" tIns="0" rIns="0" bIns="0" rtlCol="0" anchor="t"/>
          <a:lstStyle/>
          <a:p>
            <a:pPr indent="0" marL="0">
              <a:buNone/>
            </a:pPr>
            <a:r>
              <a:rPr lang="en-US" sz="2500" b="1" dirty="0">
                <a:solidFill>
                  <a:srgbClr val="15224B"/>
                </a:solidFill>
                <a:latin typeface="Segoe UI" pitchFamily="34" charset="0"/>
                <a:ea typeface="Segoe UI" pitchFamily="34" charset="-122"/>
                <a:cs typeface="Segoe UI" pitchFamily="34" charset="-120"/>
              </a:rPr>
              <a:t>What a rung is.</a:t>
            </a:r>
            <a:endParaRPr lang="en-US" sz="2500" dirty="0"/>
          </a:p>
        </p:txBody>
      </p:sp>
      <p:sp>
        <p:nvSpPr>
          <p:cNvPr id="6" name="Text 2"/>
          <p:cNvSpPr txBox="1"/>
          <p:nvPr/>
        </p:nvSpPr>
        <p:spPr>
          <a:xfrm>
            <a:off x="657860" y="1651000"/>
            <a:ext cx="10541000" cy="431800"/>
          </a:xfrm>
          <a:prstGeom prst="rect">
            <a:avLst/>
          </a:prstGeom>
          <a:noFill/>
          <a:ln/>
        </p:spPr>
        <p:txBody>
          <a:bodyPr wrap="square" lIns="0" tIns="0" rIns="0" bIns="0" rtlCol="0" anchor="t"/>
          <a:lstStyle/>
          <a:p>
            <a:pPr indent="0" marL="0">
              <a:buNone/>
            </a:pPr>
            <a:r>
              <a:rPr lang="en-US" sz="1250" dirty="0">
                <a:solidFill>
                  <a:srgbClr val="5B6378"/>
                </a:solidFill>
                <a:latin typeface="Segoe UI Semilight" pitchFamily="34" charset="0"/>
                <a:ea typeface="Segoe UI Semilight" pitchFamily="34" charset="-122"/>
                <a:cs typeface="Segoe UI Semilight" pitchFamily="34" charset="-120"/>
              </a:rPr>
              <a:t>One structure for every rung of every retainer, so the three solutions do not each argue it.</a:t>
            </a:r>
            <a:endParaRPr lang="en-US" sz="1250" dirty="0"/>
          </a:p>
        </p:txBody>
      </p:sp>
      <p:sp>
        <p:nvSpPr>
          <p:cNvPr id="7" name="Text 3"/>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8" name="Text 4"/>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07 / 22</a:t>
            </a:r>
            <a:endParaRPr lang="en-US" sz="900" dirty="0"/>
          </a:p>
        </p:txBody>
      </p:sp>
      <p:sp>
        <p:nvSpPr>
          <p:cNvPr id="9" name="Text 5"/>
          <p:cNvSpPr txBox="1"/>
          <p:nvPr/>
        </p:nvSpPr>
        <p:spPr>
          <a:xfrm>
            <a:off x="657860" y="2540000"/>
            <a:ext cx="1930400" cy="584200"/>
          </a:xfrm>
          <a:prstGeom prst="rect">
            <a:avLst/>
          </a:prstGeom>
          <a:noFill/>
          <a:ln/>
        </p:spPr>
        <p:txBody>
          <a:bodyPr wrap="square" lIns="0" tIns="0" rIns="0" bIns="0" rtlCol="0" anchor="t"/>
          <a:lstStyle/>
          <a:p>
            <a:pPr indent="0" marL="0">
              <a:buNone/>
            </a:pPr>
            <a:r>
              <a:rPr lang="en-US" sz="1200" b="1" dirty="0">
                <a:solidFill>
                  <a:srgbClr val="15224B"/>
                </a:solidFill>
                <a:latin typeface="Segoe UI" pitchFamily="34" charset="0"/>
                <a:ea typeface="Segoe UI" pitchFamily="34" charset="-122"/>
                <a:cs typeface="Segoe UI" pitchFamily="34" charset="-120"/>
              </a:rPr>
              <a:t>We commit</a:t>
            </a:r>
            <a:endParaRPr lang="en-US" sz="1200" dirty="0"/>
          </a:p>
        </p:txBody>
      </p:sp>
      <p:sp>
        <p:nvSpPr>
          <p:cNvPr id="10" name="Text 6"/>
          <p:cNvSpPr txBox="1"/>
          <p:nvPr/>
        </p:nvSpPr>
        <p:spPr>
          <a:xfrm>
            <a:off x="657860" y="2921000"/>
            <a:ext cx="1930400" cy="203200"/>
          </a:xfrm>
          <a:prstGeom prst="rect">
            <a:avLst/>
          </a:prstGeom>
          <a:noFill/>
          <a:ln/>
        </p:spPr>
        <p:txBody>
          <a:bodyPr wrap="square" lIns="0" tIns="0" rIns="0" bIns="0" rtlCol="0" anchor="t"/>
          <a:lstStyle/>
          <a:p>
            <a:pPr indent="0" marL="0">
              <a:buNone/>
            </a:pPr>
            <a:r>
              <a:rPr lang="en-US" sz="850" b="1" spc="80" kern="0" dirty="0">
                <a:solidFill>
                  <a:srgbClr val="2E7CC4"/>
                </a:solidFill>
                <a:latin typeface="Segoe UI" pitchFamily="34" charset="0"/>
                <a:ea typeface="Segoe UI" pitchFamily="34" charset="-122"/>
                <a:cs typeface="Segoe UI" pitchFamily="34" charset="-120"/>
              </a:rPr>
              <a:t>01</a:t>
            </a:r>
            <a:endParaRPr lang="en-US" sz="850" dirty="0"/>
          </a:p>
        </p:txBody>
      </p:sp>
      <p:sp>
        <p:nvSpPr>
          <p:cNvPr id="11" name="Text 7"/>
          <p:cNvSpPr txBox="1"/>
          <p:nvPr/>
        </p:nvSpPr>
        <p:spPr>
          <a:xfrm>
            <a:off x="657860" y="3136900"/>
            <a:ext cx="1930400" cy="23241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Only what OBP controls alone: named staffing and hours, cadence, artifacts issued, response times from a stated trigger. Attendance-dependent items are written as OBP’s act.</a:t>
            </a:r>
            <a:endParaRPr lang="en-US" sz="850" dirty="0"/>
          </a:p>
        </p:txBody>
      </p:sp>
      <p:sp>
        <p:nvSpPr>
          <p:cNvPr id="12" name="Text 8"/>
          <p:cNvSpPr txBox="1"/>
          <p:nvPr/>
        </p:nvSpPr>
        <p:spPr>
          <a:xfrm>
            <a:off x="2842260" y="2540000"/>
            <a:ext cx="1930400" cy="584200"/>
          </a:xfrm>
          <a:prstGeom prst="rect">
            <a:avLst/>
          </a:prstGeom>
          <a:noFill/>
          <a:ln/>
        </p:spPr>
        <p:txBody>
          <a:bodyPr wrap="square" lIns="0" tIns="0" rIns="0" bIns="0" rtlCol="0" anchor="t"/>
          <a:lstStyle/>
          <a:p>
            <a:pPr indent="0" marL="0">
              <a:buNone/>
            </a:pPr>
            <a:r>
              <a:rPr lang="en-US" sz="1200" b="1" dirty="0">
                <a:solidFill>
                  <a:srgbClr val="15224B"/>
                </a:solidFill>
                <a:latin typeface="Segoe UI" pitchFamily="34" charset="0"/>
                <a:ea typeface="Segoe UI" pitchFamily="34" charset="-122"/>
                <a:cs typeface="Segoe UI" pitchFamily="34" charset="-120"/>
              </a:rPr>
              <a:t>We target</a:t>
            </a:r>
            <a:endParaRPr lang="en-US" sz="1200" dirty="0"/>
          </a:p>
        </p:txBody>
      </p:sp>
      <p:sp>
        <p:nvSpPr>
          <p:cNvPr id="13" name="Text 9"/>
          <p:cNvSpPr txBox="1"/>
          <p:nvPr/>
        </p:nvSpPr>
        <p:spPr>
          <a:xfrm>
            <a:off x="2842260" y="2921000"/>
            <a:ext cx="1930400" cy="203200"/>
          </a:xfrm>
          <a:prstGeom prst="rect">
            <a:avLst/>
          </a:prstGeom>
          <a:noFill/>
          <a:ln/>
        </p:spPr>
        <p:txBody>
          <a:bodyPr wrap="square" lIns="0" tIns="0" rIns="0" bIns="0" rtlCol="0" anchor="t"/>
          <a:lstStyle/>
          <a:p>
            <a:pPr indent="0" marL="0">
              <a:buNone/>
            </a:pPr>
            <a:r>
              <a:rPr lang="en-US" sz="850" b="1" spc="80" kern="0" dirty="0">
                <a:solidFill>
                  <a:srgbClr val="2E7CC4"/>
                </a:solidFill>
                <a:latin typeface="Segoe UI" pitchFamily="34" charset="0"/>
                <a:ea typeface="Segoe UI" pitchFamily="34" charset="-122"/>
                <a:cs typeface="Segoe UI" pitchFamily="34" charset="-120"/>
              </a:rPr>
              <a:t>02</a:t>
            </a:r>
            <a:endParaRPr lang="en-US" sz="850" dirty="0"/>
          </a:p>
        </p:txBody>
      </p:sp>
      <p:sp>
        <p:nvSpPr>
          <p:cNvPr id="14" name="Text 10"/>
          <p:cNvSpPr txBox="1"/>
          <p:nvPr/>
        </p:nvSpPr>
        <p:spPr>
          <a:xfrm>
            <a:off x="2842260" y="3136900"/>
            <a:ext cx="1930400" cy="23241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Results that depend on the customer’s product, market or sales team, or on AWS. Shown against actuals from month one.</a:t>
            </a:r>
            <a:endParaRPr lang="en-US" sz="850" dirty="0"/>
          </a:p>
        </p:txBody>
      </p:sp>
      <p:sp>
        <p:nvSpPr>
          <p:cNvPr id="15" name="Text 11"/>
          <p:cNvSpPr txBox="1"/>
          <p:nvPr/>
        </p:nvSpPr>
        <p:spPr>
          <a:xfrm>
            <a:off x="5026660" y="2540000"/>
            <a:ext cx="1930400" cy="584200"/>
          </a:xfrm>
          <a:prstGeom prst="rect">
            <a:avLst/>
          </a:prstGeom>
          <a:noFill/>
          <a:ln/>
        </p:spPr>
        <p:txBody>
          <a:bodyPr wrap="square" lIns="0" tIns="0" rIns="0" bIns="0" rtlCol="0" anchor="t"/>
          <a:lstStyle/>
          <a:p>
            <a:pPr indent="0" marL="0">
              <a:buNone/>
            </a:pPr>
            <a:r>
              <a:rPr lang="en-US" sz="1200" b="1" dirty="0">
                <a:solidFill>
                  <a:srgbClr val="15224B"/>
                </a:solidFill>
                <a:latin typeface="Segoe UI" pitchFamily="34" charset="0"/>
                <a:ea typeface="Segoe UI" pitchFamily="34" charset="-122"/>
                <a:cs typeface="Segoe UI" pitchFamily="34" charset="-120"/>
              </a:rPr>
              <a:t>The band</a:t>
            </a:r>
            <a:endParaRPr lang="en-US" sz="1200" dirty="0"/>
          </a:p>
        </p:txBody>
      </p:sp>
      <p:sp>
        <p:nvSpPr>
          <p:cNvPr id="16" name="Text 12"/>
          <p:cNvSpPr txBox="1"/>
          <p:nvPr/>
        </p:nvSpPr>
        <p:spPr>
          <a:xfrm>
            <a:off x="5026660" y="2921000"/>
            <a:ext cx="1930400" cy="203200"/>
          </a:xfrm>
          <a:prstGeom prst="rect">
            <a:avLst/>
          </a:prstGeom>
          <a:noFill/>
          <a:ln/>
        </p:spPr>
        <p:txBody>
          <a:bodyPr wrap="square" lIns="0" tIns="0" rIns="0" bIns="0" rtlCol="0" anchor="t"/>
          <a:lstStyle/>
          <a:p>
            <a:pPr indent="0" marL="0">
              <a:buNone/>
            </a:pPr>
            <a:r>
              <a:rPr lang="en-US" sz="850" b="1" spc="80" kern="0" dirty="0">
                <a:solidFill>
                  <a:srgbClr val="2E7CC4"/>
                </a:solidFill>
                <a:latin typeface="Segoe UI" pitchFamily="34" charset="0"/>
                <a:ea typeface="Segoe UI" pitchFamily="34" charset="-122"/>
                <a:cs typeface="Segoe UI" pitchFamily="34" charset="-120"/>
              </a:rPr>
              <a:t>03</a:t>
            </a:r>
            <a:endParaRPr lang="en-US" sz="850" dirty="0"/>
          </a:p>
        </p:txBody>
      </p:sp>
      <p:sp>
        <p:nvSpPr>
          <p:cNvPr id="17" name="Text 13"/>
          <p:cNvSpPr txBox="1"/>
          <p:nvPr/>
        </p:nvSpPr>
        <p:spPr>
          <a:xfrm>
            <a:off x="5026660" y="3136900"/>
            <a:ext cx="1930400" cy="23241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Every rung carries an included volume and an overflow rate, modelled on the Accelerator’s own convention. No uncapped commitment at a fixed fee.</a:t>
            </a:r>
            <a:endParaRPr lang="en-US" sz="850" dirty="0"/>
          </a:p>
        </p:txBody>
      </p:sp>
      <p:sp>
        <p:nvSpPr>
          <p:cNvPr id="18" name="Text 14"/>
          <p:cNvSpPr txBox="1"/>
          <p:nvPr/>
        </p:nvSpPr>
        <p:spPr>
          <a:xfrm>
            <a:off x="7211060" y="2540000"/>
            <a:ext cx="1930400" cy="584200"/>
          </a:xfrm>
          <a:prstGeom prst="rect">
            <a:avLst/>
          </a:prstGeom>
          <a:noFill/>
          <a:ln/>
        </p:spPr>
        <p:txBody>
          <a:bodyPr wrap="square" lIns="0" tIns="0" rIns="0" bIns="0" rtlCol="0" anchor="t"/>
          <a:lstStyle/>
          <a:p>
            <a:pPr indent="0" marL="0">
              <a:buNone/>
            </a:pPr>
            <a:r>
              <a:rPr lang="en-US" sz="1200" b="1" dirty="0">
                <a:solidFill>
                  <a:srgbClr val="15224B"/>
                </a:solidFill>
                <a:latin typeface="Segoe UI" pitchFamily="34" charset="0"/>
                <a:ea typeface="Segoe UI" pitchFamily="34" charset="-122"/>
                <a:cs typeface="Segoe UI" pitchFamily="34" charset="-120"/>
              </a:rPr>
              <a:t>What the customer supplies</a:t>
            </a:r>
            <a:endParaRPr lang="en-US" sz="1200" dirty="0"/>
          </a:p>
        </p:txBody>
      </p:sp>
      <p:sp>
        <p:nvSpPr>
          <p:cNvPr id="19" name="Text 15"/>
          <p:cNvSpPr txBox="1"/>
          <p:nvPr/>
        </p:nvSpPr>
        <p:spPr>
          <a:xfrm>
            <a:off x="7211060" y="2921000"/>
            <a:ext cx="1930400" cy="203200"/>
          </a:xfrm>
          <a:prstGeom prst="rect">
            <a:avLst/>
          </a:prstGeom>
          <a:noFill/>
          <a:ln/>
        </p:spPr>
        <p:txBody>
          <a:bodyPr wrap="square" lIns="0" tIns="0" rIns="0" bIns="0" rtlCol="0" anchor="t"/>
          <a:lstStyle/>
          <a:p>
            <a:pPr indent="0" marL="0">
              <a:buNone/>
            </a:pPr>
            <a:r>
              <a:rPr lang="en-US" sz="850" b="1" spc="80" kern="0" dirty="0">
                <a:solidFill>
                  <a:srgbClr val="2E7CC4"/>
                </a:solidFill>
                <a:latin typeface="Segoe UI" pitchFamily="34" charset="0"/>
                <a:ea typeface="Segoe UI" pitchFamily="34" charset="-122"/>
                <a:cs typeface="Segoe UI" pitchFamily="34" charset="-120"/>
              </a:rPr>
              <a:t>04</a:t>
            </a:r>
            <a:endParaRPr lang="en-US" sz="850" dirty="0"/>
          </a:p>
        </p:txBody>
      </p:sp>
      <p:sp>
        <p:nvSpPr>
          <p:cNvPr id="20" name="Text 16"/>
          <p:cNvSpPr txBox="1"/>
          <p:nvPr/>
        </p:nvSpPr>
        <p:spPr>
          <a:xfrm>
            <a:off x="7211060" y="3136900"/>
            <a:ext cx="1930400" cy="23241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Named counterpart, data, access, approvals, input turnaround. OBP’s clocks run from these being met.</a:t>
            </a:r>
            <a:endParaRPr lang="en-US" sz="850" dirty="0"/>
          </a:p>
        </p:txBody>
      </p:sp>
      <p:sp>
        <p:nvSpPr>
          <p:cNvPr id="21" name="Text 17"/>
          <p:cNvSpPr txBox="1"/>
          <p:nvPr/>
        </p:nvSpPr>
        <p:spPr>
          <a:xfrm>
            <a:off x="9395460" y="2540000"/>
            <a:ext cx="1930400" cy="584200"/>
          </a:xfrm>
          <a:prstGeom prst="rect">
            <a:avLst/>
          </a:prstGeom>
          <a:noFill/>
          <a:ln/>
        </p:spPr>
        <p:txBody>
          <a:bodyPr wrap="square" lIns="0" tIns="0" rIns="0" bIns="0" rtlCol="0" anchor="t"/>
          <a:lstStyle/>
          <a:p>
            <a:pPr indent="0" marL="0">
              <a:buNone/>
            </a:pPr>
            <a:r>
              <a:rPr lang="en-US" sz="1200" b="1" dirty="0">
                <a:solidFill>
                  <a:srgbClr val="15224B"/>
                </a:solidFill>
                <a:latin typeface="Segoe UI" pitchFamily="34" charset="0"/>
                <a:ea typeface="Segoe UI" pitchFamily="34" charset="-122"/>
                <a:cs typeface="Segoe UI" pitchFamily="34" charset="-120"/>
              </a:rPr>
              <a:t>Evidence and remedy</a:t>
            </a:r>
            <a:endParaRPr lang="en-US" sz="1200" dirty="0"/>
          </a:p>
        </p:txBody>
      </p:sp>
      <p:sp>
        <p:nvSpPr>
          <p:cNvPr id="22" name="Text 18"/>
          <p:cNvSpPr txBox="1"/>
          <p:nvPr/>
        </p:nvSpPr>
        <p:spPr>
          <a:xfrm>
            <a:off x="9395460" y="2921000"/>
            <a:ext cx="1930400" cy="203200"/>
          </a:xfrm>
          <a:prstGeom prst="rect">
            <a:avLst/>
          </a:prstGeom>
          <a:noFill/>
          <a:ln/>
        </p:spPr>
        <p:txBody>
          <a:bodyPr wrap="square" lIns="0" tIns="0" rIns="0" bIns="0" rtlCol="0" anchor="t"/>
          <a:lstStyle/>
          <a:p>
            <a:pPr indent="0" marL="0">
              <a:buNone/>
            </a:pPr>
            <a:r>
              <a:rPr lang="en-US" sz="850" b="1" spc="80" kern="0" dirty="0">
                <a:solidFill>
                  <a:srgbClr val="2E7CC4"/>
                </a:solidFill>
                <a:latin typeface="Segoe UI" pitchFamily="34" charset="0"/>
                <a:ea typeface="Segoe UI" pitchFamily="34" charset="-122"/>
                <a:cs typeface="Segoe UI" pitchFamily="34" charset="-120"/>
              </a:rPr>
              <a:t>05</a:t>
            </a:r>
            <a:endParaRPr lang="en-US" sz="850" dirty="0"/>
          </a:p>
        </p:txBody>
      </p:sp>
      <p:sp>
        <p:nvSpPr>
          <p:cNvPr id="23" name="Text 19"/>
          <p:cNvSpPr txBox="1"/>
          <p:nvPr/>
        </p:nvSpPr>
        <p:spPr>
          <a:xfrm>
            <a:off x="9395460" y="3136900"/>
            <a:ext cx="1930400" cy="23241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Each commit names the artifact that proves it. [Remedy — service credit / make-good / termination right — to decide.] Targets carry no fee adjustment.</a:t>
            </a:r>
            <a:endParaRPr lang="en-US" sz="850" dirty="0"/>
          </a:p>
        </p:txBody>
      </p:sp>
      <p:sp>
        <p:nvSpPr>
          <p:cNvPr id="24" name="Shape 20"/>
          <p:cNvSpPr/>
          <p:nvPr/>
        </p:nvSpPr>
        <p:spPr>
          <a:xfrm>
            <a:off x="566420" y="5760720"/>
            <a:ext cx="11057890" cy="566420"/>
          </a:xfrm>
          <a:prstGeom prst="roundRect">
            <a:avLst>
              <a:gd name="adj" fmla="val 22601"/>
            </a:avLst>
          </a:prstGeom>
          <a:solidFill>
            <a:srgbClr val="15224B"/>
          </a:solidFill>
          <a:ln/>
        </p:spPr>
      </p:sp>
      <p:sp>
        <p:nvSpPr>
          <p:cNvPr id="25" name="Text 21"/>
          <p:cNvSpPr txBox="1"/>
          <p:nvPr/>
        </p:nvSpPr>
        <p:spPr>
          <a:xfrm>
            <a:off x="838200" y="5867400"/>
            <a:ext cx="10541000" cy="355600"/>
          </a:xfrm>
          <a:prstGeom prst="rect">
            <a:avLst/>
          </a:prstGeom>
          <a:noFill/>
          <a:ln/>
        </p:spPr>
        <p:txBody>
          <a:bodyPr wrap="square" lIns="0" tIns="0" rIns="0" bIns="0" rtlCol="0" anchor="ctr"/>
          <a:lstStyle/>
          <a:p>
            <a:pPr indent="0" marL="0">
              <a:buNone/>
            </a:pPr>
            <a:r>
              <a:rPr lang="en-US" sz="1050" b="1" spc="110" kern="0" dirty="0">
                <a:solidFill>
                  <a:srgbClr val="F36F20"/>
                </a:solidFill>
                <a:latin typeface="Segoe UI" pitchFamily="34" charset="0"/>
                <a:ea typeface="Segoe UI" pitchFamily="34" charset="-122"/>
                <a:cs typeface="Segoe UI" pitchFamily="34" charset="-120"/>
              </a:rPr>
              <a:t>THE LINE</a:t>
            </a:r>
            <a:pPr indent="0" marL="0">
              <a:buNone/>
            </a:pPr>
            <a:r>
              <a:rPr lang="en-US" sz="1050" dirty="0">
                <a:solidFill>
                  <a:srgbClr val="D7E1F5"/>
                </a:solidFill>
                <a:latin typeface="Segoe UI Semilight" pitchFamily="34" charset="0"/>
                <a:ea typeface="Segoe UI Semilight" pitchFamily="34" charset="-122"/>
                <a:cs typeface="Segoe UI Semilight" pitchFamily="34" charset="-120"/>
              </a:rPr>
              <a:t>    A commitment OBP cannot honour alone is worse than none.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user/barberbook/docs/deck/assets/bg_divider2.jp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txBox="1"/>
          <p:nvPr/>
        </p:nvSpPr>
        <p:spPr>
          <a:xfrm>
            <a:off x="657860" y="1905000"/>
            <a:ext cx="5080000" cy="254000"/>
          </a:xfrm>
          <a:prstGeom prst="rect">
            <a:avLst/>
          </a:prstGeom>
          <a:noFill/>
          <a:ln/>
        </p:spPr>
        <p:txBody>
          <a:bodyPr wrap="square" lIns="0" tIns="0" rIns="0" bIns="0" rtlCol="0" anchor="t"/>
          <a:lstStyle/>
          <a:p>
            <a:pPr indent="0" marL="0">
              <a:buNone/>
            </a:pPr>
            <a:r>
              <a:rPr lang="en-US" sz="1150" b="1" spc="320" kern="0" dirty="0">
                <a:solidFill>
                  <a:srgbClr val="F36F20"/>
                </a:solidFill>
                <a:latin typeface="Segoe UI" pitchFamily="34" charset="0"/>
                <a:ea typeface="Segoe UI" pitchFamily="34" charset="-122"/>
                <a:cs typeface="Segoe UI" pitchFamily="34" charset="-120"/>
              </a:rPr>
              <a:t>PART TWO</a:t>
            </a:r>
            <a:endParaRPr lang="en-US" sz="1150" dirty="0"/>
          </a:p>
        </p:txBody>
      </p:sp>
      <p:sp>
        <p:nvSpPr>
          <p:cNvPr id="4" name="Text 1"/>
          <p:cNvSpPr txBox="1"/>
          <p:nvPr/>
        </p:nvSpPr>
        <p:spPr>
          <a:xfrm>
            <a:off x="657860" y="2349500"/>
            <a:ext cx="8890000" cy="635000"/>
          </a:xfrm>
          <a:prstGeom prst="rect">
            <a:avLst/>
          </a:prstGeom>
          <a:noFill/>
          <a:ln/>
        </p:spPr>
        <p:txBody>
          <a:bodyPr wrap="square" lIns="0" tIns="0" rIns="0" bIns="0" rtlCol="0" anchor="t"/>
          <a:lstStyle/>
          <a:p>
            <a:pPr indent="0" marL="0">
              <a:buNone/>
            </a:pPr>
            <a:r>
              <a:rPr lang="en-US" sz="3400" b="1" dirty="0">
                <a:solidFill>
                  <a:srgbClr val="FFFFFF"/>
                </a:solidFill>
                <a:latin typeface="Segoe UI" pitchFamily="34" charset="0"/>
                <a:ea typeface="Segoe UI" pitchFamily="34" charset="-122"/>
                <a:cs typeface="Segoe UI" pitchFamily="34" charset="-120"/>
              </a:rPr>
              <a:t>The four solutions</a:t>
            </a:r>
            <a:endParaRPr lang="en-US" sz="3400" dirty="0"/>
          </a:p>
        </p:txBody>
      </p:sp>
      <p:sp>
        <p:nvSpPr>
          <p:cNvPr id="5" name="Text 2"/>
          <p:cNvSpPr txBox="1"/>
          <p:nvPr/>
        </p:nvSpPr>
        <p:spPr>
          <a:xfrm>
            <a:off x="657860" y="3111500"/>
            <a:ext cx="8128000" cy="304800"/>
          </a:xfrm>
          <a:prstGeom prst="rect">
            <a:avLst/>
          </a:prstGeom>
          <a:noFill/>
          <a:ln/>
        </p:spPr>
        <p:txBody>
          <a:bodyPr wrap="square" lIns="0" tIns="0" rIns="0" bIns="0" rtlCol="0" anchor="t"/>
          <a:lstStyle/>
          <a:p>
            <a:pPr indent="0" marL="0">
              <a:buNone/>
            </a:pPr>
            <a:r>
              <a:rPr lang="en-US" sz="1300" dirty="0">
                <a:solidFill>
                  <a:srgbClr val="C6D2EA"/>
                </a:solidFill>
                <a:latin typeface="Segoe UI Semilight" pitchFamily="34" charset="0"/>
                <a:ea typeface="Segoe UI Semilight" pitchFamily="34" charset="-122"/>
                <a:cs typeface="Segoe UI Semilight" pitchFamily="34" charset="-120"/>
              </a:rPr>
              <a:t>Each stands alone in front of a customer.</a:t>
            </a:r>
            <a:endParaRPr lang="en-US" sz="1300" dirty="0"/>
          </a:p>
        </p:txBody>
      </p:sp>
      <p:pic>
        <p:nvPicPr>
          <p:cNvPr id="6" name="Image 1" descr="/home/user/barberbook/docs/deck/assets/tile_a.png">    </p:cNvPr>
          <p:cNvPicPr>
            <a:picLocks noChangeAspect="1"/>
          </p:cNvPicPr>
          <p:nvPr/>
        </p:nvPicPr>
        <p:blipFill>
          <a:blip r:embed="rId2"/>
          <a:stretch>
            <a:fillRect/>
          </a:stretch>
        </p:blipFill>
        <p:spPr>
          <a:xfrm>
            <a:off x="657860" y="3810000"/>
            <a:ext cx="431800" cy="431800"/>
          </a:xfrm>
          <a:prstGeom prst="rect">
            <a:avLst/>
          </a:prstGeom>
        </p:spPr>
      </p:pic>
      <p:sp>
        <p:nvSpPr>
          <p:cNvPr id="7" name="Text 3"/>
          <p:cNvSpPr txBox="1"/>
          <p:nvPr/>
        </p:nvSpPr>
        <p:spPr>
          <a:xfrm>
            <a:off x="657860" y="4368800"/>
            <a:ext cx="1422400" cy="203200"/>
          </a:xfrm>
          <a:prstGeom prst="rect">
            <a:avLst/>
          </a:prstGeom>
          <a:noFill/>
          <a:ln/>
        </p:spPr>
        <p:txBody>
          <a:bodyPr wrap="square" lIns="0" tIns="0" rIns="0" bIns="0" rtlCol="0" anchor="t"/>
          <a:lstStyle/>
          <a:p>
            <a:pPr indent="0" marL="0">
              <a:buNone/>
            </a:pPr>
            <a:r>
              <a:rPr lang="en-US" sz="1000" dirty="0">
                <a:solidFill>
                  <a:srgbClr val="D3DCEF"/>
                </a:solidFill>
                <a:latin typeface="Segoe UI Semilight" pitchFamily="34" charset="0"/>
                <a:ea typeface="Segoe UI Semilight" pitchFamily="34" charset="-122"/>
                <a:cs typeface="Segoe UI Semilight" pitchFamily="34" charset="-120"/>
              </a:rPr>
              <a:t>List</a:t>
            </a:r>
            <a:endParaRPr lang="en-US" sz="1000" dirty="0"/>
          </a:p>
        </p:txBody>
      </p:sp>
      <p:pic>
        <p:nvPicPr>
          <p:cNvPr id="8" name="Image 2" descr="/home/user/barberbook/docs/deck/assets/tile_c.png">    </p:cNvPr>
          <p:cNvPicPr>
            <a:picLocks noChangeAspect="1"/>
          </p:cNvPicPr>
          <p:nvPr/>
        </p:nvPicPr>
        <p:blipFill>
          <a:blip r:embed="rId3"/>
          <a:stretch>
            <a:fillRect/>
          </a:stretch>
        </p:blipFill>
        <p:spPr>
          <a:xfrm>
            <a:off x="2207260" y="3810000"/>
            <a:ext cx="431800" cy="431800"/>
          </a:xfrm>
          <a:prstGeom prst="rect">
            <a:avLst/>
          </a:prstGeom>
        </p:spPr>
      </p:pic>
      <p:sp>
        <p:nvSpPr>
          <p:cNvPr id="9" name="Text 4"/>
          <p:cNvSpPr txBox="1"/>
          <p:nvPr/>
        </p:nvSpPr>
        <p:spPr>
          <a:xfrm>
            <a:off x="2207260" y="4368800"/>
            <a:ext cx="1422400" cy="203200"/>
          </a:xfrm>
          <a:prstGeom prst="rect">
            <a:avLst/>
          </a:prstGeom>
          <a:noFill/>
          <a:ln/>
        </p:spPr>
        <p:txBody>
          <a:bodyPr wrap="square" lIns="0" tIns="0" rIns="0" bIns="0" rtlCol="0" anchor="t"/>
          <a:lstStyle/>
          <a:p>
            <a:pPr indent="0" marL="0">
              <a:buNone/>
            </a:pPr>
            <a:r>
              <a:rPr lang="en-US" sz="1000" dirty="0">
                <a:solidFill>
                  <a:srgbClr val="D3DCEF"/>
                </a:solidFill>
                <a:latin typeface="Segoe UI Semilight" pitchFamily="34" charset="0"/>
                <a:ea typeface="Segoe UI Semilight" pitchFamily="34" charset="-122"/>
                <a:cs typeface="Segoe UI Semilight" pitchFamily="34" charset="-120"/>
              </a:rPr>
              <a:t>Partner</a:t>
            </a:r>
            <a:endParaRPr lang="en-US" sz="1000" dirty="0"/>
          </a:p>
        </p:txBody>
      </p:sp>
      <p:pic>
        <p:nvPicPr>
          <p:cNvPr id="10" name="Image 3" descr="/home/user/barberbook/docs/deck/assets/tile_f.png">    </p:cNvPr>
          <p:cNvPicPr>
            <a:picLocks noChangeAspect="1"/>
          </p:cNvPicPr>
          <p:nvPr/>
        </p:nvPicPr>
        <p:blipFill>
          <a:blip r:embed="rId4"/>
          <a:stretch>
            <a:fillRect/>
          </a:stretch>
        </p:blipFill>
        <p:spPr>
          <a:xfrm>
            <a:off x="3756660" y="3810000"/>
            <a:ext cx="431800" cy="431800"/>
          </a:xfrm>
          <a:prstGeom prst="rect">
            <a:avLst/>
          </a:prstGeom>
        </p:spPr>
      </p:pic>
      <p:sp>
        <p:nvSpPr>
          <p:cNvPr id="11" name="Text 5"/>
          <p:cNvSpPr txBox="1"/>
          <p:nvPr/>
        </p:nvSpPr>
        <p:spPr>
          <a:xfrm>
            <a:off x="3756660" y="4368800"/>
            <a:ext cx="1422400" cy="203200"/>
          </a:xfrm>
          <a:prstGeom prst="rect">
            <a:avLst/>
          </a:prstGeom>
          <a:noFill/>
          <a:ln/>
        </p:spPr>
        <p:txBody>
          <a:bodyPr wrap="square" lIns="0" tIns="0" rIns="0" bIns="0" rtlCol="0" anchor="t"/>
          <a:lstStyle/>
          <a:p>
            <a:pPr indent="0" marL="0">
              <a:buNone/>
            </a:pPr>
            <a:r>
              <a:rPr lang="en-US" sz="1000" dirty="0">
                <a:solidFill>
                  <a:srgbClr val="D3DCEF"/>
                </a:solidFill>
                <a:latin typeface="Segoe UI Semilight" pitchFamily="34" charset="0"/>
                <a:ea typeface="Segoe UI Semilight" pitchFamily="34" charset="-122"/>
                <a:cs typeface="Segoe UI Semilight" pitchFamily="34" charset="-120"/>
              </a:rPr>
              <a:t>Operate</a:t>
            </a:r>
            <a:endParaRPr lang="en-US" sz="1000" dirty="0"/>
          </a:p>
        </p:txBody>
      </p:sp>
      <p:pic>
        <p:nvPicPr>
          <p:cNvPr id="12" name="Image 4" descr="/home/user/barberbook/docs/deck/assets/tile_g.png">    </p:cNvPr>
          <p:cNvPicPr>
            <a:picLocks noChangeAspect="1"/>
          </p:cNvPicPr>
          <p:nvPr/>
        </p:nvPicPr>
        <p:blipFill>
          <a:blip r:embed="rId5"/>
          <a:stretch>
            <a:fillRect/>
          </a:stretch>
        </p:blipFill>
        <p:spPr>
          <a:xfrm>
            <a:off x="5306060" y="3810000"/>
            <a:ext cx="431800" cy="431800"/>
          </a:xfrm>
          <a:prstGeom prst="rect">
            <a:avLst/>
          </a:prstGeom>
        </p:spPr>
      </p:pic>
      <p:sp>
        <p:nvSpPr>
          <p:cNvPr id="13" name="Text 6"/>
          <p:cNvSpPr txBox="1"/>
          <p:nvPr/>
        </p:nvSpPr>
        <p:spPr>
          <a:xfrm>
            <a:off x="5306060" y="4368800"/>
            <a:ext cx="1422400" cy="203200"/>
          </a:xfrm>
          <a:prstGeom prst="rect">
            <a:avLst/>
          </a:prstGeom>
          <a:noFill/>
          <a:ln/>
        </p:spPr>
        <p:txBody>
          <a:bodyPr wrap="square" lIns="0" tIns="0" rIns="0" bIns="0" rtlCol="0" anchor="t"/>
          <a:lstStyle/>
          <a:p>
            <a:pPr indent="0" marL="0">
              <a:buNone/>
            </a:pPr>
            <a:r>
              <a:rPr lang="en-US" sz="1000" dirty="0">
                <a:solidFill>
                  <a:srgbClr val="D3DCEF"/>
                </a:solidFill>
                <a:latin typeface="Segoe UI Semilight" pitchFamily="34" charset="0"/>
                <a:ea typeface="Segoe UI Semilight" pitchFamily="34" charset="-122"/>
                <a:cs typeface="Segoe UI Semilight" pitchFamily="34" charset="-120"/>
              </a:rPr>
              <a:t>Build</a:t>
            </a:r>
            <a:endParaRPr lang="en-US" sz="1000" dirty="0"/>
          </a:p>
        </p:txBody>
      </p:sp>
      <p:sp>
        <p:nvSpPr>
          <p:cNvPr id="14" name="Text 7"/>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15" name="Text 8"/>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08 / 22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user/barberbook/docs/deck/assets/bg_cont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eyebrow_p7.png">    </p:cNvPr>
          <p:cNvPicPr>
            <a:picLocks noChangeAspect="1"/>
          </p:cNvPicPr>
          <p:nvPr/>
        </p:nvPicPr>
        <p:blipFill>
          <a:blip r:embed="rId2"/>
          <a:stretch>
            <a:fillRect/>
          </a:stretch>
        </p:blipFill>
        <p:spPr>
          <a:xfrm>
            <a:off x="566420" y="474980"/>
            <a:ext cx="256540" cy="256540"/>
          </a:xfrm>
          <a:prstGeom prst="rect">
            <a:avLst/>
          </a:prstGeom>
        </p:spPr>
      </p:pic>
      <p:sp>
        <p:nvSpPr>
          <p:cNvPr id="4" name="Text 0"/>
          <p:cNvSpPr txBox="1"/>
          <p:nvPr/>
        </p:nvSpPr>
        <p:spPr>
          <a:xfrm>
            <a:off x="1023620" y="501650"/>
            <a:ext cx="6350000" cy="228600"/>
          </a:xfrm>
          <a:prstGeom prst="rect">
            <a:avLst/>
          </a:prstGeom>
          <a:noFill/>
          <a:ln/>
        </p:spPr>
        <p:txBody>
          <a:bodyPr wrap="square" lIns="0" tIns="0" rIns="0" bIns="0" rtlCol="0" anchor="t"/>
          <a:lstStyle/>
          <a:p>
            <a:pPr indent="0" marL="0">
              <a:buNone/>
            </a:pPr>
            <a:r>
              <a:rPr lang="en-US" sz="1150" b="1" spc="160" kern="0" dirty="0">
                <a:solidFill>
                  <a:srgbClr val="F36F20"/>
                </a:solidFill>
                <a:latin typeface="Segoe UI" pitchFamily="34" charset="0"/>
                <a:ea typeface="Segoe UI" pitchFamily="34" charset="-122"/>
                <a:cs typeface="Segoe UI" pitchFamily="34" charset="-120"/>
              </a:rPr>
              <a:t>FIXED-FEE PROJECT</a:t>
            </a:r>
            <a:endParaRPr lang="en-US" sz="1150" dirty="0"/>
          </a:p>
        </p:txBody>
      </p:sp>
      <p:sp>
        <p:nvSpPr>
          <p:cNvPr id="5" name="Text 1"/>
          <p:cNvSpPr txBox="1"/>
          <p:nvPr/>
        </p:nvSpPr>
        <p:spPr>
          <a:xfrm>
            <a:off x="657860" y="939800"/>
            <a:ext cx="10922000" cy="508000"/>
          </a:xfrm>
          <a:prstGeom prst="rect">
            <a:avLst/>
          </a:prstGeom>
          <a:noFill/>
          <a:ln/>
        </p:spPr>
        <p:txBody>
          <a:bodyPr wrap="square" lIns="0" tIns="0" rIns="0" bIns="0" rtlCol="0" anchor="t"/>
          <a:lstStyle/>
          <a:p>
            <a:pPr indent="0" marL="0">
              <a:buNone/>
            </a:pPr>
            <a:r>
              <a:rPr lang="en-US" sz="2500" b="1" dirty="0">
                <a:solidFill>
                  <a:srgbClr val="15224B"/>
                </a:solidFill>
                <a:latin typeface="Segoe UI" pitchFamily="34" charset="0"/>
                <a:ea typeface="Segoe UI" pitchFamily="34" charset="-122"/>
                <a:cs typeface="Segoe UI" pitchFamily="34" charset="-120"/>
              </a:rPr>
              <a:t>Marketplace Compliance Accelerator</a:t>
            </a:r>
            <a:endParaRPr lang="en-US" sz="2500" dirty="0"/>
          </a:p>
        </p:txBody>
      </p:sp>
      <p:sp>
        <p:nvSpPr>
          <p:cNvPr id="6" name="Text 2"/>
          <p:cNvSpPr txBox="1"/>
          <p:nvPr/>
        </p:nvSpPr>
        <p:spPr>
          <a:xfrm>
            <a:off x="657860" y="1651000"/>
            <a:ext cx="10541000" cy="431800"/>
          </a:xfrm>
          <a:prstGeom prst="rect">
            <a:avLst/>
          </a:prstGeom>
          <a:noFill/>
          <a:ln/>
        </p:spPr>
        <p:txBody>
          <a:bodyPr wrap="square" lIns="0" tIns="0" rIns="0" bIns="0" rtlCol="0" anchor="t"/>
          <a:lstStyle/>
          <a:p>
            <a:pPr indent="0" marL="0">
              <a:buNone/>
            </a:pPr>
            <a:r>
              <a:rPr lang="en-US" sz="1250" dirty="0">
                <a:solidFill>
                  <a:srgbClr val="5B6378"/>
                </a:solidFill>
                <a:latin typeface="Segoe UI Semilight" pitchFamily="34" charset="0"/>
                <a:ea typeface="Segoe UI Semilight" pitchFamily="34" charset="-122"/>
                <a:cs typeface="Segoe UI Semilight" pitchFamily="34" charset="-120"/>
              </a:rPr>
              <a:t>Get a product qualified and listed on AWS Marketplace.</a:t>
            </a:r>
            <a:endParaRPr lang="en-US" sz="1250" dirty="0"/>
          </a:p>
        </p:txBody>
      </p:sp>
      <p:sp>
        <p:nvSpPr>
          <p:cNvPr id="7" name="Text 3"/>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8" name="Text 4"/>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09 / 22</a:t>
            </a:r>
            <a:endParaRPr lang="en-US" sz="900" dirty="0"/>
          </a:p>
        </p:txBody>
      </p:sp>
      <p:sp>
        <p:nvSpPr>
          <p:cNvPr id="9" name="Text 5"/>
          <p:cNvSpPr txBox="1"/>
          <p:nvPr/>
        </p:nvSpPr>
        <p:spPr>
          <a:xfrm>
            <a:off x="1023620" y="2235200"/>
            <a:ext cx="3810000" cy="203200"/>
          </a:xfrm>
          <a:prstGeom prst="rect">
            <a:avLst/>
          </a:prstGeom>
          <a:noFill/>
          <a:ln/>
        </p:spPr>
        <p:txBody>
          <a:bodyPr wrap="square" lIns="0" tIns="0" rIns="0" bIns="0" rtlCol="0" anchor="t"/>
          <a:lstStyle/>
          <a:p>
            <a:pPr indent="0" marL="0">
              <a:buNone/>
            </a:pPr>
            <a:r>
              <a:rPr lang="en-US" sz="1200" b="1" dirty="0">
                <a:solidFill>
                  <a:srgbClr val="FFFFFF"/>
                </a:solidFill>
                <a:latin typeface="Segoe UI" pitchFamily="34" charset="0"/>
                <a:ea typeface="Segoe UI" pitchFamily="34" charset="-122"/>
                <a:cs typeface="Segoe UI" pitchFamily="34" charset="-120"/>
              </a:rPr>
              <a:t>The engagement</a:t>
            </a:r>
            <a:endParaRPr lang="en-US" sz="1200" dirty="0"/>
          </a:p>
        </p:txBody>
      </p:sp>
      <p:sp>
        <p:nvSpPr>
          <p:cNvPr id="10" name="Text 6"/>
          <p:cNvSpPr txBox="1"/>
          <p:nvPr/>
        </p:nvSpPr>
        <p:spPr>
          <a:xfrm>
            <a:off x="1023620" y="2489200"/>
            <a:ext cx="4572000" cy="381000"/>
          </a:xfrm>
          <a:prstGeom prst="rect">
            <a:avLst/>
          </a:prstGeom>
          <a:noFill/>
          <a:ln/>
        </p:spPr>
        <p:txBody>
          <a:bodyPr wrap="square" lIns="0" tIns="0" rIns="0" bIns="0" rtlCol="0" anchor="t"/>
          <a:lstStyle/>
          <a:p>
            <a:pPr indent="0" marL="0">
              <a:buNone/>
            </a:pPr>
            <a:r>
              <a:rPr lang="en-US" sz="950" dirty="0">
                <a:solidFill>
                  <a:srgbClr val="5B6378"/>
                </a:solidFill>
                <a:latin typeface="Segoe UI Semilight" pitchFamily="34" charset="0"/>
                <a:ea typeface="Segoe UI Semilight" pitchFamily="34" charset="-122"/>
                <a:cs typeface="Segoe UI Semilight" pitchFamily="34" charset="-120"/>
              </a:rPr>
              <a:t>From unassessed to a published, transacting listing in 14 to 18 business days of delivery.</a:t>
            </a:r>
            <a:endParaRPr lang="en-US" sz="950" dirty="0"/>
          </a:p>
        </p:txBody>
      </p:sp>
      <p:sp>
        <p:nvSpPr>
          <p:cNvPr id="11" name="Text 7"/>
          <p:cNvSpPr txBox="1"/>
          <p:nvPr/>
        </p:nvSpPr>
        <p:spPr>
          <a:xfrm>
            <a:off x="6635750" y="2235200"/>
            <a:ext cx="3810000" cy="203200"/>
          </a:xfrm>
          <a:prstGeom prst="rect">
            <a:avLst/>
          </a:prstGeom>
          <a:noFill/>
          <a:ln/>
        </p:spPr>
        <p:txBody>
          <a:bodyPr wrap="square" lIns="0" tIns="0" rIns="0" bIns="0" rtlCol="0" anchor="t"/>
          <a:lstStyle/>
          <a:p>
            <a:pPr indent="0" marL="0">
              <a:buNone/>
            </a:pPr>
            <a:r>
              <a:rPr lang="en-US" sz="1200" b="1" dirty="0">
                <a:solidFill>
                  <a:srgbClr val="FFFFFF"/>
                </a:solidFill>
                <a:latin typeface="Segoe UI" pitchFamily="34" charset="0"/>
                <a:ea typeface="Segoe UI" pitchFamily="34" charset="-122"/>
                <a:cs typeface="Segoe UI" pitchFamily="34" charset="-120"/>
              </a:rPr>
              <a:t>Stands alone</a:t>
            </a:r>
            <a:endParaRPr lang="en-US" sz="1200" dirty="0"/>
          </a:p>
        </p:txBody>
      </p:sp>
      <p:sp>
        <p:nvSpPr>
          <p:cNvPr id="12" name="Text 8"/>
          <p:cNvSpPr txBox="1"/>
          <p:nvPr/>
        </p:nvSpPr>
        <p:spPr>
          <a:xfrm>
            <a:off x="6635750" y="2489200"/>
            <a:ext cx="4572000" cy="381000"/>
          </a:xfrm>
          <a:prstGeom prst="rect">
            <a:avLst/>
          </a:prstGeom>
          <a:noFill/>
          <a:ln/>
        </p:spPr>
        <p:txBody>
          <a:bodyPr wrap="square" lIns="0" tIns="0" rIns="0" bIns="0" rtlCol="0" anchor="t"/>
          <a:lstStyle/>
          <a:p>
            <a:pPr indent="0" marL="0">
              <a:buNone/>
            </a:pPr>
            <a:r>
              <a:rPr lang="en-US" sz="950" dirty="0">
                <a:solidFill>
                  <a:srgbClr val="5B6378"/>
                </a:solidFill>
                <a:latin typeface="Segoe UI Semilight" pitchFamily="34" charset="0"/>
                <a:ea typeface="Segoe UI Semilight" pitchFamily="34" charset="-122"/>
                <a:cs typeface="Segoe UI Semilight" pitchFamily="34" charset="-120"/>
              </a:rPr>
              <a:t>Its own overview, its own deck, its own Solution ID and milestone submission.</a:t>
            </a:r>
            <a:endParaRPr lang="en-US" sz="950" dirty="0"/>
          </a:p>
        </p:txBody>
      </p:sp>
      <p:sp>
        <p:nvSpPr>
          <p:cNvPr id="13" name="Shape 9"/>
          <p:cNvSpPr/>
          <p:nvPr/>
        </p:nvSpPr>
        <p:spPr>
          <a:xfrm>
            <a:off x="566420" y="3105150"/>
            <a:ext cx="11055350" cy="317500"/>
          </a:xfrm>
          <a:prstGeom prst="rect">
            <a:avLst/>
          </a:prstGeom>
          <a:solidFill>
            <a:srgbClr val="15224B"/>
          </a:solidFill>
          <a:ln/>
        </p:spPr>
      </p:sp>
      <p:sp>
        <p:nvSpPr>
          <p:cNvPr id="14" name="Text 10"/>
          <p:cNvSpPr txBox="1"/>
          <p:nvPr/>
        </p:nvSpPr>
        <p:spPr>
          <a:xfrm>
            <a:off x="749300" y="3175000"/>
            <a:ext cx="1930400" cy="203200"/>
          </a:xfrm>
          <a:prstGeom prst="rect">
            <a:avLst/>
          </a:prstGeom>
          <a:noFill/>
          <a:ln/>
        </p:spPr>
        <p:txBody>
          <a:bodyPr wrap="square" lIns="0" tIns="0" rIns="0" bIns="0" rtlCol="0" anchor="t"/>
          <a:lstStyle/>
          <a:p>
            <a:pPr indent="0" marL="0">
              <a:buNone/>
            </a:pPr>
            <a:r>
              <a:rPr lang="en-US" sz="1050" b="1" dirty="0">
                <a:solidFill>
                  <a:srgbClr val="FFFFFF"/>
                </a:solidFill>
                <a:latin typeface="Segoe UI" pitchFamily="34" charset="0"/>
                <a:ea typeface="Segoe UI" pitchFamily="34" charset="-122"/>
                <a:cs typeface="Segoe UI" pitchFamily="34" charset="-120"/>
              </a:rPr>
              <a:t>Term</a:t>
            </a:r>
            <a:endParaRPr lang="en-US" sz="1050" dirty="0"/>
          </a:p>
        </p:txBody>
      </p:sp>
      <p:sp>
        <p:nvSpPr>
          <p:cNvPr id="15" name="Text 11"/>
          <p:cNvSpPr txBox="1"/>
          <p:nvPr/>
        </p:nvSpPr>
        <p:spPr>
          <a:xfrm>
            <a:off x="2857500" y="3175000"/>
            <a:ext cx="8509000" cy="203200"/>
          </a:xfrm>
          <a:prstGeom prst="rect">
            <a:avLst/>
          </a:prstGeom>
          <a:noFill/>
          <a:ln/>
        </p:spPr>
        <p:txBody>
          <a:bodyPr wrap="square" lIns="0" tIns="0" rIns="0" bIns="0" rtlCol="0" anchor="t"/>
          <a:lstStyle/>
          <a:p>
            <a:pPr indent="0" marL="0">
              <a:buNone/>
            </a:pPr>
            <a:r>
              <a:rPr lang="en-US" sz="1050" b="1" dirty="0">
                <a:solidFill>
                  <a:srgbClr val="FFFFFF"/>
                </a:solidFill>
                <a:latin typeface="Segoe UI" pitchFamily="34" charset="0"/>
                <a:ea typeface="Segoe UI" pitchFamily="34" charset="-122"/>
                <a:cs typeface="Segoe UI" pitchFamily="34" charset="-120"/>
              </a:rPr>
              <a:t>What it covers</a:t>
            </a:r>
            <a:endParaRPr lang="en-US" sz="1050" dirty="0"/>
          </a:p>
        </p:txBody>
      </p:sp>
      <p:sp>
        <p:nvSpPr>
          <p:cNvPr id="16" name="Text 12"/>
          <p:cNvSpPr txBox="1"/>
          <p:nvPr/>
        </p:nvSpPr>
        <p:spPr>
          <a:xfrm>
            <a:off x="749300" y="3543300"/>
            <a:ext cx="1930400" cy="317500"/>
          </a:xfrm>
          <a:prstGeom prst="rect">
            <a:avLst/>
          </a:prstGeom>
          <a:noFill/>
          <a:ln/>
        </p:spPr>
        <p:txBody>
          <a:bodyPr wrap="square" lIns="0" tIns="0" rIns="0" bIns="0" rtlCol="0" anchor="t"/>
          <a:lstStyle/>
          <a:p>
            <a:pPr indent="0" marL="0">
              <a:buNone/>
            </a:pPr>
            <a:r>
              <a:rPr lang="en-US" sz="1050" b="1" dirty="0">
                <a:solidFill>
                  <a:srgbClr val="15224B"/>
                </a:solidFill>
                <a:latin typeface="Segoe UI" pitchFamily="34" charset="0"/>
                <a:ea typeface="Segoe UI" pitchFamily="34" charset="-122"/>
                <a:cs typeface="Segoe UI" pitchFamily="34" charset="-120"/>
              </a:rPr>
              <a:t>Fee</a:t>
            </a:r>
            <a:endParaRPr lang="en-US" sz="1050" dirty="0"/>
          </a:p>
        </p:txBody>
      </p:sp>
      <p:sp>
        <p:nvSpPr>
          <p:cNvPr id="17" name="Text 13"/>
          <p:cNvSpPr txBox="1"/>
          <p:nvPr/>
        </p:nvSpPr>
        <p:spPr>
          <a:xfrm>
            <a:off x="2857500" y="3543300"/>
            <a:ext cx="8509000" cy="317500"/>
          </a:xfrm>
          <a:prstGeom prst="rect">
            <a:avLst/>
          </a:prstGeom>
          <a:noFill/>
          <a:ln/>
        </p:spPr>
        <p:txBody>
          <a:bodyPr wrap="square" lIns="0" tIns="0" rIns="0" bIns="0" rtlCol="0" anchor="t"/>
          <a:lstStyle/>
          <a:p>
            <a:pPr indent="0" marL="0">
              <a:buNone/>
            </a:pPr>
            <a:r>
              <a:rPr lang="en-US" sz="1050" dirty="0">
                <a:solidFill>
                  <a:srgbClr val="5B6378"/>
                </a:solidFill>
                <a:latin typeface="Segoe UI Semilight" pitchFamily="34" charset="0"/>
                <a:ea typeface="Segoe UI Semilight" pitchFamily="34" charset="-122"/>
                <a:cs typeface="Segoe UI Semilight" pitchFamily="34" charset="-120"/>
              </a:rPr>
              <a:t>$10,000 fixed</a:t>
            </a:r>
            <a:endParaRPr lang="en-US" sz="1050" dirty="0"/>
          </a:p>
        </p:txBody>
      </p:sp>
      <p:sp>
        <p:nvSpPr>
          <p:cNvPr id="18" name="Shape 14"/>
          <p:cNvSpPr/>
          <p:nvPr/>
        </p:nvSpPr>
        <p:spPr>
          <a:xfrm>
            <a:off x="566420" y="3790950"/>
            <a:ext cx="11055350" cy="317500"/>
          </a:xfrm>
          <a:prstGeom prst="rect">
            <a:avLst/>
          </a:prstGeom>
          <a:solidFill>
            <a:srgbClr val="F5F8FC"/>
          </a:solidFill>
          <a:ln/>
        </p:spPr>
      </p:sp>
      <p:sp>
        <p:nvSpPr>
          <p:cNvPr id="19" name="Text 15"/>
          <p:cNvSpPr txBox="1"/>
          <p:nvPr/>
        </p:nvSpPr>
        <p:spPr>
          <a:xfrm>
            <a:off x="749300" y="3860800"/>
            <a:ext cx="1930400" cy="317500"/>
          </a:xfrm>
          <a:prstGeom prst="rect">
            <a:avLst/>
          </a:prstGeom>
          <a:noFill/>
          <a:ln/>
        </p:spPr>
        <p:txBody>
          <a:bodyPr wrap="square" lIns="0" tIns="0" rIns="0" bIns="0" rtlCol="0" anchor="t"/>
          <a:lstStyle/>
          <a:p>
            <a:pPr indent="0" marL="0">
              <a:buNone/>
            </a:pPr>
            <a:r>
              <a:rPr lang="en-US" sz="1050" b="1" dirty="0">
                <a:solidFill>
                  <a:srgbClr val="15224B"/>
                </a:solidFill>
                <a:latin typeface="Segoe UI" pitchFamily="34" charset="0"/>
                <a:ea typeface="Segoe UI" pitchFamily="34" charset="-122"/>
                <a:cs typeface="Segoe UI" pitchFamily="34" charset="-120"/>
              </a:rPr>
              <a:t>Payment</a:t>
            </a:r>
            <a:endParaRPr lang="en-US" sz="1050" dirty="0"/>
          </a:p>
        </p:txBody>
      </p:sp>
      <p:sp>
        <p:nvSpPr>
          <p:cNvPr id="20" name="Text 16"/>
          <p:cNvSpPr txBox="1"/>
          <p:nvPr/>
        </p:nvSpPr>
        <p:spPr>
          <a:xfrm>
            <a:off x="2857500" y="3860800"/>
            <a:ext cx="8509000" cy="317500"/>
          </a:xfrm>
          <a:prstGeom prst="rect">
            <a:avLst/>
          </a:prstGeom>
          <a:noFill/>
          <a:ln/>
        </p:spPr>
        <p:txBody>
          <a:bodyPr wrap="square" lIns="0" tIns="0" rIns="0" bIns="0" rtlCol="0" anchor="t"/>
          <a:lstStyle/>
          <a:p>
            <a:pPr indent="0" marL="0">
              <a:buNone/>
            </a:pPr>
            <a:r>
              <a:rPr lang="en-US" sz="1050" dirty="0">
                <a:solidFill>
                  <a:srgbClr val="5B6378"/>
                </a:solidFill>
                <a:latin typeface="Segoe UI Semilight" pitchFamily="34" charset="0"/>
                <a:ea typeface="Segoe UI Semilight" pitchFamily="34" charset="-122"/>
                <a:cs typeface="Segoe UI Semilight" pitchFamily="34" charset="-120"/>
              </a:rPr>
              <a:t>50% on signature, 50% on completion</a:t>
            </a:r>
            <a:endParaRPr lang="en-US" sz="1050" dirty="0"/>
          </a:p>
        </p:txBody>
      </p:sp>
      <p:sp>
        <p:nvSpPr>
          <p:cNvPr id="21" name="Text 17"/>
          <p:cNvSpPr txBox="1"/>
          <p:nvPr/>
        </p:nvSpPr>
        <p:spPr>
          <a:xfrm>
            <a:off x="749300" y="4178300"/>
            <a:ext cx="1930400" cy="317500"/>
          </a:xfrm>
          <a:prstGeom prst="rect">
            <a:avLst/>
          </a:prstGeom>
          <a:noFill/>
          <a:ln/>
        </p:spPr>
        <p:txBody>
          <a:bodyPr wrap="square" lIns="0" tIns="0" rIns="0" bIns="0" rtlCol="0" anchor="t"/>
          <a:lstStyle/>
          <a:p>
            <a:pPr indent="0" marL="0">
              <a:buNone/>
            </a:pPr>
            <a:r>
              <a:rPr lang="en-US" sz="1050" b="1" dirty="0">
                <a:solidFill>
                  <a:srgbClr val="15224B"/>
                </a:solidFill>
                <a:latin typeface="Segoe UI" pitchFamily="34" charset="0"/>
                <a:ea typeface="Segoe UI" pitchFamily="34" charset="-122"/>
                <a:cs typeface="Segoe UI" pitchFamily="34" charset="-120"/>
              </a:rPr>
              <a:t>Remediation</a:t>
            </a:r>
            <a:endParaRPr lang="en-US" sz="1050" dirty="0"/>
          </a:p>
        </p:txBody>
      </p:sp>
      <p:sp>
        <p:nvSpPr>
          <p:cNvPr id="22" name="Text 18"/>
          <p:cNvSpPr txBox="1"/>
          <p:nvPr/>
        </p:nvSpPr>
        <p:spPr>
          <a:xfrm>
            <a:off x="2857500" y="4178300"/>
            <a:ext cx="8509000" cy="317500"/>
          </a:xfrm>
          <a:prstGeom prst="rect">
            <a:avLst/>
          </a:prstGeom>
          <a:noFill/>
          <a:ln/>
        </p:spPr>
        <p:txBody>
          <a:bodyPr wrap="square" lIns="0" tIns="0" rIns="0" bIns="0" rtlCol="0" anchor="t"/>
          <a:lstStyle/>
          <a:p>
            <a:pPr indent="0" marL="0">
              <a:buNone/>
            </a:pPr>
            <a:r>
              <a:rPr lang="en-US" sz="1050" dirty="0">
                <a:solidFill>
                  <a:srgbClr val="5B6378"/>
                </a:solidFill>
                <a:latin typeface="Segoe UI Semilight" pitchFamily="34" charset="0"/>
                <a:ea typeface="Segoe UI Semilight" pitchFamily="34" charset="-122"/>
                <a:cs typeface="Segoe UI Semilight" pitchFamily="34" charset="-120"/>
              </a:rPr>
              <a:t>20 hours included; further blocks of 10 hours at $1,000 each</a:t>
            </a:r>
            <a:endParaRPr lang="en-US" sz="1050" dirty="0"/>
          </a:p>
        </p:txBody>
      </p:sp>
      <p:sp>
        <p:nvSpPr>
          <p:cNvPr id="23" name="Shape 19"/>
          <p:cNvSpPr/>
          <p:nvPr/>
        </p:nvSpPr>
        <p:spPr>
          <a:xfrm>
            <a:off x="566420" y="4425950"/>
            <a:ext cx="11055350" cy="317500"/>
          </a:xfrm>
          <a:prstGeom prst="rect">
            <a:avLst/>
          </a:prstGeom>
          <a:solidFill>
            <a:srgbClr val="F5F8FC"/>
          </a:solidFill>
          <a:ln/>
        </p:spPr>
      </p:sp>
      <p:sp>
        <p:nvSpPr>
          <p:cNvPr id="24" name="Text 20"/>
          <p:cNvSpPr txBox="1"/>
          <p:nvPr/>
        </p:nvSpPr>
        <p:spPr>
          <a:xfrm>
            <a:off x="749300" y="4495800"/>
            <a:ext cx="1930400" cy="317500"/>
          </a:xfrm>
          <a:prstGeom prst="rect">
            <a:avLst/>
          </a:prstGeom>
          <a:noFill/>
          <a:ln/>
        </p:spPr>
        <p:txBody>
          <a:bodyPr wrap="square" lIns="0" tIns="0" rIns="0" bIns="0" rtlCol="0" anchor="t"/>
          <a:lstStyle/>
          <a:p>
            <a:pPr indent="0" marL="0">
              <a:buNone/>
            </a:pPr>
            <a:r>
              <a:rPr lang="en-US" sz="1050" b="1" dirty="0">
                <a:solidFill>
                  <a:srgbClr val="15224B"/>
                </a:solidFill>
                <a:latin typeface="Segoe UI" pitchFamily="34" charset="0"/>
                <a:ea typeface="Segoe UI" pitchFamily="34" charset="-122"/>
                <a:cs typeface="Segoe UI" pitchFamily="34" charset="-120"/>
              </a:rPr>
              <a:t>Delivery</a:t>
            </a:r>
            <a:endParaRPr lang="en-US" sz="1050" dirty="0"/>
          </a:p>
        </p:txBody>
      </p:sp>
      <p:sp>
        <p:nvSpPr>
          <p:cNvPr id="25" name="Text 21"/>
          <p:cNvSpPr txBox="1"/>
          <p:nvPr/>
        </p:nvSpPr>
        <p:spPr>
          <a:xfrm>
            <a:off x="2857500" y="4495800"/>
            <a:ext cx="8509000" cy="317500"/>
          </a:xfrm>
          <a:prstGeom prst="rect">
            <a:avLst/>
          </a:prstGeom>
          <a:noFill/>
          <a:ln/>
        </p:spPr>
        <p:txBody>
          <a:bodyPr wrap="square" lIns="0" tIns="0" rIns="0" bIns="0" rtlCol="0" anchor="t"/>
          <a:lstStyle/>
          <a:p>
            <a:pPr indent="0" marL="0">
              <a:buNone/>
            </a:pPr>
            <a:r>
              <a:rPr lang="en-US" sz="1050" dirty="0">
                <a:solidFill>
                  <a:srgbClr val="5B6378"/>
                </a:solidFill>
                <a:latin typeface="Segoe UI Semilight" pitchFamily="34" charset="0"/>
                <a:ea typeface="Segoe UI Semilight" pitchFamily="34" charset="-122"/>
                <a:cs typeface="Segoe UI Semilight" pitchFamily="34" charset="-120"/>
              </a:rPr>
              <a:t>14 to 18 business days</a:t>
            </a:r>
            <a:endParaRPr lang="en-US" sz="1050" dirty="0"/>
          </a:p>
        </p:txBody>
      </p:sp>
      <p:sp>
        <p:nvSpPr>
          <p:cNvPr id="26" name="Text 22"/>
          <p:cNvSpPr txBox="1"/>
          <p:nvPr/>
        </p:nvSpPr>
        <p:spPr>
          <a:xfrm>
            <a:off x="749300" y="4813300"/>
            <a:ext cx="1930400" cy="317500"/>
          </a:xfrm>
          <a:prstGeom prst="rect">
            <a:avLst/>
          </a:prstGeom>
          <a:noFill/>
          <a:ln/>
        </p:spPr>
        <p:txBody>
          <a:bodyPr wrap="square" lIns="0" tIns="0" rIns="0" bIns="0" rtlCol="0" anchor="t"/>
          <a:lstStyle/>
          <a:p>
            <a:pPr indent="0" marL="0">
              <a:buNone/>
            </a:pPr>
            <a:r>
              <a:rPr lang="en-US" sz="1050" b="1" dirty="0">
                <a:solidFill>
                  <a:srgbClr val="15224B"/>
                </a:solidFill>
                <a:latin typeface="Segoe UI" pitchFamily="34" charset="0"/>
                <a:ea typeface="Segoe UI" pitchFamily="34" charset="-122"/>
                <a:cs typeface="Segoe UI" pitchFamily="34" charset="-120"/>
              </a:rPr>
              <a:t>Customer supplies / clock start</a:t>
            </a:r>
            <a:endParaRPr lang="en-US" sz="1050" dirty="0"/>
          </a:p>
        </p:txBody>
      </p:sp>
      <p:sp>
        <p:nvSpPr>
          <p:cNvPr id="27" name="Text 23"/>
          <p:cNvSpPr txBox="1"/>
          <p:nvPr/>
        </p:nvSpPr>
        <p:spPr>
          <a:xfrm>
            <a:off x="2857500" y="4813300"/>
            <a:ext cx="8509000" cy="317500"/>
          </a:xfrm>
          <a:prstGeom prst="rect">
            <a:avLst/>
          </a:prstGeom>
          <a:noFill/>
          <a:ln/>
        </p:spPr>
        <p:txBody>
          <a:bodyPr wrap="square" lIns="0" tIns="0" rIns="0" bIns="0" rtlCol="0" anchor="t"/>
          <a:lstStyle/>
          <a:p>
            <a:pPr indent="0" marL="0">
              <a:buNone/>
            </a:pPr>
            <a:r>
              <a:rPr lang="en-US" sz="1050" dirty="0">
                <a:solidFill>
                  <a:srgbClr val="5B6378"/>
                </a:solidFill>
                <a:latin typeface="Segoe UI Semilight" pitchFamily="34" charset="0"/>
                <a:ea typeface="Segoe UI Semilight" pitchFamily="34" charset="-122"/>
                <a:cs typeface="Segoe UI Semilight" pitchFamily="34" charset="-120"/>
              </a:rPr>
              <a:t>[What starts the clock]; engineering availability for remediation, tax, bank and legal data for seller registration</a:t>
            </a:r>
            <a:endParaRPr lang="en-US" sz="1050" dirty="0"/>
          </a:p>
        </p:txBody>
      </p:sp>
      <p:sp>
        <p:nvSpPr>
          <p:cNvPr id="28" name="Shape 24"/>
          <p:cNvSpPr/>
          <p:nvPr/>
        </p:nvSpPr>
        <p:spPr>
          <a:xfrm>
            <a:off x="566420" y="5060950"/>
            <a:ext cx="11055350" cy="317500"/>
          </a:xfrm>
          <a:prstGeom prst="rect">
            <a:avLst/>
          </a:prstGeom>
          <a:solidFill>
            <a:srgbClr val="F5F8FC"/>
          </a:solidFill>
          <a:ln/>
        </p:spPr>
      </p:sp>
      <p:sp>
        <p:nvSpPr>
          <p:cNvPr id="29" name="Text 25"/>
          <p:cNvSpPr txBox="1"/>
          <p:nvPr/>
        </p:nvSpPr>
        <p:spPr>
          <a:xfrm>
            <a:off x="749300" y="5130800"/>
            <a:ext cx="1930400" cy="317500"/>
          </a:xfrm>
          <a:prstGeom prst="rect">
            <a:avLst/>
          </a:prstGeom>
          <a:noFill/>
          <a:ln/>
        </p:spPr>
        <p:txBody>
          <a:bodyPr wrap="square" lIns="0" tIns="0" rIns="0" bIns="0" rtlCol="0" anchor="t"/>
          <a:lstStyle/>
          <a:p>
            <a:pPr indent="0" marL="0">
              <a:buNone/>
            </a:pPr>
            <a:r>
              <a:rPr lang="en-US" sz="1050" b="1" dirty="0">
                <a:solidFill>
                  <a:srgbClr val="15224B"/>
                </a:solidFill>
                <a:latin typeface="Segoe UI" pitchFamily="34" charset="0"/>
                <a:ea typeface="Segoe UI" pitchFamily="34" charset="-122"/>
                <a:cs typeface="Segoe UI" pitchFamily="34" charset="-120"/>
              </a:rPr>
              <a:t>We target, not commit</a:t>
            </a:r>
            <a:endParaRPr lang="en-US" sz="1050" dirty="0"/>
          </a:p>
        </p:txBody>
      </p:sp>
      <p:sp>
        <p:nvSpPr>
          <p:cNvPr id="30" name="Text 26"/>
          <p:cNvSpPr txBox="1"/>
          <p:nvPr/>
        </p:nvSpPr>
        <p:spPr>
          <a:xfrm>
            <a:off x="2857500" y="5130800"/>
            <a:ext cx="8509000" cy="317500"/>
          </a:xfrm>
          <a:prstGeom prst="rect">
            <a:avLst/>
          </a:prstGeom>
          <a:noFill/>
          <a:ln/>
        </p:spPr>
        <p:txBody>
          <a:bodyPr wrap="square" lIns="0" tIns="0" rIns="0" bIns="0" rtlCol="0" anchor="t"/>
          <a:lstStyle/>
          <a:p>
            <a:pPr indent="0" marL="0">
              <a:buNone/>
            </a:pPr>
            <a:r>
              <a:rPr lang="en-US" sz="1050" dirty="0">
                <a:solidFill>
                  <a:srgbClr val="5B6378"/>
                </a:solidFill>
                <a:latin typeface="Segoe UI Semilight" pitchFamily="34" charset="0"/>
                <a:ea typeface="Segoe UI Semilight" pitchFamily="34" charset="-122"/>
                <a:cs typeface="Segoe UI Semilight" pitchFamily="34" charset="-120"/>
              </a:rPr>
              <a:t>Publication date — AWS’s review queue and the customer’s product govern it</a:t>
            </a:r>
            <a:endParaRPr lang="en-US" sz="1050" dirty="0"/>
          </a:p>
        </p:txBody>
      </p:sp>
      <p:sp>
        <p:nvSpPr>
          <p:cNvPr id="31" name="Text 27"/>
          <p:cNvSpPr txBox="1"/>
          <p:nvPr/>
        </p:nvSpPr>
        <p:spPr>
          <a:xfrm>
            <a:off x="749300" y="5448300"/>
            <a:ext cx="1930400" cy="317500"/>
          </a:xfrm>
          <a:prstGeom prst="rect">
            <a:avLst/>
          </a:prstGeom>
          <a:noFill/>
          <a:ln/>
        </p:spPr>
        <p:txBody>
          <a:bodyPr wrap="square" lIns="0" tIns="0" rIns="0" bIns="0" rtlCol="0" anchor="t"/>
          <a:lstStyle/>
          <a:p>
            <a:pPr indent="0" marL="0">
              <a:buNone/>
            </a:pPr>
            <a:r>
              <a:rPr lang="en-US" sz="1050" b="1" dirty="0">
                <a:solidFill>
                  <a:srgbClr val="15224B"/>
                </a:solidFill>
                <a:latin typeface="Segoe UI" pitchFamily="34" charset="0"/>
                <a:ea typeface="Segoe UI" pitchFamily="34" charset="-122"/>
                <a:cs typeface="Segoe UI" pitchFamily="34" charset="-120"/>
              </a:rPr>
              <a:t>Not included</a:t>
            </a:r>
            <a:endParaRPr lang="en-US" sz="1050" dirty="0"/>
          </a:p>
        </p:txBody>
      </p:sp>
      <p:sp>
        <p:nvSpPr>
          <p:cNvPr id="32" name="Text 28"/>
          <p:cNvSpPr txBox="1"/>
          <p:nvPr/>
        </p:nvSpPr>
        <p:spPr>
          <a:xfrm>
            <a:off x="2857500" y="5448300"/>
            <a:ext cx="8509000" cy="317500"/>
          </a:xfrm>
          <a:prstGeom prst="rect">
            <a:avLst/>
          </a:prstGeom>
          <a:noFill/>
          <a:ln/>
        </p:spPr>
        <p:txBody>
          <a:bodyPr wrap="square" lIns="0" tIns="0" rIns="0" bIns="0" rtlCol="0" anchor="t"/>
          <a:lstStyle/>
          <a:p>
            <a:pPr indent="0" marL="0">
              <a:buNone/>
            </a:pPr>
            <a:r>
              <a:rPr lang="en-US" sz="1050" dirty="0">
                <a:solidFill>
                  <a:srgbClr val="5B6378"/>
                </a:solidFill>
                <a:latin typeface="Segoe UI Semilight" pitchFamily="34" charset="0"/>
                <a:ea typeface="Segoe UI Semilight" pitchFamily="34" charset="-122"/>
                <a:cs typeface="Segoe UI Semilight" pitchFamily="34" charset="-120"/>
              </a:rPr>
              <a:t>Ongoing operation of the listing — that is Managed Marketplace Operations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user/barberbook/docs/deck/assets/bg_cont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eyebrow_p8.png">    </p:cNvPr>
          <p:cNvPicPr>
            <a:picLocks noChangeAspect="1"/>
          </p:cNvPicPr>
          <p:nvPr/>
        </p:nvPicPr>
        <p:blipFill>
          <a:blip r:embed="rId2"/>
          <a:stretch>
            <a:fillRect/>
          </a:stretch>
        </p:blipFill>
        <p:spPr>
          <a:xfrm>
            <a:off x="566420" y="474980"/>
            <a:ext cx="256540" cy="256540"/>
          </a:xfrm>
          <a:prstGeom prst="rect">
            <a:avLst/>
          </a:prstGeom>
        </p:spPr>
      </p:pic>
      <p:sp>
        <p:nvSpPr>
          <p:cNvPr id="4" name="Text 0"/>
          <p:cNvSpPr txBox="1"/>
          <p:nvPr/>
        </p:nvSpPr>
        <p:spPr>
          <a:xfrm>
            <a:off x="1023620" y="501650"/>
            <a:ext cx="6350000" cy="228600"/>
          </a:xfrm>
          <a:prstGeom prst="rect">
            <a:avLst/>
          </a:prstGeom>
          <a:noFill/>
          <a:ln/>
        </p:spPr>
        <p:txBody>
          <a:bodyPr wrap="square" lIns="0" tIns="0" rIns="0" bIns="0" rtlCol="0" anchor="t"/>
          <a:lstStyle/>
          <a:p>
            <a:pPr indent="0" marL="0">
              <a:buNone/>
            </a:pPr>
            <a:r>
              <a:rPr lang="en-US" sz="1150" b="1" spc="160" kern="0" dirty="0">
                <a:solidFill>
                  <a:srgbClr val="2E7CC4"/>
                </a:solidFill>
                <a:latin typeface="Segoe UI" pitchFamily="34" charset="0"/>
                <a:ea typeface="Segoe UI" pitchFamily="34" charset="-122"/>
                <a:cs typeface="Segoe UI" pitchFamily="34" charset="-120"/>
              </a:rPr>
              <a:t>THE RETAINERS</a:t>
            </a:r>
            <a:endParaRPr lang="en-US" sz="1150" dirty="0"/>
          </a:p>
        </p:txBody>
      </p:sp>
      <p:sp>
        <p:nvSpPr>
          <p:cNvPr id="5" name="Text 1"/>
          <p:cNvSpPr txBox="1"/>
          <p:nvPr/>
        </p:nvSpPr>
        <p:spPr>
          <a:xfrm>
            <a:off x="657860" y="939800"/>
            <a:ext cx="10922000" cy="508000"/>
          </a:xfrm>
          <a:prstGeom prst="rect">
            <a:avLst/>
          </a:prstGeom>
          <a:noFill/>
          <a:ln/>
        </p:spPr>
        <p:txBody>
          <a:bodyPr wrap="square" lIns="0" tIns="0" rIns="0" bIns="0" rtlCol="0" anchor="t"/>
          <a:lstStyle/>
          <a:p>
            <a:pPr indent="0" marL="0">
              <a:buNone/>
            </a:pPr>
            <a:r>
              <a:rPr lang="en-US" sz="2500" b="1" dirty="0">
                <a:solidFill>
                  <a:srgbClr val="15224B"/>
                </a:solidFill>
                <a:latin typeface="Segoe UI" pitchFamily="34" charset="0"/>
                <a:ea typeface="Segoe UI" pitchFamily="34" charset="-122"/>
                <a:cs typeface="Segoe UI" pitchFamily="34" charset="-120"/>
              </a:rPr>
              <a:t>Three retainers, one ladder.</a:t>
            </a:r>
            <a:endParaRPr lang="en-US" sz="2500" dirty="0"/>
          </a:p>
        </p:txBody>
      </p:sp>
      <p:sp>
        <p:nvSpPr>
          <p:cNvPr id="6" name="Text 2"/>
          <p:cNvSpPr txBox="1"/>
          <p:nvPr/>
        </p:nvSpPr>
        <p:spPr>
          <a:xfrm>
            <a:off x="657860" y="1651000"/>
            <a:ext cx="10541000" cy="431800"/>
          </a:xfrm>
          <a:prstGeom prst="rect">
            <a:avLst/>
          </a:prstGeom>
          <a:noFill/>
          <a:ln/>
        </p:spPr>
        <p:txBody>
          <a:bodyPr wrap="square" lIns="0" tIns="0" rIns="0" bIns="0" rtlCol="0" anchor="t"/>
          <a:lstStyle/>
          <a:p>
            <a:pPr indent="0" marL="0">
              <a:buNone/>
            </a:pPr>
            <a:r>
              <a:rPr lang="en-US" sz="1250" dirty="0">
                <a:solidFill>
                  <a:srgbClr val="5B6378"/>
                </a:solidFill>
                <a:latin typeface="Segoe UI Semilight" pitchFamily="34" charset="0"/>
                <a:ea typeface="Segoe UI Semilight" pitchFamily="34" charset="-122"/>
                <a:cs typeface="Segoe UI Semilight" pitchFamily="34" charset="-120"/>
              </a:rPr>
              <a:t>One ladder is a pricing convention, not a product. Every rung carries what we commit, what we target, an included band and an overflow rate.</a:t>
            </a:r>
            <a:endParaRPr lang="en-US" sz="1250" dirty="0"/>
          </a:p>
        </p:txBody>
      </p:sp>
      <p:sp>
        <p:nvSpPr>
          <p:cNvPr id="7" name="Text 3"/>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8" name="Text 4"/>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10 / 22</a:t>
            </a:r>
            <a:endParaRPr lang="en-US" sz="900" dirty="0"/>
          </a:p>
        </p:txBody>
      </p:sp>
      <p:sp>
        <p:nvSpPr>
          <p:cNvPr id="9" name="Text 5"/>
          <p:cNvSpPr txBox="1"/>
          <p:nvPr/>
        </p:nvSpPr>
        <p:spPr>
          <a:xfrm>
            <a:off x="4042410" y="2489200"/>
            <a:ext cx="2413000" cy="228600"/>
          </a:xfrm>
          <a:prstGeom prst="rect">
            <a:avLst/>
          </a:prstGeom>
          <a:noFill/>
          <a:ln/>
        </p:spPr>
        <p:txBody>
          <a:bodyPr wrap="square" lIns="0" tIns="0" rIns="0" bIns="0" rtlCol="0" anchor="t"/>
          <a:lstStyle/>
          <a:p>
            <a:pPr indent="0" marL="0">
              <a:buNone/>
            </a:pPr>
            <a:r>
              <a:rPr lang="en-US" sz="1300" b="1" dirty="0">
                <a:solidFill>
                  <a:srgbClr val="F36F20"/>
                </a:solidFill>
                <a:latin typeface="Segoe UI" pitchFamily="34" charset="0"/>
                <a:ea typeface="Segoe UI" pitchFamily="34" charset="-122"/>
                <a:cs typeface="Segoe UI" pitchFamily="34" charset="-120"/>
              </a:rPr>
              <a:t>$2,500 / month</a:t>
            </a:r>
            <a:endParaRPr lang="en-US" sz="1300" dirty="0"/>
          </a:p>
        </p:txBody>
      </p:sp>
      <p:sp>
        <p:nvSpPr>
          <p:cNvPr id="10" name="Text 6"/>
          <p:cNvSpPr txBox="1"/>
          <p:nvPr/>
        </p:nvSpPr>
        <p:spPr>
          <a:xfrm>
            <a:off x="6630670" y="2489200"/>
            <a:ext cx="2413000" cy="228600"/>
          </a:xfrm>
          <a:prstGeom prst="rect">
            <a:avLst/>
          </a:prstGeom>
          <a:noFill/>
          <a:ln/>
        </p:spPr>
        <p:txBody>
          <a:bodyPr wrap="square" lIns="0" tIns="0" rIns="0" bIns="0" rtlCol="0" anchor="t"/>
          <a:lstStyle/>
          <a:p>
            <a:pPr indent="0" marL="0">
              <a:buNone/>
            </a:pPr>
            <a:r>
              <a:rPr lang="en-US" sz="1300" b="1" dirty="0">
                <a:solidFill>
                  <a:srgbClr val="F36F20"/>
                </a:solidFill>
                <a:latin typeface="Segoe UI" pitchFamily="34" charset="0"/>
                <a:ea typeface="Segoe UI" pitchFamily="34" charset="-122"/>
                <a:cs typeface="Segoe UI" pitchFamily="34" charset="-120"/>
              </a:rPr>
              <a:t>$5,000 / month</a:t>
            </a:r>
            <a:endParaRPr lang="en-US" sz="1300" dirty="0"/>
          </a:p>
        </p:txBody>
      </p:sp>
      <p:sp>
        <p:nvSpPr>
          <p:cNvPr id="11" name="Text 7"/>
          <p:cNvSpPr txBox="1"/>
          <p:nvPr/>
        </p:nvSpPr>
        <p:spPr>
          <a:xfrm>
            <a:off x="9218930" y="2489200"/>
            <a:ext cx="2413000" cy="228600"/>
          </a:xfrm>
          <a:prstGeom prst="rect">
            <a:avLst/>
          </a:prstGeom>
          <a:noFill/>
          <a:ln/>
        </p:spPr>
        <p:txBody>
          <a:bodyPr wrap="square" lIns="0" tIns="0" rIns="0" bIns="0" rtlCol="0" anchor="t"/>
          <a:lstStyle/>
          <a:p>
            <a:pPr indent="0" marL="0">
              <a:buNone/>
            </a:pPr>
            <a:r>
              <a:rPr lang="en-US" sz="1300" b="1" dirty="0">
                <a:solidFill>
                  <a:srgbClr val="F36F20"/>
                </a:solidFill>
                <a:latin typeface="Segoe UI" pitchFamily="34" charset="0"/>
                <a:ea typeface="Segoe UI" pitchFamily="34" charset="-122"/>
                <a:cs typeface="Segoe UI" pitchFamily="34" charset="-120"/>
              </a:rPr>
              <a:t>$7,500 / month</a:t>
            </a:r>
            <a:endParaRPr lang="en-US" sz="1300" dirty="0"/>
          </a:p>
        </p:txBody>
      </p:sp>
      <p:sp>
        <p:nvSpPr>
          <p:cNvPr id="12" name="Text 8"/>
          <p:cNvSpPr txBox="1"/>
          <p:nvPr/>
        </p:nvSpPr>
        <p:spPr>
          <a:xfrm>
            <a:off x="749300" y="2946400"/>
            <a:ext cx="3175000" cy="228600"/>
          </a:xfrm>
          <a:prstGeom prst="rect">
            <a:avLst/>
          </a:prstGeom>
          <a:noFill/>
          <a:ln/>
        </p:spPr>
        <p:txBody>
          <a:bodyPr wrap="square" lIns="0" tIns="0" rIns="0" bIns="0" rtlCol="0" anchor="t"/>
          <a:lstStyle/>
          <a:p>
            <a:pPr indent="0" marL="0">
              <a:buNone/>
            </a:pPr>
            <a:r>
              <a:rPr lang="en-US" sz="1150" b="1" dirty="0">
                <a:solidFill>
                  <a:srgbClr val="FFFFFF"/>
                </a:solidFill>
                <a:latin typeface="Segoe UI" pitchFamily="34" charset="0"/>
                <a:ea typeface="Segoe UI" pitchFamily="34" charset="-122"/>
                <a:cs typeface="Segoe UI" pitchFamily="34" charset="-120"/>
              </a:rPr>
              <a:t>Managed AWS Alliances</a:t>
            </a:r>
            <a:endParaRPr lang="en-US" sz="1150" dirty="0"/>
          </a:p>
        </p:txBody>
      </p:sp>
      <p:sp>
        <p:nvSpPr>
          <p:cNvPr id="13" name="Text 9"/>
          <p:cNvSpPr txBox="1"/>
          <p:nvPr/>
        </p:nvSpPr>
        <p:spPr>
          <a:xfrm>
            <a:off x="749300" y="3213100"/>
            <a:ext cx="3175000" cy="330200"/>
          </a:xfrm>
          <a:prstGeom prst="rect">
            <a:avLst/>
          </a:prstGeom>
          <a:noFill/>
          <a:ln/>
        </p:spPr>
        <p:txBody>
          <a:bodyPr wrap="square" lIns="0" tIns="0" rIns="0" bIns="0" rtlCol="0" anchor="t"/>
          <a:lstStyle/>
          <a:p>
            <a:pPr indent="0" marL="0">
              <a:buNone/>
            </a:pPr>
            <a:r>
              <a:rPr lang="en-US" sz="800" dirty="0">
                <a:solidFill>
                  <a:srgbClr val="9AA2B5"/>
                </a:solidFill>
                <a:latin typeface="Segoe UI Semilight" pitchFamily="34" charset="0"/>
                <a:ea typeface="Segoe UI Semilight" pitchFamily="34" charset="-122"/>
                <a:cs typeface="Segoe UI Semilight" pitchFamily="34" charset="-120"/>
              </a:rPr>
              <a:t>[CEO or CRO] · no component named</a:t>
            </a:r>
            <a:endParaRPr lang="en-US" sz="800" dirty="0"/>
          </a:p>
        </p:txBody>
      </p:sp>
      <p:sp>
        <p:nvSpPr>
          <p:cNvPr id="14" name="Text 10"/>
          <p:cNvSpPr txBox="1"/>
          <p:nvPr/>
        </p:nvSpPr>
        <p:spPr>
          <a:xfrm>
            <a:off x="4042410" y="2946400"/>
            <a:ext cx="2413000" cy="203200"/>
          </a:xfrm>
          <a:prstGeom prst="rect">
            <a:avLst/>
          </a:prstGeom>
          <a:noFill/>
          <a:ln/>
        </p:spPr>
        <p:txBody>
          <a:bodyPr wrap="square" lIns="0" tIns="0" rIns="0" bIns="0" rtlCol="0" anchor="t"/>
          <a:lstStyle/>
          <a:p>
            <a:pPr indent="0" marL="0">
              <a:buNone/>
            </a:pPr>
            <a:r>
              <a:rPr lang="en-US" sz="1100" b="1" dirty="0">
                <a:solidFill>
                  <a:srgbClr val="2E7CC4"/>
                </a:solidFill>
                <a:latin typeface="Segoe UI" pitchFamily="34" charset="0"/>
                <a:ea typeface="Segoe UI" pitchFamily="34" charset="-122"/>
                <a:cs typeface="Segoe UI" pitchFamily="34" charset="-120"/>
              </a:rPr>
              <a:t>Essentials</a:t>
            </a:r>
            <a:endParaRPr lang="en-US" sz="1100" dirty="0"/>
          </a:p>
        </p:txBody>
      </p:sp>
      <p:sp>
        <p:nvSpPr>
          <p:cNvPr id="15" name="Text 11"/>
          <p:cNvSpPr txBox="1"/>
          <p:nvPr/>
        </p:nvSpPr>
        <p:spPr>
          <a:xfrm>
            <a:off x="4042410" y="3162300"/>
            <a:ext cx="2413000" cy="3556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stand the partnership up</a:t>
            </a:r>
            <a:endParaRPr lang="en-US" sz="850" dirty="0"/>
          </a:p>
        </p:txBody>
      </p:sp>
      <p:sp>
        <p:nvSpPr>
          <p:cNvPr id="16" name="Text 12"/>
          <p:cNvSpPr txBox="1"/>
          <p:nvPr/>
        </p:nvSpPr>
        <p:spPr>
          <a:xfrm>
            <a:off x="6630670" y="2946400"/>
            <a:ext cx="2413000" cy="203200"/>
          </a:xfrm>
          <a:prstGeom prst="rect">
            <a:avLst/>
          </a:prstGeom>
          <a:noFill/>
          <a:ln/>
        </p:spPr>
        <p:txBody>
          <a:bodyPr wrap="square" lIns="0" tIns="0" rIns="0" bIns="0" rtlCol="0" anchor="t"/>
          <a:lstStyle/>
          <a:p>
            <a:pPr indent="0" marL="0">
              <a:buNone/>
            </a:pPr>
            <a:r>
              <a:rPr lang="en-US" sz="1100" b="1" dirty="0">
                <a:solidFill>
                  <a:srgbClr val="2E7CC4"/>
                </a:solidFill>
                <a:latin typeface="Segoe UI" pitchFamily="34" charset="0"/>
                <a:ea typeface="Segoe UI" pitchFamily="34" charset="-122"/>
                <a:cs typeface="Segoe UI" pitchFamily="34" charset="-120"/>
              </a:rPr>
              <a:t>Growth</a:t>
            </a:r>
            <a:endParaRPr lang="en-US" sz="1100" dirty="0"/>
          </a:p>
        </p:txBody>
      </p:sp>
      <p:sp>
        <p:nvSpPr>
          <p:cNvPr id="17" name="Text 13"/>
          <p:cNvSpPr txBox="1"/>
          <p:nvPr/>
        </p:nvSpPr>
        <p:spPr>
          <a:xfrm>
            <a:off x="6630670" y="3162300"/>
            <a:ext cx="2413000" cy="3556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run the co-sell desk</a:t>
            </a:r>
            <a:endParaRPr lang="en-US" sz="850" dirty="0"/>
          </a:p>
        </p:txBody>
      </p:sp>
      <p:sp>
        <p:nvSpPr>
          <p:cNvPr id="18" name="Text 14"/>
          <p:cNvSpPr txBox="1"/>
          <p:nvPr/>
        </p:nvSpPr>
        <p:spPr>
          <a:xfrm>
            <a:off x="9218930" y="2946400"/>
            <a:ext cx="2413000" cy="203200"/>
          </a:xfrm>
          <a:prstGeom prst="rect">
            <a:avLst/>
          </a:prstGeom>
          <a:noFill/>
          <a:ln/>
        </p:spPr>
        <p:txBody>
          <a:bodyPr wrap="square" lIns="0" tIns="0" rIns="0" bIns="0" rtlCol="0" anchor="t"/>
          <a:lstStyle/>
          <a:p>
            <a:pPr indent="0" marL="0">
              <a:buNone/>
            </a:pPr>
            <a:r>
              <a:rPr lang="en-US" sz="1100" b="1" dirty="0">
                <a:solidFill>
                  <a:srgbClr val="2E7CC4"/>
                </a:solidFill>
                <a:latin typeface="Segoe UI" pitchFamily="34" charset="0"/>
                <a:ea typeface="Segoe UI" pitchFamily="34" charset="-122"/>
                <a:cs typeface="Segoe UI" pitchFamily="34" charset="-120"/>
              </a:rPr>
              <a:t>Professional</a:t>
            </a:r>
            <a:endParaRPr lang="en-US" sz="1100" dirty="0"/>
          </a:p>
        </p:txBody>
      </p:sp>
      <p:sp>
        <p:nvSpPr>
          <p:cNvPr id="19" name="Text 15"/>
          <p:cNvSpPr txBox="1"/>
          <p:nvPr/>
        </p:nvSpPr>
        <p:spPr>
          <a:xfrm>
            <a:off x="9218930" y="3162300"/>
            <a:ext cx="2413000" cy="3556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run the deal desk</a:t>
            </a:r>
            <a:endParaRPr lang="en-US" sz="850" dirty="0"/>
          </a:p>
        </p:txBody>
      </p:sp>
      <p:sp>
        <p:nvSpPr>
          <p:cNvPr id="20" name="Text 16"/>
          <p:cNvSpPr txBox="1"/>
          <p:nvPr/>
        </p:nvSpPr>
        <p:spPr>
          <a:xfrm>
            <a:off x="749300" y="3886200"/>
            <a:ext cx="3175000" cy="228600"/>
          </a:xfrm>
          <a:prstGeom prst="rect">
            <a:avLst/>
          </a:prstGeom>
          <a:noFill/>
          <a:ln/>
        </p:spPr>
        <p:txBody>
          <a:bodyPr wrap="square" lIns="0" tIns="0" rIns="0" bIns="0" rtlCol="0" anchor="t"/>
          <a:lstStyle/>
          <a:p>
            <a:pPr indent="0" marL="0">
              <a:buNone/>
            </a:pPr>
            <a:r>
              <a:rPr lang="en-US" sz="1150" b="1" dirty="0">
                <a:solidFill>
                  <a:srgbClr val="FFFFFF"/>
                </a:solidFill>
                <a:latin typeface="Segoe UI" pitchFamily="34" charset="0"/>
                <a:ea typeface="Segoe UI" pitchFamily="34" charset="-122"/>
                <a:cs typeface="Segoe UI" pitchFamily="34" charset="-120"/>
              </a:rPr>
              <a:t>Managed Marketplace Operations</a:t>
            </a:r>
            <a:endParaRPr lang="en-US" sz="1150" dirty="0"/>
          </a:p>
        </p:txBody>
      </p:sp>
      <p:sp>
        <p:nvSpPr>
          <p:cNvPr id="21" name="Text 17"/>
          <p:cNvSpPr txBox="1"/>
          <p:nvPr/>
        </p:nvSpPr>
        <p:spPr>
          <a:xfrm>
            <a:off x="749300" y="4152900"/>
            <a:ext cx="3175000" cy="330200"/>
          </a:xfrm>
          <a:prstGeom prst="rect">
            <a:avLst/>
          </a:prstGeom>
          <a:noFill/>
          <a:ln/>
        </p:spPr>
        <p:txBody>
          <a:bodyPr wrap="square" lIns="0" tIns="0" rIns="0" bIns="0" rtlCol="0" anchor="t"/>
          <a:lstStyle/>
          <a:p>
            <a:pPr indent="0" marL="0">
              <a:buNone/>
            </a:pPr>
            <a:r>
              <a:rPr lang="en-US" sz="800" dirty="0">
                <a:solidFill>
                  <a:srgbClr val="9AA2B5"/>
                </a:solidFill>
                <a:latin typeface="Segoe UI Semilight" pitchFamily="34" charset="0"/>
                <a:ea typeface="Segoe UI Semilight" pitchFamily="34" charset="-122"/>
                <a:cs typeface="Segoe UI Semilight" pitchFamily="34" charset="-120"/>
              </a:rPr>
              <a:t>[RevOps / deal desk] · no component named</a:t>
            </a:r>
            <a:endParaRPr lang="en-US" sz="800" dirty="0"/>
          </a:p>
        </p:txBody>
      </p:sp>
      <p:sp>
        <p:nvSpPr>
          <p:cNvPr id="22" name="Text 18"/>
          <p:cNvSpPr txBox="1"/>
          <p:nvPr/>
        </p:nvSpPr>
        <p:spPr>
          <a:xfrm>
            <a:off x="4042410" y="3886200"/>
            <a:ext cx="2413000" cy="203200"/>
          </a:xfrm>
          <a:prstGeom prst="rect">
            <a:avLst/>
          </a:prstGeom>
          <a:noFill/>
          <a:ln/>
        </p:spPr>
        <p:txBody>
          <a:bodyPr wrap="square" lIns="0" tIns="0" rIns="0" bIns="0" rtlCol="0" anchor="t"/>
          <a:lstStyle/>
          <a:p>
            <a:pPr indent="0" marL="0">
              <a:buNone/>
            </a:pPr>
            <a:r>
              <a:rPr lang="en-US" sz="1100" b="1" dirty="0">
                <a:solidFill>
                  <a:srgbClr val="2E7CC4"/>
                </a:solidFill>
                <a:latin typeface="Segoe UI" pitchFamily="34" charset="0"/>
                <a:ea typeface="Segoe UI" pitchFamily="34" charset="-122"/>
                <a:cs typeface="Segoe UI" pitchFamily="34" charset="-120"/>
              </a:rPr>
              <a:t>Launch</a:t>
            </a:r>
            <a:endParaRPr lang="en-US" sz="1100" dirty="0"/>
          </a:p>
        </p:txBody>
      </p:sp>
      <p:sp>
        <p:nvSpPr>
          <p:cNvPr id="23" name="Text 19"/>
          <p:cNvSpPr txBox="1"/>
          <p:nvPr/>
        </p:nvSpPr>
        <p:spPr>
          <a:xfrm>
            <a:off x="4042410" y="4102100"/>
            <a:ext cx="2413000" cy="3556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get it transacting</a:t>
            </a:r>
            <a:endParaRPr lang="en-US" sz="850" dirty="0"/>
          </a:p>
        </p:txBody>
      </p:sp>
      <p:sp>
        <p:nvSpPr>
          <p:cNvPr id="24" name="Text 20"/>
          <p:cNvSpPr txBox="1"/>
          <p:nvPr/>
        </p:nvSpPr>
        <p:spPr>
          <a:xfrm>
            <a:off x="6630670" y="3886200"/>
            <a:ext cx="2413000" cy="203200"/>
          </a:xfrm>
          <a:prstGeom prst="rect">
            <a:avLst/>
          </a:prstGeom>
          <a:noFill/>
          <a:ln/>
        </p:spPr>
        <p:txBody>
          <a:bodyPr wrap="square" lIns="0" tIns="0" rIns="0" bIns="0" rtlCol="0" anchor="t"/>
          <a:lstStyle/>
          <a:p>
            <a:pPr indent="0" marL="0">
              <a:buNone/>
            </a:pPr>
            <a:r>
              <a:rPr lang="en-US" sz="1100" b="1" dirty="0">
                <a:solidFill>
                  <a:srgbClr val="2E7CC4"/>
                </a:solidFill>
                <a:latin typeface="Segoe UI" pitchFamily="34" charset="0"/>
                <a:ea typeface="Segoe UI" pitchFamily="34" charset="-122"/>
                <a:cs typeface="Segoe UI" pitchFamily="34" charset="-120"/>
              </a:rPr>
              <a:t>Operate</a:t>
            </a:r>
            <a:endParaRPr lang="en-US" sz="1100" dirty="0"/>
          </a:p>
        </p:txBody>
      </p:sp>
      <p:sp>
        <p:nvSpPr>
          <p:cNvPr id="25" name="Text 21"/>
          <p:cNvSpPr txBox="1"/>
          <p:nvPr/>
        </p:nvSpPr>
        <p:spPr>
          <a:xfrm>
            <a:off x="6630670" y="4102100"/>
            <a:ext cx="2413000" cy="3556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run it on a tighter cadence</a:t>
            </a:r>
            <a:endParaRPr lang="en-US" sz="850" dirty="0"/>
          </a:p>
        </p:txBody>
      </p:sp>
      <p:sp>
        <p:nvSpPr>
          <p:cNvPr id="26" name="Text 22"/>
          <p:cNvSpPr txBox="1"/>
          <p:nvPr/>
        </p:nvSpPr>
        <p:spPr>
          <a:xfrm>
            <a:off x="9218930" y="3886200"/>
            <a:ext cx="2413000" cy="203200"/>
          </a:xfrm>
          <a:prstGeom prst="rect">
            <a:avLst/>
          </a:prstGeom>
          <a:noFill/>
          <a:ln/>
        </p:spPr>
        <p:txBody>
          <a:bodyPr wrap="square" lIns="0" tIns="0" rIns="0" bIns="0" rtlCol="0" anchor="t"/>
          <a:lstStyle/>
          <a:p>
            <a:pPr indent="0" marL="0">
              <a:buNone/>
            </a:pPr>
            <a:r>
              <a:rPr lang="en-US" sz="1100" b="1" dirty="0">
                <a:solidFill>
                  <a:srgbClr val="2E7CC4"/>
                </a:solidFill>
                <a:latin typeface="Segoe UI" pitchFamily="34" charset="0"/>
                <a:ea typeface="Segoe UI" pitchFamily="34" charset="-122"/>
                <a:cs typeface="Segoe UI" pitchFamily="34" charset="-120"/>
              </a:rPr>
              <a:t>Scale</a:t>
            </a:r>
            <a:endParaRPr lang="en-US" sz="1100" dirty="0"/>
          </a:p>
        </p:txBody>
      </p:sp>
      <p:sp>
        <p:nvSpPr>
          <p:cNvPr id="27" name="Text 23"/>
          <p:cNvSpPr txBox="1"/>
          <p:nvPr/>
        </p:nvSpPr>
        <p:spPr>
          <a:xfrm>
            <a:off x="9218930" y="4102100"/>
            <a:ext cx="2413000" cy="3556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run it at volume</a:t>
            </a:r>
            <a:endParaRPr lang="en-US" sz="850" dirty="0"/>
          </a:p>
        </p:txBody>
      </p:sp>
      <p:sp>
        <p:nvSpPr>
          <p:cNvPr id="28" name="Text 24"/>
          <p:cNvSpPr txBox="1"/>
          <p:nvPr/>
        </p:nvSpPr>
        <p:spPr>
          <a:xfrm>
            <a:off x="749300" y="4826000"/>
            <a:ext cx="3175000" cy="228600"/>
          </a:xfrm>
          <a:prstGeom prst="rect">
            <a:avLst/>
          </a:prstGeom>
          <a:noFill/>
          <a:ln/>
        </p:spPr>
        <p:txBody>
          <a:bodyPr wrap="square" lIns="0" tIns="0" rIns="0" bIns="0" rtlCol="0" anchor="t"/>
          <a:lstStyle/>
          <a:p>
            <a:pPr indent="0" marL="0">
              <a:buNone/>
            </a:pPr>
            <a:r>
              <a:rPr lang="en-US" sz="1150" b="1" dirty="0">
                <a:solidFill>
                  <a:srgbClr val="FFFFFF"/>
                </a:solidFill>
                <a:latin typeface="Segoe UI" pitchFamily="34" charset="0"/>
                <a:ea typeface="Segoe UI" pitchFamily="34" charset="-122"/>
                <a:cs typeface="Segoe UI" pitchFamily="34" charset="-120"/>
              </a:rPr>
              <a:t>Managed Partner Development</a:t>
            </a:r>
            <a:endParaRPr lang="en-US" sz="1150" dirty="0"/>
          </a:p>
        </p:txBody>
      </p:sp>
      <p:sp>
        <p:nvSpPr>
          <p:cNvPr id="29" name="Text 25"/>
          <p:cNvSpPr txBox="1"/>
          <p:nvPr/>
        </p:nvSpPr>
        <p:spPr>
          <a:xfrm>
            <a:off x="749300" y="5092700"/>
            <a:ext cx="3175000" cy="330200"/>
          </a:xfrm>
          <a:prstGeom prst="rect">
            <a:avLst/>
          </a:prstGeom>
          <a:noFill/>
          <a:ln/>
        </p:spPr>
        <p:txBody>
          <a:bodyPr wrap="square" lIns="0" tIns="0" rIns="0" bIns="0" rtlCol="0" anchor="t"/>
          <a:lstStyle/>
          <a:p>
            <a:pPr indent="0" marL="0">
              <a:buNone/>
            </a:pPr>
            <a:r>
              <a:rPr lang="en-US" sz="800" dirty="0">
                <a:solidFill>
                  <a:srgbClr val="9AA2B5"/>
                </a:solidFill>
                <a:latin typeface="Segoe UI Semilight" pitchFamily="34" charset="0"/>
                <a:ea typeface="Segoe UI Semilight" pitchFamily="34" charset="-122"/>
                <a:cs typeface="Segoe UI Semilight" pitchFamily="34" charset="-120"/>
              </a:rPr>
              <a:t>[CRO / VP Channel] · Kiflo, resold inside the fee</a:t>
            </a:r>
            <a:endParaRPr lang="en-US" sz="800" dirty="0"/>
          </a:p>
        </p:txBody>
      </p:sp>
      <p:sp>
        <p:nvSpPr>
          <p:cNvPr id="30" name="Text 26"/>
          <p:cNvSpPr txBox="1"/>
          <p:nvPr/>
        </p:nvSpPr>
        <p:spPr>
          <a:xfrm>
            <a:off x="4042410" y="4826000"/>
            <a:ext cx="2413000" cy="203200"/>
          </a:xfrm>
          <a:prstGeom prst="rect">
            <a:avLst/>
          </a:prstGeom>
          <a:noFill/>
          <a:ln/>
        </p:spPr>
        <p:txBody>
          <a:bodyPr wrap="square" lIns="0" tIns="0" rIns="0" bIns="0" rtlCol="0" anchor="t"/>
          <a:lstStyle/>
          <a:p>
            <a:pPr indent="0" marL="0">
              <a:buNone/>
            </a:pPr>
            <a:r>
              <a:rPr lang="en-US" sz="1100" b="1" dirty="0">
                <a:solidFill>
                  <a:srgbClr val="2E7CC4"/>
                </a:solidFill>
                <a:latin typeface="Segoe UI" pitchFamily="34" charset="0"/>
                <a:ea typeface="Segoe UI" pitchFamily="34" charset="-122"/>
                <a:cs typeface="Segoe UI" pitchFamily="34" charset="-120"/>
              </a:rPr>
              <a:t>Establish</a:t>
            </a:r>
            <a:endParaRPr lang="en-US" sz="1100" dirty="0"/>
          </a:p>
        </p:txBody>
      </p:sp>
      <p:sp>
        <p:nvSpPr>
          <p:cNvPr id="31" name="Text 27"/>
          <p:cNvSpPr txBox="1"/>
          <p:nvPr/>
        </p:nvSpPr>
        <p:spPr>
          <a:xfrm>
            <a:off x="4042410" y="5041900"/>
            <a:ext cx="2413000" cy="3556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stand the channel up</a:t>
            </a:r>
            <a:endParaRPr lang="en-US" sz="850" dirty="0"/>
          </a:p>
        </p:txBody>
      </p:sp>
      <p:sp>
        <p:nvSpPr>
          <p:cNvPr id="32" name="Text 28"/>
          <p:cNvSpPr txBox="1"/>
          <p:nvPr/>
        </p:nvSpPr>
        <p:spPr>
          <a:xfrm>
            <a:off x="6630670" y="4826000"/>
            <a:ext cx="2413000" cy="203200"/>
          </a:xfrm>
          <a:prstGeom prst="rect">
            <a:avLst/>
          </a:prstGeom>
          <a:noFill/>
          <a:ln/>
        </p:spPr>
        <p:txBody>
          <a:bodyPr wrap="square" lIns="0" tIns="0" rIns="0" bIns="0" rtlCol="0" anchor="t"/>
          <a:lstStyle/>
          <a:p>
            <a:pPr indent="0" marL="0">
              <a:buNone/>
            </a:pPr>
            <a:r>
              <a:rPr lang="en-US" sz="1100" b="1" dirty="0">
                <a:solidFill>
                  <a:srgbClr val="2E7CC4"/>
                </a:solidFill>
                <a:latin typeface="Segoe UI" pitchFamily="34" charset="0"/>
                <a:ea typeface="Segoe UI" pitchFamily="34" charset="-122"/>
                <a:cs typeface="Segoe UI" pitchFamily="34" charset="-120"/>
              </a:rPr>
              <a:t>[Expand or Activate]</a:t>
            </a:r>
            <a:endParaRPr lang="en-US" sz="1100" dirty="0"/>
          </a:p>
        </p:txBody>
      </p:sp>
      <p:sp>
        <p:nvSpPr>
          <p:cNvPr id="33" name="Text 29"/>
          <p:cNvSpPr txBox="1"/>
          <p:nvPr/>
        </p:nvSpPr>
        <p:spPr>
          <a:xfrm>
            <a:off x="6630670" y="5041900"/>
            <a:ext cx="2413000" cy="3556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widen the transacting roster</a:t>
            </a:r>
            <a:endParaRPr lang="en-US" sz="850" dirty="0"/>
          </a:p>
        </p:txBody>
      </p:sp>
      <p:sp>
        <p:nvSpPr>
          <p:cNvPr id="34" name="Text 30"/>
          <p:cNvSpPr txBox="1"/>
          <p:nvPr/>
        </p:nvSpPr>
        <p:spPr>
          <a:xfrm>
            <a:off x="9218930" y="4826000"/>
            <a:ext cx="2413000" cy="203200"/>
          </a:xfrm>
          <a:prstGeom prst="rect">
            <a:avLst/>
          </a:prstGeom>
          <a:noFill/>
          <a:ln/>
        </p:spPr>
        <p:txBody>
          <a:bodyPr wrap="square" lIns="0" tIns="0" rIns="0" bIns="0" rtlCol="0" anchor="t"/>
          <a:lstStyle/>
          <a:p>
            <a:pPr indent="0" marL="0">
              <a:buNone/>
            </a:pPr>
            <a:r>
              <a:rPr lang="en-US" sz="1100" b="1" dirty="0">
                <a:solidFill>
                  <a:srgbClr val="2E7CC4"/>
                </a:solidFill>
                <a:latin typeface="Segoe UI" pitchFamily="34" charset="0"/>
                <a:ea typeface="Segoe UI" pitchFamily="34" charset="-122"/>
                <a:cs typeface="Segoe UI" pitchFamily="34" charset="-120"/>
              </a:rPr>
              <a:t>Accelerate</a:t>
            </a:r>
            <a:endParaRPr lang="en-US" sz="1100" dirty="0"/>
          </a:p>
        </p:txBody>
      </p:sp>
      <p:sp>
        <p:nvSpPr>
          <p:cNvPr id="35" name="Text 31"/>
          <p:cNvSpPr txBox="1"/>
          <p:nvPr/>
        </p:nvSpPr>
        <p:spPr>
          <a:xfrm>
            <a:off x="9218930" y="5041900"/>
            <a:ext cx="2413000" cy="3556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operate the channel end to end</a:t>
            </a:r>
            <a:endParaRPr lang="en-US" sz="850" dirty="0"/>
          </a:p>
        </p:txBody>
      </p:sp>
      <p:sp>
        <p:nvSpPr>
          <p:cNvPr id="36" name="Shape 32"/>
          <p:cNvSpPr/>
          <p:nvPr/>
        </p:nvSpPr>
        <p:spPr>
          <a:xfrm>
            <a:off x="566420" y="5760720"/>
            <a:ext cx="11057890" cy="566420"/>
          </a:xfrm>
          <a:prstGeom prst="roundRect">
            <a:avLst>
              <a:gd name="adj" fmla="val 22601"/>
            </a:avLst>
          </a:prstGeom>
          <a:solidFill>
            <a:srgbClr val="15224B"/>
          </a:solidFill>
          <a:ln/>
        </p:spPr>
      </p:sp>
      <p:sp>
        <p:nvSpPr>
          <p:cNvPr id="37" name="Text 33"/>
          <p:cNvSpPr txBox="1"/>
          <p:nvPr/>
        </p:nvSpPr>
        <p:spPr>
          <a:xfrm>
            <a:off x="838200" y="5867400"/>
            <a:ext cx="10541000" cy="355600"/>
          </a:xfrm>
          <a:prstGeom prst="rect">
            <a:avLst/>
          </a:prstGeom>
          <a:noFill/>
          <a:ln/>
        </p:spPr>
        <p:txBody>
          <a:bodyPr wrap="square" lIns="0" tIns="0" rIns="0" bIns="0" rtlCol="0" anchor="ctr"/>
          <a:lstStyle/>
          <a:p>
            <a:pPr indent="0" marL="0">
              <a:buNone/>
            </a:pPr>
            <a:r>
              <a:rPr lang="en-US" sz="1050" b="1" spc="110" kern="0" dirty="0">
                <a:solidFill>
                  <a:srgbClr val="F36F20"/>
                </a:solidFill>
                <a:latin typeface="Segoe UI" pitchFamily="34" charset="0"/>
                <a:ea typeface="Segoe UI" pitchFamily="34" charset="-122"/>
                <a:cs typeface="Segoe UI" pitchFamily="34" charset="-120"/>
              </a:rPr>
              <a:t>STANDS ALONE</a:t>
            </a:r>
            <a:pPr indent="0" marL="0">
              <a:buNone/>
            </a:pPr>
            <a:r>
              <a:rPr lang="en-US" sz="1050" dirty="0">
                <a:solidFill>
                  <a:srgbClr val="D7E1F5"/>
                </a:solidFill>
                <a:latin typeface="Segoe UI Semilight" pitchFamily="34" charset="0"/>
                <a:ea typeface="Segoe UI Semilight" pitchFamily="34" charset="-122"/>
                <a:cs typeface="Segoe UI Semilight" pitchFamily="34" charset="-120"/>
              </a:rPr>
              <a:t>    Each solution keeps its own overview, deck, Solution ID and milestone submission. The price ladder is the one number they share.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user/barberbook/docs/deck/assets/bg_cont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eyebrow_p8.png">    </p:cNvPr>
          <p:cNvPicPr>
            <a:picLocks noChangeAspect="1"/>
          </p:cNvPicPr>
          <p:nvPr/>
        </p:nvPicPr>
        <p:blipFill>
          <a:blip r:embed="rId2"/>
          <a:stretch>
            <a:fillRect/>
          </a:stretch>
        </p:blipFill>
        <p:spPr>
          <a:xfrm>
            <a:off x="566420" y="474980"/>
            <a:ext cx="256540" cy="256540"/>
          </a:xfrm>
          <a:prstGeom prst="rect">
            <a:avLst/>
          </a:prstGeom>
        </p:spPr>
      </p:pic>
      <p:sp>
        <p:nvSpPr>
          <p:cNvPr id="4" name="Text 0"/>
          <p:cNvSpPr txBox="1"/>
          <p:nvPr/>
        </p:nvSpPr>
        <p:spPr>
          <a:xfrm>
            <a:off x="1023620" y="501650"/>
            <a:ext cx="6350000" cy="228600"/>
          </a:xfrm>
          <a:prstGeom prst="rect">
            <a:avLst/>
          </a:prstGeom>
          <a:noFill/>
          <a:ln/>
        </p:spPr>
        <p:txBody>
          <a:bodyPr wrap="square" lIns="0" tIns="0" rIns="0" bIns="0" rtlCol="0" anchor="t"/>
          <a:lstStyle/>
          <a:p>
            <a:pPr indent="0" marL="0">
              <a:buNone/>
            </a:pPr>
            <a:r>
              <a:rPr lang="en-US" sz="1150" b="1" spc="160" kern="0" dirty="0">
                <a:solidFill>
                  <a:srgbClr val="2E7CC4"/>
                </a:solidFill>
                <a:latin typeface="Segoe UI" pitchFamily="34" charset="0"/>
                <a:ea typeface="Segoe UI" pitchFamily="34" charset="-122"/>
                <a:cs typeface="Segoe UI" pitchFamily="34" charset="-120"/>
              </a:rPr>
              <a:t>RETAINER · TWELVE MONTHS</a:t>
            </a:r>
            <a:endParaRPr lang="en-US" sz="1150" dirty="0"/>
          </a:p>
        </p:txBody>
      </p:sp>
      <p:sp>
        <p:nvSpPr>
          <p:cNvPr id="5" name="Text 1"/>
          <p:cNvSpPr txBox="1"/>
          <p:nvPr/>
        </p:nvSpPr>
        <p:spPr>
          <a:xfrm>
            <a:off x="657860" y="939800"/>
            <a:ext cx="10922000" cy="508000"/>
          </a:xfrm>
          <a:prstGeom prst="rect">
            <a:avLst/>
          </a:prstGeom>
          <a:noFill/>
          <a:ln/>
        </p:spPr>
        <p:txBody>
          <a:bodyPr wrap="square" lIns="0" tIns="0" rIns="0" bIns="0" rtlCol="0" anchor="t"/>
          <a:lstStyle/>
          <a:p>
            <a:pPr indent="0" marL="0">
              <a:buNone/>
            </a:pPr>
            <a:r>
              <a:rPr lang="en-US" sz="2500" b="1" dirty="0">
                <a:solidFill>
                  <a:srgbClr val="15224B"/>
                </a:solidFill>
                <a:latin typeface="Segoe UI" pitchFamily="34" charset="0"/>
                <a:ea typeface="Segoe UI" pitchFamily="34" charset="-122"/>
                <a:cs typeface="Segoe UI" pitchFamily="34" charset="-120"/>
              </a:rPr>
              <a:t>Managed AWS Alliances</a:t>
            </a:r>
            <a:endParaRPr lang="en-US" sz="2500" dirty="0"/>
          </a:p>
        </p:txBody>
      </p:sp>
      <p:sp>
        <p:nvSpPr>
          <p:cNvPr id="6" name="Text 2"/>
          <p:cNvSpPr txBox="1"/>
          <p:nvPr/>
        </p:nvSpPr>
        <p:spPr>
          <a:xfrm>
            <a:off x="657860" y="1651000"/>
            <a:ext cx="10541000" cy="431800"/>
          </a:xfrm>
          <a:prstGeom prst="rect">
            <a:avLst/>
          </a:prstGeom>
          <a:noFill/>
          <a:ln/>
        </p:spPr>
        <p:txBody>
          <a:bodyPr wrap="square" lIns="0" tIns="0" rIns="0" bIns="0" rtlCol="0" anchor="t"/>
          <a:lstStyle/>
          <a:p>
            <a:pPr indent="0" marL="0">
              <a:buNone/>
            </a:pPr>
            <a:r>
              <a:rPr lang="en-US" sz="1250" dirty="0">
                <a:solidFill>
                  <a:srgbClr val="5B6378"/>
                </a:solidFill>
                <a:latin typeface="Segoe UI Semilight" pitchFamily="34" charset="0"/>
                <a:ea typeface="Segoe UI Semilight" pitchFamily="34" charset="-122"/>
                <a:cs typeface="Segoe UI Semilight" pitchFamily="34" charset="-120"/>
              </a:rPr>
              <a:t>Put a named owner on the AWS partnership. Three strictly additive tiers.</a:t>
            </a:r>
            <a:endParaRPr lang="en-US" sz="1250" dirty="0"/>
          </a:p>
        </p:txBody>
      </p:sp>
      <p:sp>
        <p:nvSpPr>
          <p:cNvPr id="7" name="Text 3"/>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8" name="Text 4"/>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11 / 22</a:t>
            </a:r>
            <a:endParaRPr lang="en-US" sz="900" dirty="0"/>
          </a:p>
        </p:txBody>
      </p:sp>
      <p:sp>
        <p:nvSpPr>
          <p:cNvPr id="9" name="Text 5"/>
          <p:cNvSpPr txBox="1"/>
          <p:nvPr/>
        </p:nvSpPr>
        <p:spPr>
          <a:xfrm>
            <a:off x="657860" y="2019300"/>
            <a:ext cx="10871200" cy="177800"/>
          </a:xfrm>
          <a:prstGeom prst="rect">
            <a:avLst/>
          </a:prstGeom>
          <a:noFill/>
          <a:ln/>
        </p:spPr>
        <p:txBody>
          <a:bodyPr wrap="square" lIns="0" tIns="0" rIns="0" bIns="0" rtlCol="0" anchor="t"/>
          <a:lstStyle/>
          <a:p>
            <a:pPr indent="0" marL="0">
              <a:buNone/>
            </a:pPr>
            <a:r>
              <a:rPr lang="en-US" sz="850" dirty="0">
                <a:solidFill>
                  <a:srgbClr val="F36F20"/>
                </a:solidFill>
                <a:latin typeface="Segoe UI Semilight" pitchFamily="34" charset="0"/>
                <a:ea typeface="Segoe UI Semilight" pitchFamily="34" charset="-122"/>
                <a:cs typeface="Segoe UI Semilight" pitchFamily="34" charset="-120"/>
              </a:rPr>
              <a:t>ENTRY CONDITION — requires a published listing, delivered by the Accelerator or already in place. Alliances runs the partnership around a listing; it does not produce one.</a:t>
            </a:r>
            <a:endParaRPr lang="en-US" sz="850" dirty="0"/>
          </a:p>
        </p:txBody>
      </p:sp>
      <p:sp>
        <p:nvSpPr>
          <p:cNvPr id="10" name="Text 6"/>
          <p:cNvSpPr txBox="1"/>
          <p:nvPr/>
        </p:nvSpPr>
        <p:spPr>
          <a:xfrm>
            <a:off x="657860" y="2247900"/>
            <a:ext cx="10871200" cy="355600"/>
          </a:xfrm>
          <a:prstGeom prst="rect">
            <a:avLst/>
          </a:prstGeom>
          <a:noFill/>
          <a:ln/>
        </p:spPr>
        <p:txBody>
          <a:bodyPr wrap="square" lIns="0" tIns="0" rIns="0" bIns="0" rtlCol="0" anchor="ctr"/>
          <a:lstStyle/>
          <a:p>
            <a:pPr indent="0" marL="0">
              <a:buNone/>
            </a:pPr>
            <a:r>
              <a:rPr lang="en-US" sz="950" b="1" spc="110" kern="0" dirty="0">
                <a:solidFill>
                  <a:srgbClr val="F36F20"/>
                </a:solidFill>
                <a:latin typeface="Segoe UI" pitchFamily="34" charset="0"/>
                <a:ea typeface="Segoe UI" pitchFamily="34" charset="-122"/>
                <a:cs typeface="Segoe UI" pitchFamily="34" charset="-120"/>
              </a:rPr>
              <a:t>WE COMMIT   </a:t>
            </a:r>
            <a:pPr indent="0" marL="0">
              <a:buNone/>
            </a:pPr>
            <a:r>
              <a:rPr lang="en-US" sz="950" dirty="0">
                <a:solidFill>
                  <a:srgbClr val="5B6378"/>
                </a:solidFill>
                <a:latin typeface="Segoe UI Semilight" pitchFamily="34" charset="0"/>
                <a:ea typeface="Segoe UI Semilight" pitchFamily="34" charset="-122"/>
                <a:cs typeface="Segoe UI Semilight" pitchFamily="34" charset="-120"/>
              </a:rPr>
              <a:t>A named Director of Alliances at [N] hours a month with a named backup, [N] partnership reviews and [N] quarterly AWS plans delivered, each with a written action log issued within [N] business days.</a:t>
            </a:r>
            <a:endParaRPr lang="en-US" sz="950" dirty="0"/>
          </a:p>
        </p:txBody>
      </p:sp>
      <p:sp>
        <p:nvSpPr>
          <p:cNvPr id="11" name="Text 7"/>
          <p:cNvSpPr txBox="1"/>
          <p:nvPr/>
        </p:nvSpPr>
        <p:spPr>
          <a:xfrm>
            <a:off x="657860" y="2603500"/>
            <a:ext cx="10871200" cy="203200"/>
          </a:xfrm>
          <a:prstGeom prst="rect">
            <a:avLst/>
          </a:prstGeom>
          <a:noFill/>
          <a:ln/>
        </p:spPr>
        <p:txBody>
          <a:bodyPr wrap="square" lIns="0" tIns="0" rIns="0" bIns="0" rtlCol="0" anchor="ctr"/>
          <a:lstStyle/>
          <a:p>
            <a:pPr indent="0" marL="0">
              <a:buNone/>
            </a:pPr>
            <a:r>
              <a:rPr lang="en-US" sz="950" b="1" spc="110" kern="0" dirty="0">
                <a:solidFill>
                  <a:srgbClr val="9AA2B5"/>
                </a:solidFill>
                <a:latin typeface="Segoe UI" pitchFamily="34" charset="0"/>
                <a:ea typeface="Segoe UI" pitchFamily="34" charset="-122"/>
                <a:cs typeface="Segoe UI" pitchFamily="34" charset="-120"/>
              </a:rPr>
              <a:t>WE TARGET   </a:t>
            </a:r>
            <a:pPr indent="0" marL="0">
              <a:buNone/>
            </a:pPr>
            <a:r>
              <a:rPr lang="en-US" sz="950" dirty="0">
                <a:solidFill>
                  <a:srgbClr val="9AA2B5"/>
                </a:solidFill>
                <a:latin typeface="Segoe UI Semilight" pitchFamily="34" charset="0"/>
                <a:ea typeface="Segoe UI Semilight" pitchFamily="34" charset="-122"/>
                <a:cs typeface="Segoe UI Semilight" pitchFamily="34" charset="-120"/>
              </a:rPr>
              <a:t>Partner-tier progress, AWS-attributed pipeline, and accepted co-sell opportunities.</a:t>
            </a:r>
            <a:endParaRPr lang="en-US" sz="950" dirty="0"/>
          </a:p>
        </p:txBody>
      </p:sp>
      <p:sp>
        <p:nvSpPr>
          <p:cNvPr id="12" name="Text 8"/>
          <p:cNvSpPr txBox="1"/>
          <p:nvPr/>
        </p:nvSpPr>
        <p:spPr>
          <a:xfrm>
            <a:off x="657860" y="2895600"/>
            <a:ext cx="3479800" cy="203200"/>
          </a:xfrm>
          <a:prstGeom prst="rect">
            <a:avLst/>
          </a:prstGeom>
          <a:noFill/>
          <a:ln/>
        </p:spPr>
        <p:txBody>
          <a:bodyPr wrap="square" lIns="0" tIns="0" rIns="0" bIns="0" rtlCol="0" anchor="ctr"/>
          <a:lstStyle/>
          <a:p>
            <a:pPr indent="0" marL="0">
              <a:buNone/>
            </a:pPr>
            <a:r>
              <a:rPr lang="en-US" sz="1200" b="1" dirty="0">
                <a:solidFill>
                  <a:srgbClr val="15224B"/>
                </a:solidFill>
                <a:latin typeface="Segoe UI" pitchFamily="34" charset="0"/>
                <a:ea typeface="Segoe UI" pitchFamily="34" charset="-122"/>
                <a:cs typeface="Segoe UI" pitchFamily="34" charset="-120"/>
              </a:rPr>
              <a:t>Essentials</a:t>
            </a:r>
            <a:pPr indent="0" marL="0">
              <a:buNone/>
            </a:pPr>
            <a:r>
              <a:rPr lang="en-US" sz="1200" b="1" dirty="0">
                <a:solidFill>
                  <a:srgbClr val="F36F20"/>
                </a:solidFill>
                <a:latin typeface="Segoe UI" pitchFamily="34" charset="0"/>
                <a:ea typeface="Segoe UI" pitchFamily="34" charset="-122"/>
                <a:cs typeface="Segoe UI" pitchFamily="34" charset="-120"/>
              </a:rPr>
              <a:t>   $2,500 / mo</a:t>
            </a:r>
            <a:endParaRPr lang="en-US" sz="1200" dirty="0"/>
          </a:p>
        </p:txBody>
      </p:sp>
      <p:sp>
        <p:nvSpPr>
          <p:cNvPr id="13" name="Text 9"/>
          <p:cNvSpPr txBox="1"/>
          <p:nvPr/>
        </p:nvSpPr>
        <p:spPr>
          <a:xfrm>
            <a:off x="657860" y="3136900"/>
            <a:ext cx="3479800" cy="330200"/>
          </a:xfrm>
          <a:prstGeom prst="rect">
            <a:avLst/>
          </a:prstGeom>
          <a:noFill/>
          <a:ln/>
        </p:spPr>
        <p:txBody>
          <a:bodyPr wrap="square" lIns="0" tIns="0" rIns="0" bIns="0" rtlCol="0" anchor="t"/>
          <a:lstStyle/>
          <a:p>
            <a:pPr indent="0" marL="0">
              <a:buNone/>
            </a:pPr>
            <a:r>
              <a:rPr lang="en-US" sz="850" dirty="0">
                <a:solidFill>
                  <a:srgbClr val="2E7CC4"/>
                </a:solidFill>
                <a:latin typeface="Segoe UI Semilight" pitchFamily="34" charset="0"/>
                <a:ea typeface="Segoe UI Semilight" pitchFamily="34" charset="-122"/>
                <a:cs typeface="Segoe UI Semilight" pitchFamily="34" charset="-120"/>
              </a:rPr>
              <a:t>Stand the partnership up.</a:t>
            </a:r>
            <a:endParaRPr lang="en-US" sz="850" dirty="0"/>
          </a:p>
        </p:txBody>
      </p:sp>
      <p:sp>
        <p:nvSpPr>
          <p:cNvPr id="14" name="Text 10"/>
          <p:cNvSpPr txBox="1"/>
          <p:nvPr/>
        </p:nvSpPr>
        <p:spPr>
          <a:xfrm>
            <a:off x="657860" y="3352800"/>
            <a:ext cx="3479800" cy="152400"/>
          </a:xfrm>
          <a:prstGeom prst="rect">
            <a:avLst/>
          </a:prstGeom>
          <a:noFill/>
          <a:ln/>
        </p:spPr>
        <p:txBody>
          <a:bodyPr wrap="square" lIns="0" tIns="0" rIns="0" bIns="0" rtlCol="0" anchor="t"/>
          <a:lstStyle/>
          <a:p>
            <a:pPr indent="0" marL="0">
              <a:buNone/>
            </a:pPr>
            <a:r>
              <a:rPr lang="en-US" sz="800" b="1" spc="110" kern="0" dirty="0">
                <a:solidFill>
                  <a:srgbClr val="F36F20"/>
                </a:solidFill>
                <a:latin typeface="Segoe UI" pitchFamily="34" charset="0"/>
                <a:ea typeface="Segoe UI" pitchFamily="34" charset="-122"/>
                <a:cs typeface="Segoe UI" pitchFamily="34" charset="-120"/>
              </a:rPr>
              <a:t>WE COMMIT</a:t>
            </a:r>
            <a:endParaRPr lang="en-US" sz="800" dirty="0"/>
          </a:p>
        </p:txBody>
      </p:sp>
      <p:sp>
        <p:nvSpPr>
          <p:cNvPr id="15" name="Text 11"/>
          <p:cNvSpPr txBox="1"/>
          <p:nvPr/>
        </p:nvSpPr>
        <p:spPr>
          <a:xfrm>
            <a:off x="657860" y="3530600"/>
            <a:ext cx="3479800" cy="13462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Named alliance lead at [N] hours a month, with a named backup</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Monthly partnership review scheduled, held and minuted; action log within [N] business days</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Quarterly AWS partnership plan with dated actions and named owners</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Listing and compliance items tracked, chased and reported with status at each review</a:t>
            </a:r>
            <a:endParaRPr lang="en-US" sz="780" dirty="0"/>
          </a:p>
        </p:txBody>
      </p:sp>
      <p:sp>
        <p:nvSpPr>
          <p:cNvPr id="16" name="Text 12"/>
          <p:cNvSpPr txBox="1"/>
          <p:nvPr/>
        </p:nvSpPr>
        <p:spPr>
          <a:xfrm>
            <a:off x="657860" y="4927600"/>
            <a:ext cx="3479800" cy="152400"/>
          </a:xfrm>
          <a:prstGeom prst="rect">
            <a:avLst/>
          </a:prstGeom>
          <a:noFill/>
          <a:ln/>
        </p:spPr>
        <p:txBody>
          <a:bodyPr wrap="square" lIns="0" tIns="0" rIns="0" bIns="0" rtlCol="0" anchor="t"/>
          <a:lstStyle/>
          <a:p>
            <a:pPr indent="0" marL="0">
              <a:buNone/>
            </a:pPr>
            <a:r>
              <a:rPr lang="en-US" sz="800" b="1" spc="110" kern="0" dirty="0">
                <a:solidFill>
                  <a:srgbClr val="9AA2B5"/>
                </a:solidFill>
                <a:latin typeface="Segoe UI" pitchFamily="34" charset="0"/>
                <a:ea typeface="Segoe UI" pitchFamily="34" charset="-122"/>
                <a:cs typeface="Segoe UI" pitchFamily="34" charset="-120"/>
              </a:rPr>
              <a:t>WE TARGET</a:t>
            </a:r>
            <a:endParaRPr lang="en-US" sz="800" dirty="0"/>
          </a:p>
        </p:txBody>
      </p:sp>
      <p:sp>
        <p:nvSpPr>
          <p:cNvPr id="17" name="Text 13"/>
          <p:cNvSpPr txBox="1"/>
          <p:nvPr/>
        </p:nvSpPr>
        <p:spPr>
          <a:xfrm>
            <a:off x="657860" y="5105400"/>
            <a:ext cx="3479800" cy="6350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Listing published and transacting inside the term</a:t>
            </a:r>
            <a:endParaRPr lang="en-US" sz="780" dirty="0"/>
          </a:p>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Partner-tier progress accepted by AWS at [target tier]</a:t>
            </a:r>
            <a:endParaRPr lang="en-US" sz="780" dirty="0"/>
          </a:p>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[N] named AWS field contacts engaged</a:t>
            </a:r>
            <a:endParaRPr lang="en-US" sz="780" dirty="0"/>
          </a:p>
        </p:txBody>
      </p:sp>
      <p:sp>
        <p:nvSpPr>
          <p:cNvPr id="18" name="Text 14"/>
          <p:cNvSpPr txBox="1"/>
          <p:nvPr/>
        </p:nvSpPr>
        <p:spPr>
          <a:xfrm>
            <a:off x="4391660" y="2895600"/>
            <a:ext cx="3479800" cy="203200"/>
          </a:xfrm>
          <a:prstGeom prst="rect">
            <a:avLst/>
          </a:prstGeom>
          <a:noFill/>
          <a:ln/>
        </p:spPr>
        <p:txBody>
          <a:bodyPr wrap="square" lIns="0" tIns="0" rIns="0" bIns="0" rtlCol="0" anchor="ctr"/>
          <a:lstStyle/>
          <a:p>
            <a:pPr indent="0" marL="0">
              <a:buNone/>
            </a:pPr>
            <a:r>
              <a:rPr lang="en-US" sz="1200" b="1" dirty="0">
                <a:solidFill>
                  <a:srgbClr val="15224B"/>
                </a:solidFill>
                <a:latin typeface="Segoe UI" pitchFamily="34" charset="0"/>
                <a:ea typeface="Segoe UI" pitchFamily="34" charset="-122"/>
                <a:cs typeface="Segoe UI" pitchFamily="34" charset="-120"/>
              </a:rPr>
              <a:t>Growth</a:t>
            </a:r>
            <a:pPr indent="0" marL="0">
              <a:buNone/>
            </a:pPr>
            <a:r>
              <a:rPr lang="en-US" sz="1200" b="1" dirty="0">
                <a:solidFill>
                  <a:srgbClr val="F36F20"/>
                </a:solidFill>
                <a:latin typeface="Segoe UI" pitchFamily="34" charset="0"/>
                <a:ea typeface="Segoe UI" pitchFamily="34" charset="-122"/>
                <a:cs typeface="Segoe UI" pitchFamily="34" charset="-120"/>
              </a:rPr>
              <a:t>   $5,000 / mo</a:t>
            </a:r>
            <a:endParaRPr lang="en-US" sz="1200" dirty="0"/>
          </a:p>
        </p:txBody>
      </p:sp>
      <p:sp>
        <p:nvSpPr>
          <p:cNvPr id="19" name="Text 15"/>
          <p:cNvSpPr txBox="1"/>
          <p:nvPr/>
        </p:nvSpPr>
        <p:spPr>
          <a:xfrm>
            <a:off x="4391660" y="3136900"/>
            <a:ext cx="3479800" cy="330200"/>
          </a:xfrm>
          <a:prstGeom prst="rect">
            <a:avLst/>
          </a:prstGeom>
          <a:noFill/>
          <a:ln/>
        </p:spPr>
        <p:txBody>
          <a:bodyPr wrap="square" lIns="0" tIns="0" rIns="0" bIns="0" rtlCol="0" anchor="t"/>
          <a:lstStyle/>
          <a:p>
            <a:pPr indent="0" marL="0">
              <a:buNone/>
            </a:pPr>
            <a:r>
              <a:rPr lang="en-US" sz="850" dirty="0">
                <a:solidFill>
                  <a:srgbClr val="2E7CC4"/>
                </a:solidFill>
                <a:latin typeface="Segoe UI Semilight" pitchFamily="34" charset="0"/>
                <a:ea typeface="Segoe UI Semilight" pitchFamily="34" charset="-122"/>
                <a:cs typeface="Segoe UI Semilight" pitchFamily="34" charset="-120"/>
              </a:rPr>
              <a:t>Adds to Essentials — run the co-sell desk.</a:t>
            </a:r>
            <a:endParaRPr lang="en-US" sz="850" dirty="0"/>
          </a:p>
        </p:txBody>
      </p:sp>
      <p:sp>
        <p:nvSpPr>
          <p:cNvPr id="20" name="Text 16"/>
          <p:cNvSpPr txBox="1"/>
          <p:nvPr/>
        </p:nvSpPr>
        <p:spPr>
          <a:xfrm>
            <a:off x="4391660" y="3352800"/>
            <a:ext cx="3479800" cy="152400"/>
          </a:xfrm>
          <a:prstGeom prst="rect">
            <a:avLst/>
          </a:prstGeom>
          <a:noFill/>
          <a:ln/>
        </p:spPr>
        <p:txBody>
          <a:bodyPr wrap="square" lIns="0" tIns="0" rIns="0" bIns="0" rtlCol="0" anchor="t"/>
          <a:lstStyle/>
          <a:p>
            <a:pPr indent="0" marL="0">
              <a:buNone/>
            </a:pPr>
            <a:r>
              <a:rPr lang="en-US" sz="800" b="1" spc="110" kern="0" dirty="0">
                <a:solidFill>
                  <a:srgbClr val="F36F20"/>
                </a:solidFill>
                <a:latin typeface="Segoe UI" pitchFamily="34" charset="0"/>
                <a:ea typeface="Segoe UI" pitchFamily="34" charset="-122"/>
                <a:cs typeface="Segoe UI" pitchFamily="34" charset="-120"/>
              </a:rPr>
              <a:t>WE COMMIT</a:t>
            </a:r>
            <a:endParaRPr lang="en-US" sz="800" dirty="0"/>
          </a:p>
        </p:txBody>
      </p:sp>
      <p:sp>
        <p:nvSpPr>
          <p:cNvPr id="21" name="Text 17"/>
          <p:cNvSpPr txBox="1"/>
          <p:nvPr/>
        </p:nvSpPr>
        <p:spPr>
          <a:xfrm>
            <a:off x="4391660" y="3530600"/>
            <a:ext cx="3479800" cy="13462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Mid-month pipeline review added to the monthly</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Co-sell package filed within [N] business days of a complete opportunity record; up to [N] a month, further at [$X]</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Rejection reason written back within [N] business days; one rework where curable from customer information</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Monthly written update to the ISV’s AWS PDM and account team</a:t>
            </a:r>
            <a:endParaRPr lang="en-US" sz="780" dirty="0"/>
          </a:p>
        </p:txBody>
      </p:sp>
      <p:sp>
        <p:nvSpPr>
          <p:cNvPr id="22" name="Text 18"/>
          <p:cNvSpPr txBox="1"/>
          <p:nvPr/>
        </p:nvSpPr>
        <p:spPr>
          <a:xfrm>
            <a:off x="4391660" y="4927600"/>
            <a:ext cx="3479800" cy="152400"/>
          </a:xfrm>
          <a:prstGeom prst="rect">
            <a:avLst/>
          </a:prstGeom>
          <a:noFill/>
          <a:ln/>
        </p:spPr>
        <p:txBody>
          <a:bodyPr wrap="square" lIns="0" tIns="0" rIns="0" bIns="0" rtlCol="0" anchor="t"/>
          <a:lstStyle/>
          <a:p>
            <a:pPr indent="0" marL="0">
              <a:buNone/>
            </a:pPr>
            <a:r>
              <a:rPr lang="en-US" sz="800" b="1" spc="110" kern="0" dirty="0">
                <a:solidFill>
                  <a:srgbClr val="9AA2B5"/>
                </a:solidFill>
                <a:latin typeface="Segoe UI" pitchFamily="34" charset="0"/>
                <a:ea typeface="Segoe UI" pitchFamily="34" charset="-122"/>
                <a:cs typeface="Segoe UI" pitchFamily="34" charset="-120"/>
              </a:rPr>
              <a:t>WE TARGET</a:t>
            </a:r>
            <a:endParaRPr lang="en-US" sz="800" dirty="0"/>
          </a:p>
        </p:txBody>
      </p:sp>
      <p:sp>
        <p:nvSpPr>
          <p:cNvPr id="23" name="Text 19"/>
          <p:cNvSpPr txBox="1"/>
          <p:nvPr/>
        </p:nvSpPr>
        <p:spPr>
          <a:xfrm>
            <a:off x="4391660" y="5105400"/>
            <a:ext cx="3479800" cy="6350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[N] ACE opportunities accepted — acceptance is AWS’s decision</a:t>
            </a:r>
            <a:endParaRPr lang="en-US" sz="780" dirty="0"/>
          </a:p>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[$X] AWS-attributed pipeline created</a:t>
            </a:r>
            <a:endParaRPr lang="en-US" sz="780" dirty="0"/>
          </a:p>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[N] first meetings sourced through AWS</a:t>
            </a:r>
            <a:endParaRPr lang="en-US" sz="780" dirty="0"/>
          </a:p>
        </p:txBody>
      </p:sp>
      <p:sp>
        <p:nvSpPr>
          <p:cNvPr id="24" name="Text 20"/>
          <p:cNvSpPr txBox="1"/>
          <p:nvPr/>
        </p:nvSpPr>
        <p:spPr>
          <a:xfrm>
            <a:off x="8125460" y="2895600"/>
            <a:ext cx="3479800" cy="203200"/>
          </a:xfrm>
          <a:prstGeom prst="rect">
            <a:avLst/>
          </a:prstGeom>
          <a:noFill/>
          <a:ln/>
        </p:spPr>
        <p:txBody>
          <a:bodyPr wrap="square" lIns="0" tIns="0" rIns="0" bIns="0" rtlCol="0" anchor="ctr"/>
          <a:lstStyle/>
          <a:p>
            <a:pPr indent="0" marL="0">
              <a:buNone/>
            </a:pPr>
            <a:r>
              <a:rPr lang="en-US" sz="1200" b="1" dirty="0">
                <a:solidFill>
                  <a:srgbClr val="15224B"/>
                </a:solidFill>
                <a:latin typeface="Segoe UI" pitchFamily="34" charset="0"/>
                <a:ea typeface="Segoe UI" pitchFamily="34" charset="-122"/>
                <a:cs typeface="Segoe UI" pitchFamily="34" charset="-120"/>
              </a:rPr>
              <a:t>Professional</a:t>
            </a:r>
            <a:pPr indent="0" marL="0">
              <a:buNone/>
            </a:pPr>
            <a:r>
              <a:rPr lang="en-US" sz="1200" b="1" dirty="0">
                <a:solidFill>
                  <a:srgbClr val="F36F20"/>
                </a:solidFill>
                <a:latin typeface="Segoe UI" pitchFamily="34" charset="0"/>
                <a:ea typeface="Segoe UI" pitchFamily="34" charset="-122"/>
                <a:cs typeface="Segoe UI" pitchFamily="34" charset="-120"/>
              </a:rPr>
              <a:t>   $7,500 / mo</a:t>
            </a:r>
            <a:endParaRPr lang="en-US" sz="1200" dirty="0"/>
          </a:p>
        </p:txBody>
      </p:sp>
      <p:sp>
        <p:nvSpPr>
          <p:cNvPr id="25" name="Text 21"/>
          <p:cNvSpPr txBox="1"/>
          <p:nvPr/>
        </p:nvSpPr>
        <p:spPr>
          <a:xfrm>
            <a:off x="8125460" y="3136900"/>
            <a:ext cx="3479800" cy="330200"/>
          </a:xfrm>
          <a:prstGeom prst="rect">
            <a:avLst/>
          </a:prstGeom>
          <a:noFill/>
          <a:ln/>
        </p:spPr>
        <p:txBody>
          <a:bodyPr wrap="square" lIns="0" tIns="0" rIns="0" bIns="0" rtlCol="0" anchor="t"/>
          <a:lstStyle/>
          <a:p>
            <a:pPr indent="0" marL="0">
              <a:buNone/>
            </a:pPr>
            <a:r>
              <a:rPr lang="en-US" sz="850" dirty="0">
                <a:solidFill>
                  <a:srgbClr val="2E7CC4"/>
                </a:solidFill>
                <a:latin typeface="Segoe UI Semilight" pitchFamily="34" charset="0"/>
                <a:ea typeface="Segoe UI Semilight" pitchFamily="34" charset="-122"/>
                <a:cs typeface="Segoe UI Semilight" pitchFamily="34" charset="-120"/>
              </a:rPr>
              <a:t>Adds to Growth — run the deal desk.</a:t>
            </a:r>
            <a:endParaRPr lang="en-US" sz="850" dirty="0"/>
          </a:p>
        </p:txBody>
      </p:sp>
      <p:sp>
        <p:nvSpPr>
          <p:cNvPr id="26" name="Text 22"/>
          <p:cNvSpPr txBox="1"/>
          <p:nvPr/>
        </p:nvSpPr>
        <p:spPr>
          <a:xfrm>
            <a:off x="8125460" y="3352800"/>
            <a:ext cx="3479800" cy="152400"/>
          </a:xfrm>
          <a:prstGeom prst="rect">
            <a:avLst/>
          </a:prstGeom>
          <a:noFill/>
          <a:ln/>
        </p:spPr>
        <p:txBody>
          <a:bodyPr wrap="square" lIns="0" tIns="0" rIns="0" bIns="0" rtlCol="0" anchor="t"/>
          <a:lstStyle/>
          <a:p>
            <a:pPr indent="0" marL="0">
              <a:buNone/>
            </a:pPr>
            <a:r>
              <a:rPr lang="en-US" sz="800" b="1" spc="110" kern="0" dirty="0">
                <a:solidFill>
                  <a:srgbClr val="F36F20"/>
                </a:solidFill>
                <a:latin typeface="Segoe UI" pitchFamily="34" charset="0"/>
                <a:ea typeface="Segoe UI" pitchFamily="34" charset="-122"/>
                <a:cs typeface="Segoe UI" pitchFamily="34" charset="-120"/>
              </a:rPr>
              <a:t>WE COMMIT</a:t>
            </a:r>
            <a:endParaRPr lang="en-US" sz="800" dirty="0"/>
          </a:p>
        </p:txBody>
      </p:sp>
      <p:sp>
        <p:nvSpPr>
          <p:cNvPr id="27" name="Text 23"/>
          <p:cNvSpPr txBox="1"/>
          <p:nvPr/>
        </p:nvSpPr>
        <p:spPr>
          <a:xfrm>
            <a:off x="8125460" y="3530600"/>
            <a:ext cx="3479800" cy="13462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Private offer terms drafted within [N] business days of a complete, priced, customer-approved request, and submitted to Automatum for issue; up to [N] a month</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Weekly deal review with the ISV’s sales lead; written next action on every open opportunity</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ACE records updated within [N] business days of notification</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[N] business-hour response on deal-blocking requests within [coverage window, time zone]</a:t>
            </a:r>
            <a:endParaRPr lang="en-US" sz="780" dirty="0"/>
          </a:p>
        </p:txBody>
      </p:sp>
      <p:sp>
        <p:nvSpPr>
          <p:cNvPr id="28" name="Text 24"/>
          <p:cNvSpPr txBox="1"/>
          <p:nvPr/>
        </p:nvSpPr>
        <p:spPr>
          <a:xfrm>
            <a:off x="8125460" y="4927600"/>
            <a:ext cx="3479800" cy="152400"/>
          </a:xfrm>
          <a:prstGeom prst="rect">
            <a:avLst/>
          </a:prstGeom>
          <a:noFill/>
          <a:ln/>
        </p:spPr>
        <p:txBody>
          <a:bodyPr wrap="square" lIns="0" tIns="0" rIns="0" bIns="0" rtlCol="0" anchor="t"/>
          <a:lstStyle/>
          <a:p>
            <a:pPr indent="0" marL="0">
              <a:buNone/>
            </a:pPr>
            <a:r>
              <a:rPr lang="en-US" sz="800" b="1" spc="110" kern="0" dirty="0">
                <a:solidFill>
                  <a:srgbClr val="9AA2B5"/>
                </a:solidFill>
                <a:latin typeface="Segoe UI" pitchFamily="34" charset="0"/>
                <a:ea typeface="Segoe UI" pitchFamily="34" charset="-122"/>
                <a:cs typeface="Segoe UI" pitchFamily="34" charset="-120"/>
              </a:rPr>
              <a:t>WE TARGET</a:t>
            </a:r>
            <a:endParaRPr lang="en-US" sz="800" dirty="0"/>
          </a:p>
        </p:txBody>
      </p:sp>
      <p:sp>
        <p:nvSpPr>
          <p:cNvPr id="29" name="Text 25"/>
          <p:cNvSpPr txBox="1"/>
          <p:nvPr/>
        </p:nvSpPr>
        <p:spPr>
          <a:xfrm>
            <a:off x="8125460" y="5105400"/>
            <a:ext cx="3479800" cy="6350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[N] private offers issued; [$X] transacted</a:t>
            </a:r>
            <a:endParaRPr lang="en-US" sz="780" dirty="0"/>
          </a:p>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[N] opportunities Closed Won — the close sits with the ISV’s sales team</a:t>
            </a:r>
            <a:endParaRPr lang="en-US" sz="780" dirty="0"/>
          </a:p>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[N] AWS funding requests approved — AWS decides</a:t>
            </a:r>
            <a:endParaRPr lang="en-US" sz="780" dirty="0"/>
          </a:p>
        </p:txBody>
      </p:sp>
      <p:sp>
        <p:nvSpPr>
          <p:cNvPr id="30" name="Shape 26"/>
          <p:cNvSpPr/>
          <p:nvPr/>
        </p:nvSpPr>
        <p:spPr>
          <a:xfrm>
            <a:off x="566420" y="5760720"/>
            <a:ext cx="11057890" cy="566420"/>
          </a:xfrm>
          <a:prstGeom prst="roundRect">
            <a:avLst>
              <a:gd name="adj" fmla="val 22601"/>
            </a:avLst>
          </a:prstGeom>
          <a:solidFill>
            <a:srgbClr val="15224B"/>
          </a:solidFill>
          <a:ln/>
        </p:spPr>
      </p:sp>
      <p:sp>
        <p:nvSpPr>
          <p:cNvPr id="31" name="Text 27"/>
          <p:cNvSpPr txBox="1"/>
          <p:nvPr/>
        </p:nvSpPr>
        <p:spPr>
          <a:xfrm>
            <a:off x="838200" y="5867400"/>
            <a:ext cx="10541000" cy="355600"/>
          </a:xfrm>
          <a:prstGeom prst="rect">
            <a:avLst/>
          </a:prstGeom>
          <a:noFill/>
          <a:ln/>
        </p:spPr>
        <p:txBody>
          <a:bodyPr wrap="square" lIns="0" tIns="0" rIns="0" bIns="0" rtlCol="0" anchor="ctr"/>
          <a:lstStyle/>
          <a:p>
            <a:pPr indent="0" marL="0">
              <a:buNone/>
            </a:pPr>
            <a:r>
              <a:rPr lang="en-US" sz="1050" b="1" spc="110" kern="0" dirty="0">
                <a:solidFill>
                  <a:srgbClr val="F36F20"/>
                </a:solidFill>
                <a:latin typeface="Segoe UI" pitchFamily="34" charset="0"/>
                <a:ea typeface="Segoe UI" pitchFamily="34" charset="-122"/>
                <a:cs typeface="Segoe UI" pitchFamily="34" charset="-120"/>
              </a:rPr>
              <a:t>NOTE</a:t>
            </a:r>
            <a:pPr indent="0" marL="0">
              <a:buNone/>
            </a:pPr>
            <a:r>
              <a:rPr lang="en-US" sz="1050" dirty="0">
                <a:solidFill>
                  <a:srgbClr val="D7E1F5"/>
                </a:solidFill>
                <a:latin typeface="Segoe UI Semilight" pitchFamily="34" charset="0"/>
                <a:ea typeface="Segoe UI Semilight" pitchFamily="34" charset="-122"/>
                <a:cs typeface="Segoe UI Semilight" pitchFamily="34" charset="-120"/>
              </a:rPr>
              <a:t>    Automatum issues every offer. [Partner Central instance for ACE filing — to confirm.] All bracketed figures gate on the staffing model.</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ome/user/barberbook/docs/deck/assets/bg_cont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eyebrow_p10.png">    </p:cNvPr>
          <p:cNvPicPr>
            <a:picLocks noChangeAspect="1"/>
          </p:cNvPicPr>
          <p:nvPr/>
        </p:nvPicPr>
        <p:blipFill>
          <a:blip r:embed="rId2"/>
          <a:stretch>
            <a:fillRect/>
          </a:stretch>
        </p:blipFill>
        <p:spPr>
          <a:xfrm>
            <a:off x="566420" y="474980"/>
            <a:ext cx="256540" cy="256540"/>
          </a:xfrm>
          <a:prstGeom prst="rect">
            <a:avLst/>
          </a:prstGeom>
        </p:spPr>
      </p:pic>
      <p:sp>
        <p:nvSpPr>
          <p:cNvPr id="4" name="Text 0"/>
          <p:cNvSpPr txBox="1"/>
          <p:nvPr/>
        </p:nvSpPr>
        <p:spPr>
          <a:xfrm>
            <a:off x="1023620" y="501650"/>
            <a:ext cx="6350000" cy="228600"/>
          </a:xfrm>
          <a:prstGeom prst="rect">
            <a:avLst/>
          </a:prstGeom>
          <a:noFill/>
          <a:ln/>
        </p:spPr>
        <p:txBody>
          <a:bodyPr wrap="square" lIns="0" tIns="0" rIns="0" bIns="0" rtlCol="0" anchor="t"/>
          <a:lstStyle/>
          <a:p>
            <a:pPr indent="0" marL="0">
              <a:buNone/>
            </a:pPr>
            <a:r>
              <a:rPr lang="en-US" sz="1150" b="1" spc="160" kern="0" dirty="0">
                <a:solidFill>
                  <a:srgbClr val="2E7CC4"/>
                </a:solidFill>
                <a:latin typeface="Segoe UI" pitchFamily="34" charset="0"/>
                <a:ea typeface="Segoe UI" pitchFamily="34" charset="-122"/>
                <a:cs typeface="Segoe UI" pitchFamily="34" charset="-120"/>
              </a:rPr>
              <a:t>RETAINER · TWELVE MONTHS</a:t>
            </a:r>
            <a:endParaRPr lang="en-US" sz="1150" dirty="0"/>
          </a:p>
        </p:txBody>
      </p:sp>
      <p:sp>
        <p:nvSpPr>
          <p:cNvPr id="5" name="Text 1"/>
          <p:cNvSpPr txBox="1"/>
          <p:nvPr/>
        </p:nvSpPr>
        <p:spPr>
          <a:xfrm>
            <a:off x="657860" y="939800"/>
            <a:ext cx="10922000" cy="508000"/>
          </a:xfrm>
          <a:prstGeom prst="rect">
            <a:avLst/>
          </a:prstGeom>
          <a:noFill/>
          <a:ln/>
        </p:spPr>
        <p:txBody>
          <a:bodyPr wrap="square" lIns="0" tIns="0" rIns="0" bIns="0" rtlCol="0" anchor="t"/>
          <a:lstStyle/>
          <a:p>
            <a:pPr indent="0" marL="0">
              <a:buNone/>
            </a:pPr>
            <a:r>
              <a:rPr lang="en-US" sz="2500" b="1" dirty="0">
                <a:solidFill>
                  <a:srgbClr val="15224B"/>
                </a:solidFill>
                <a:latin typeface="Segoe UI" pitchFamily="34" charset="0"/>
                <a:ea typeface="Segoe UI" pitchFamily="34" charset="-122"/>
                <a:cs typeface="Segoe UI" pitchFamily="34" charset="-120"/>
              </a:rPr>
              <a:t>Managed Marketplace Operations</a:t>
            </a:r>
            <a:endParaRPr lang="en-US" sz="2500" dirty="0"/>
          </a:p>
        </p:txBody>
      </p:sp>
      <p:sp>
        <p:nvSpPr>
          <p:cNvPr id="6" name="Text 2"/>
          <p:cNvSpPr txBox="1"/>
          <p:nvPr/>
        </p:nvSpPr>
        <p:spPr>
          <a:xfrm>
            <a:off x="657860" y="1651000"/>
            <a:ext cx="10541000" cy="431800"/>
          </a:xfrm>
          <a:prstGeom prst="rect">
            <a:avLst/>
          </a:prstGeom>
          <a:noFill/>
          <a:ln/>
        </p:spPr>
        <p:txBody>
          <a:bodyPr wrap="square" lIns="0" tIns="0" rIns="0" bIns="0" rtlCol="0" anchor="t"/>
          <a:lstStyle/>
          <a:p>
            <a:pPr indent="0" marL="0">
              <a:buNone/>
            </a:pPr>
            <a:r>
              <a:rPr lang="en-US" sz="1250" dirty="0">
                <a:solidFill>
                  <a:srgbClr val="5B6378"/>
                </a:solidFill>
                <a:latin typeface="Segoe UI Semilight" pitchFamily="34" charset="0"/>
                <a:ea typeface="Segoe UI Semilight" pitchFamily="34" charset="-122"/>
                <a:cs typeface="Segoe UI Semilight" pitchFamily="34" charset="-120"/>
              </a:rPr>
              <a:t>Operate a live listing at volume. All nine services at every rung — volume, response time and reporting cadence set the rung.</a:t>
            </a:r>
            <a:endParaRPr lang="en-US" sz="1250" dirty="0"/>
          </a:p>
        </p:txBody>
      </p:sp>
      <p:sp>
        <p:nvSpPr>
          <p:cNvPr id="7" name="Text 3"/>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8" name="Text 4"/>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12 / 22</a:t>
            </a:r>
            <a:endParaRPr lang="en-US" sz="900" dirty="0"/>
          </a:p>
        </p:txBody>
      </p:sp>
      <p:sp>
        <p:nvSpPr>
          <p:cNvPr id="9" name="Text 5"/>
          <p:cNvSpPr txBox="1"/>
          <p:nvPr/>
        </p:nvSpPr>
        <p:spPr>
          <a:xfrm>
            <a:off x="657860" y="2019300"/>
            <a:ext cx="10871200" cy="177800"/>
          </a:xfrm>
          <a:prstGeom prst="rect">
            <a:avLst/>
          </a:prstGeom>
          <a:noFill/>
          <a:ln/>
        </p:spPr>
        <p:txBody>
          <a:bodyPr wrap="square" lIns="0" tIns="0" rIns="0" bIns="0" rtlCol="0" anchor="t"/>
          <a:lstStyle/>
          <a:p>
            <a:pPr indent="0" marL="0">
              <a:buNone/>
            </a:pPr>
            <a:r>
              <a:rPr lang="en-US" sz="850" dirty="0">
                <a:solidFill>
                  <a:srgbClr val="F36F20"/>
                </a:solidFill>
                <a:latin typeface="Segoe UI Semilight" pitchFamily="34" charset="0"/>
                <a:ea typeface="Segoe UI Semilight" pitchFamily="34" charset="-122"/>
                <a:cs typeface="Segoe UI Semilight" pitchFamily="34" charset="-120"/>
              </a:rPr>
              <a:t>ENTRY CONDITION — requires a published AWS Marketplace listing, delivered by the Accelerator or already in place.</a:t>
            </a:r>
            <a:endParaRPr lang="en-US" sz="850" dirty="0"/>
          </a:p>
        </p:txBody>
      </p:sp>
      <p:sp>
        <p:nvSpPr>
          <p:cNvPr id="10" name="Text 6"/>
          <p:cNvSpPr txBox="1"/>
          <p:nvPr/>
        </p:nvSpPr>
        <p:spPr>
          <a:xfrm>
            <a:off x="657860" y="2247900"/>
            <a:ext cx="10871200" cy="355600"/>
          </a:xfrm>
          <a:prstGeom prst="rect">
            <a:avLst/>
          </a:prstGeom>
          <a:noFill/>
          <a:ln/>
        </p:spPr>
        <p:txBody>
          <a:bodyPr wrap="square" lIns="0" tIns="0" rIns="0" bIns="0" rtlCol="0" anchor="ctr"/>
          <a:lstStyle/>
          <a:p>
            <a:pPr indent="0" marL="0">
              <a:buNone/>
            </a:pPr>
            <a:r>
              <a:rPr lang="en-US" sz="950" b="1" spc="110" kern="0" dirty="0">
                <a:solidFill>
                  <a:srgbClr val="F36F20"/>
                </a:solidFill>
                <a:latin typeface="Segoe UI" pitchFamily="34" charset="0"/>
                <a:ea typeface="Segoe UI" pitchFamily="34" charset="-122"/>
                <a:cs typeface="Segoe UI" pitchFamily="34" charset="-120"/>
              </a:rPr>
              <a:t>WE COMMIT   </a:t>
            </a:r>
            <a:pPr indent="0" marL="0">
              <a:buNone/>
            </a:pPr>
            <a:r>
              <a:rPr lang="en-US" sz="950" dirty="0">
                <a:solidFill>
                  <a:srgbClr val="5B6378"/>
                </a:solidFill>
                <a:latin typeface="Segoe UI Semilight" pitchFamily="34" charset="0"/>
                <a:ea typeface="Segoe UI Semilight" pitchFamily="34" charset="-122"/>
                <a:cs typeface="Segoe UI Semilight" pitchFamily="34" charset="-120"/>
              </a:rPr>
              <a:t>A named operations owner running the listing to a written service level issued at onboarding, twelve monthly operating packs, and an annual state-of-the-listing review.</a:t>
            </a:r>
            <a:endParaRPr lang="en-US" sz="950" dirty="0"/>
          </a:p>
        </p:txBody>
      </p:sp>
      <p:sp>
        <p:nvSpPr>
          <p:cNvPr id="11" name="Text 7"/>
          <p:cNvSpPr txBox="1"/>
          <p:nvPr/>
        </p:nvSpPr>
        <p:spPr>
          <a:xfrm>
            <a:off x="657860" y="2603500"/>
            <a:ext cx="10871200" cy="203200"/>
          </a:xfrm>
          <a:prstGeom prst="rect">
            <a:avLst/>
          </a:prstGeom>
          <a:noFill/>
          <a:ln/>
        </p:spPr>
        <p:txBody>
          <a:bodyPr wrap="square" lIns="0" tIns="0" rIns="0" bIns="0" rtlCol="0" anchor="ctr"/>
          <a:lstStyle/>
          <a:p>
            <a:pPr indent="0" marL="0">
              <a:buNone/>
            </a:pPr>
            <a:r>
              <a:rPr lang="en-US" sz="950" b="1" spc="110" kern="0" dirty="0">
                <a:solidFill>
                  <a:srgbClr val="9AA2B5"/>
                </a:solidFill>
                <a:latin typeface="Segoe UI" pitchFamily="34" charset="0"/>
                <a:ea typeface="Segoe UI" pitchFamily="34" charset="-122"/>
                <a:cs typeface="Segoe UI" pitchFamily="34" charset="-120"/>
              </a:rPr>
              <a:t>WE TARGET   </a:t>
            </a:r>
            <a:pPr indent="0" marL="0">
              <a:buNone/>
            </a:pPr>
            <a:r>
              <a:rPr lang="en-US" sz="950" dirty="0">
                <a:solidFill>
                  <a:srgbClr val="9AA2B5"/>
                </a:solidFill>
                <a:latin typeface="Segoe UI Semilight" pitchFamily="34" charset="0"/>
                <a:ea typeface="Segoe UI Semilight" pitchFamily="34" charset="-122"/>
                <a:cs typeface="Segoe UI Semilight" pitchFamily="34" charset="-120"/>
              </a:rPr>
              <a:t>Transacting subscriptions, renewal rate, and Marketplace-transacted revenue.</a:t>
            </a:r>
            <a:endParaRPr lang="en-US" sz="950" dirty="0"/>
          </a:p>
        </p:txBody>
      </p:sp>
      <p:sp>
        <p:nvSpPr>
          <p:cNvPr id="12" name="Text 8"/>
          <p:cNvSpPr txBox="1"/>
          <p:nvPr/>
        </p:nvSpPr>
        <p:spPr>
          <a:xfrm>
            <a:off x="657860" y="2895600"/>
            <a:ext cx="3479800" cy="203200"/>
          </a:xfrm>
          <a:prstGeom prst="rect">
            <a:avLst/>
          </a:prstGeom>
          <a:noFill/>
          <a:ln/>
        </p:spPr>
        <p:txBody>
          <a:bodyPr wrap="square" lIns="0" tIns="0" rIns="0" bIns="0" rtlCol="0" anchor="ctr"/>
          <a:lstStyle/>
          <a:p>
            <a:pPr indent="0" marL="0">
              <a:buNone/>
            </a:pPr>
            <a:r>
              <a:rPr lang="en-US" sz="1200" b="1" dirty="0">
                <a:solidFill>
                  <a:srgbClr val="15224B"/>
                </a:solidFill>
                <a:latin typeface="Segoe UI" pitchFamily="34" charset="0"/>
                <a:ea typeface="Segoe UI" pitchFamily="34" charset="-122"/>
                <a:cs typeface="Segoe UI" pitchFamily="34" charset="-120"/>
              </a:rPr>
              <a:t>Launch</a:t>
            </a:r>
            <a:pPr indent="0" marL="0">
              <a:buNone/>
            </a:pPr>
            <a:r>
              <a:rPr lang="en-US" sz="1200" b="1" dirty="0">
                <a:solidFill>
                  <a:srgbClr val="F36F20"/>
                </a:solidFill>
                <a:latin typeface="Segoe UI" pitchFamily="34" charset="0"/>
                <a:ea typeface="Segoe UI" pitchFamily="34" charset="-122"/>
                <a:cs typeface="Segoe UI" pitchFamily="34" charset="-120"/>
              </a:rPr>
              <a:t>   $2,500 / mo</a:t>
            </a:r>
            <a:endParaRPr lang="en-US" sz="1200" dirty="0"/>
          </a:p>
        </p:txBody>
      </p:sp>
      <p:sp>
        <p:nvSpPr>
          <p:cNvPr id="13" name="Text 9"/>
          <p:cNvSpPr txBox="1"/>
          <p:nvPr/>
        </p:nvSpPr>
        <p:spPr>
          <a:xfrm>
            <a:off x="657860" y="3136900"/>
            <a:ext cx="3479800" cy="330200"/>
          </a:xfrm>
          <a:prstGeom prst="rect">
            <a:avLst/>
          </a:prstGeom>
          <a:noFill/>
          <a:ln/>
        </p:spPr>
        <p:txBody>
          <a:bodyPr wrap="square" lIns="0" tIns="0" rIns="0" bIns="0" rtlCol="0" anchor="t"/>
          <a:lstStyle/>
          <a:p>
            <a:pPr indent="0" marL="0">
              <a:buNone/>
            </a:pPr>
            <a:r>
              <a:rPr lang="en-US" sz="850" dirty="0">
                <a:solidFill>
                  <a:srgbClr val="2E7CC4"/>
                </a:solidFill>
                <a:latin typeface="Segoe UI Semilight" pitchFamily="34" charset="0"/>
                <a:ea typeface="Segoe UI Semilight" pitchFamily="34" charset="-122"/>
                <a:cs typeface="Segoe UI Semilight" pitchFamily="34" charset="-120"/>
              </a:rPr>
              <a:t>Get it transacting.</a:t>
            </a:r>
            <a:endParaRPr lang="en-US" sz="850" dirty="0"/>
          </a:p>
        </p:txBody>
      </p:sp>
      <p:sp>
        <p:nvSpPr>
          <p:cNvPr id="14" name="Text 10"/>
          <p:cNvSpPr txBox="1"/>
          <p:nvPr/>
        </p:nvSpPr>
        <p:spPr>
          <a:xfrm>
            <a:off x="657860" y="3352800"/>
            <a:ext cx="3479800" cy="152400"/>
          </a:xfrm>
          <a:prstGeom prst="rect">
            <a:avLst/>
          </a:prstGeom>
          <a:noFill/>
          <a:ln/>
        </p:spPr>
        <p:txBody>
          <a:bodyPr wrap="square" lIns="0" tIns="0" rIns="0" bIns="0" rtlCol="0" anchor="t"/>
          <a:lstStyle/>
          <a:p>
            <a:pPr indent="0" marL="0">
              <a:buNone/>
            </a:pPr>
            <a:r>
              <a:rPr lang="en-US" sz="800" b="1" spc="110" kern="0" dirty="0">
                <a:solidFill>
                  <a:srgbClr val="F36F20"/>
                </a:solidFill>
                <a:latin typeface="Segoe UI" pitchFamily="34" charset="0"/>
                <a:ea typeface="Segoe UI" pitchFamily="34" charset="-122"/>
                <a:cs typeface="Segoe UI" pitchFamily="34" charset="-120"/>
              </a:rPr>
              <a:t>WE COMMIT</a:t>
            </a:r>
            <a:endParaRPr lang="en-US" sz="800" dirty="0"/>
          </a:p>
        </p:txBody>
      </p:sp>
      <p:sp>
        <p:nvSpPr>
          <p:cNvPr id="15" name="Text 11"/>
          <p:cNvSpPr txBox="1"/>
          <p:nvPr/>
        </p:nvSpPr>
        <p:spPr>
          <a:xfrm>
            <a:off x="657860" y="3530600"/>
            <a:ext cx="3479800" cy="13462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Named operations owner with a named backup; desk open [coverage hours, time zone]</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Offers drafted and submitted to Automatum for issue within [N] business days of a complete request; up to [N] a month, further at [$X]</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Listing configuration changes submitted to AWS within [N] business days</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Monthly operating report on a fixed date, reconciled against AWS statements as published</a:t>
            </a:r>
            <a:endParaRPr lang="en-US" sz="780" dirty="0"/>
          </a:p>
        </p:txBody>
      </p:sp>
      <p:sp>
        <p:nvSpPr>
          <p:cNvPr id="16" name="Text 12"/>
          <p:cNvSpPr txBox="1"/>
          <p:nvPr/>
        </p:nvSpPr>
        <p:spPr>
          <a:xfrm>
            <a:off x="657860" y="4927600"/>
            <a:ext cx="3479800" cy="152400"/>
          </a:xfrm>
          <a:prstGeom prst="rect">
            <a:avLst/>
          </a:prstGeom>
          <a:noFill/>
          <a:ln/>
        </p:spPr>
        <p:txBody>
          <a:bodyPr wrap="square" lIns="0" tIns="0" rIns="0" bIns="0" rtlCol="0" anchor="t"/>
          <a:lstStyle/>
          <a:p>
            <a:pPr indent="0" marL="0">
              <a:buNone/>
            </a:pPr>
            <a:r>
              <a:rPr lang="en-US" sz="800" b="1" spc="110" kern="0" dirty="0">
                <a:solidFill>
                  <a:srgbClr val="9AA2B5"/>
                </a:solidFill>
                <a:latin typeface="Segoe UI" pitchFamily="34" charset="0"/>
                <a:ea typeface="Segoe UI" pitchFamily="34" charset="-122"/>
                <a:cs typeface="Segoe UI" pitchFamily="34" charset="-120"/>
              </a:rPr>
              <a:t>WE TARGET</a:t>
            </a:r>
            <a:endParaRPr lang="en-US" sz="800" dirty="0"/>
          </a:p>
        </p:txBody>
      </p:sp>
      <p:sp>
        <p:nvSpPr>
          <p:cNvPr id="17" name="Text 13"/>
          <p:cNvSpPr txBox="1"/>
          <p:nvPr/>
        </p:nvSpPr>
        <p:spPr>
          <a:xfrm>
            <a:off x="657860" y="5105400"/>
            <a:ext cx="3479800" cy="6350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First offer issued and accepted within [N] days of onboarding</a:t>
            </a:r>
            <a:endParaRPr lang="en-US" sz="780" dirty="0"/>
          </a:p>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[N] transacting subscriptions by month twelve</a:t>
            </a:r>
            <a:endParaRPr lang="en-US" sz="780" dirty="0"/>
          </a:p>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Reconciliation complete with no open exception</a:t>
            </a:r>
            <a:endParaRPr lang="en-US" sz="780" dirty="0"/>
          </a:p>
        </p:txBody>
      </p:sp>
      <p:sp>
        <p:nvSpPr>
          <p:cNvPr id="18" name="Text 14"/>
          <p:cNvSpPr txBox="1"/>
          <p:nvPr/>
        </p:nvSpPr>
        <p:spPr>
          <a:xfrm>
            <a:off x="4391660" y="2895600"/>
            <a:ext cx="3479800" cy="203200"/>
          </a:xfrm>
          <a:prstGeom prst="rect">
            <a:avLst/>
          </a:prstGeom>
          <a:noFill/>
          <a:ln/>
        </p:spPr>
        <p:txBody>
          <a:bodyPr wrap="square" lIns="0" tIns="0" rIns="0" bIns="0" rtlCol="0" anchor="ctr"/>
          <a:lstStyle/>
          <a:p>
            <a:pPr indent="0" marL="0">
              <a:buNone/>
            </a:pPr>
            <a:r>
              <a:rPr lang="en-US" sz="1200" b="1" dirty="0">
                <a:solidFill>
                  <a:srgbClr val="15224B"/>
                </a:solidFill>
                <a:latin typeface="Segoe UI" pitchFamily="34" charset="0"/>
                <a:ea typeface="Segoe UI" pitchFamily="34" charset="-122"/>
                <a:cs typeface="Segoe UI" pitchFamily="34" charset="-120"/>
              </a:rPr>
              <a:t>Operate</a:t>
            </a:r>
            <a:pPr indent="0" marL="0">
              <a:buNone/>
            </a:pPr>
            <a:r>
              <a:rPr lang="en-US" sz="1200" b="1" dirty="0">
                <a:solidFill>
                  <a:srgbClr val="F36F20"/>
                </a:solidFill>
                <a:latin typeface="Segoe UI" pitchFamily="34" charset="0"/>
                <a:ea typeface="Segoe UI" pitchFamily="34" charset="-122"/>
                <a:cs typeface="Segoe UI" pitchFamily="34" charset="-120"/>
              </a:rPr>
              <a:t>   $5,000 / mo</a:t>
            </a:r>
            <a:endParaRPr lang="en-US" sz="1200" dirty="0"/>
          </a:p>
        </p:txBody>
      </p:sp>
      <p:sp>
        <p:nvSpPr>
          <p:cNvPr id="19" name="Text 15"/>
          <p:cNvSpPr txBox="1"/>
          <p:nvPr/>
        </p:nvSpPr>
        <p:spPr>
          <a:xfrm>
            <a:off x="4391660" y="3136900"/>
            <a:ext cx="3479800" cy="330200"/>
          </a:xfrm>
          <a:prstGeom prst="rect">
            <a:avLst/>
          </a:prstGeom>
          <a:noFill/>
          <a:ln/>
        </p:spPr>
        <p:txBody>
          <a:bodyPr wrap="square" lIns="0" tIns="0" rIns="0" bIns="0" rtlCol="0" anchor="t"/>
          <a:lstStyle/>
          <a:p>
            <a:pPr indent="0" marL="0">
              <a:buNone/>
            </a:pPr>
            <a:r>
              <a:rPr lang="en-US" sz="850" dirty="0">
                <a:solidFill>
                  <a:srgbClr val="2E7CC4"/>
                </a:solidFill>
                <a:latin typeface="Segoe UI Semilight" pitchFamily="34" charset="0"/>
                <a:ea typeface="Segoe UI Semilight" pitchFamily="34" charset="-122"/>
                <a:cs typeface="Segoe UI Semilight" pitchFamily="34" charset="-120"/>
              </a:rPr>
              <a:t>Adds depth — run it on a tighter cadence.</a:t>
            </a:r>
            <a:endParaRPr lang="en-US" sz="850" dirty="0"/>
          </a:p>
        </p:txBody>
      </p:sp>
      <p:sp>
        <p:nvSpPr>
          <p:cNvPr id="20" name="Text 16"/>
          <p:cNvSpPr txBox="1"/>
          <p:nvPr/>
        </p:nvSpPr>
        <p:spPr>
          <a:xfrm>
            <a:off x="4391660" y="3352800"/>
            <a:ext cx="3479800" cy="152400"/>
          </a:xfrm>
          <a:prstGeom prst="rect">
            <a:avLst/>
          </a:prstGeom>
          <a:noFill/>
          <a:ln/>
        </p:spPr>
        <p:txBody>
          <a:bodyPr wrap="square" lIns="0" tIns="0" rIns="0" bIns="0" rtlCol="0" anchor="t"/>
          <a:lstStyle/>
          <a:p>
            <a:pPr indent="0" marL="0">
              <a:buNone/>
            </a:pPr>
            <a:r>
              <a:rPr lang="en-US" sz="800" b="1" spc="110" kern="0" dirty="0">
                <a:solidFill>
                  <a:srgbClr val="F36F20"/>
                </a:solidFill>
                <a:latin typeface="Segoe UI" pitchFamily="34" charset="0"/>
                <a:ea typeface="Segoe UI" pitchFamily="34" charset="-122"/>
                <a:cs typeface="Segoe UI" pitchFamily="34" charset="-120"/>
              </a:rPr>
              <a:t>WE COMMIT</a:t>
            </a:r>
            <a:endParaRPr lang="en-US" sz="800" dirty="0"/>
          </a:p>
        </p:txBody>
      </p:sp>
      <p:sp>
        <p:nvSpPr>
          <p:cNvPr id="21" name="Text 17"/>
          <p:cNvSpPr txBox="1"/>
          <p:nvPr/>
        </p:nvSpPr>
        <p:spPr>
          <a:xfrm>
            <a:off x="4391660" y="3530600"/>
            <a:ext cx="3479800" cy="13462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Higher band: up to [N] offers a month; integration exceptions listed monthly and cleared within [N] business days</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Weekly offer-desk stand-up with the customer’s named sales lead, with written actions</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Expiry watch: every agreement flagged [N] days out with a renewal offer drafted</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AWS-mandated changes assessed within [N] business days of notice, with an implementation plan issued</a:t>
            </a:r>
            <a:endParaRPr lang="en-US" sz="780" dirty="0"/>
          </a:p>
        </p:txBody>
      </p:sp>
      <p:sp>
        <p:nvSpPr>
          <p:cNvPr id="22" name="Text 18"/>
          <p:cNvSpPr txBox="1"/>
          <p:nvPr/>
        </p:nvSpPr>
        <p:spPr>
          <a:xfrm>
            <a:off x="4391660" y="4927600"/>
            <a:ext cx="3479800" cy="152400"/>
          </a:xfrm>
          <a:prstGeom prst="rect">
            <a:avLst/>
          </a:prstGeom>
          <a:noFill/>
          <a:ln/>
        </p:spPr>
        <p:txBody>
          <a:bodyPr wrap="square" lIns="0" tIns="0" rIns="0" bIns="0" rtlCol="0" anchor="t"/>
          <a:lstStyle/>
          <a:p>
            <a:pPr indent="0" marL="0">
              <a:buNone/>
            </a:pPr>
            <a:r>
              <a:rPr lang="en-US" sz="800" b="1" spc="110" kern="0" dirty="0">
                <a:solidFill>
                  <a:srgbClr val="9AA2B5"/>
                </a:solidFill>
                <a:latin typeface="Segoe UI" pitchFamily="34" charset="0"/>
                <a:ea typeface="Segoe UI" pitchFamily="34" charset="-122"/>
                <a:cs typeface="Segoe UI" pitchFamily="34" charset="-120"/>
              </a:rPr>
              <a:t>WE TARGET</a:t>
            </a:r>
            <a:endParaRPr lang="en-US" sz="800" dirty="0"/>
          </a:p>
        </p:txBody>
      </p:sp>
      <p:sp>
        <p:nvSpPr>
          <p:cNvPr id="23" name="Text 19"/>
          <p:cNvSpPr txBox="1"/>
          <p:nvPr/>
        </p:nvSpPr>
        <p:spPr>
          <a:xfrm>
            <a:off x="4391660" y="5105400"/>
            <a:ext cx="3479800" cy="6350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[N] offers issued per quarter</a:t>
            </a:r>
            <a:endParaRPr lang="en-US" sz="780" dirty="0"/>
          </a:p>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[X]% of expiring agreements renewed</a:t>
            </a:r>
            <a:endParaRPr lang="en-US" sz="780" dirty="0"/>
          </a:p>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Changes landed before AWS’s stated deadline</a:t>
            </a:r>
            <a:endParaRPr lang="en-US" sz="780" dirty="0"/>
          </a:p>
        </p:txBody>
      </p:sp>
      <p:sp>
        <p:nvSpPr>
          <p:cNvPr id="24" name="Text 20"/>
          <p:cNvSpPr txBox="1"/>
          <p:nvPr/>
        </p:nvSpPr>
        <p:spPr>
          <a:xfrm>
            <a:off x="8125460" y="2895600"/>
            <a:ext cx="3479800" cy="203200"/>
          </a:xfrm>
          <a:prstGeom prst="rect">
            <a:avLst/>
          </a:prstGeom>
          <a:noFill/>
          <a:ln/>
        </p:spPr>
        <p:txBody>
          <a:bodyPr wrap="square" lIns="0" tIns="0" rIns="0" bIns="0" rtlCol="0" anchor="ctr"/>
          <a:lstStyle/>
          <a:p>
            <a:pPr indent="0" marL="0">
              <a:buNone/>
            </a:pPr>
            <a:r>
              <a:rPr lang="en-US" sz="1200" b="1" dirty="0">
                <a:solidFill>
                  <a:srgbClr val="15224B"/>
                </a:solidFill>
                <a:latin typeface="Segoe UI" pitchFamily="34" charset="0"/>
                <a:ea typeface="Segoe UI" pitchFamily="34" charset="-122"/>
                <a:cs typeface="Segoe UI" pitchFamily="34" charset="-120"/>
              </a:rPr>
              <a:t>Scale</a:t>
            </a:r>
            <a:pPr indent="0" marL="0">
              <a:buNone/>
            </a:pPr>
            <a:r>
              <a:rPr lang="en-US" sz="1200" b="1" dirty="0">
                <a:solidFill>
                  <a:srgbClr val="F36F20"/>
                </a:solidFill>
                <a:latin typeface="Segoe UI" pitchFamily="34" charset="0"/>
                <a:ea typeface="Segoe UI" pitchFamily="34" charset="-122"/>
                <a:cs typeface="Segoe UI" pitchFamily="34" charset="-120"/>
              </a:rPr>
              <a:t>   $7,500 / mo</a:t>
            </a:r>
            <a:endParaRPr lang="en-US" sz="1200" dirty="0"/>
          </a:p>
        </p:txBody>
      </p:sp>
      <p:sp>
        <p:nvSpPr>
          <p:cNvPr id="25" name="Text 21"/>
          <p:cNvSpPr txBox="1"/>
          <p:nvPr/>
        </p:nvSpPr>
        <p:spPr>
          <a:xfrm>
            <a:off x="8125460" y="3136900"/>
            <a:ext cx="3479800" cy="330200"/>
          </a:xfrm>
          <a:prstGeom prst="rect">
            <a:avLst/>
          </a:prstGeom>
          <a:noFill/>
          <a:ln/>
        </p:spPr>
        <p:txBody>
          <a:bodyPr wrap="square" lIns="0" tIns="0" rIns="0" bIns="0" rtlCol="0" anchor="t"/>
          <a:lstStyle/>
          <a:p>
            <a:pPr indent="0" marL="0">
              <a:buNone/>
            </a:pPr>
            <a:r>
              <a:rPr lang="en-US" sz="850" dirty="0">
                <a:solidFill>
                  <a:srgbClr val="2E7CC4"/>
                </a:solidFill>
                <a:latin typeface="Segoe UI Semilight" pitchFamily="34" charset="0"/>
                <a:ea typeface="Segoe UI Semilight" pitchFamily="34" charset="-122"/>
                <a:cs typeface="Segoe UI Semilight" pitchFamily="34" charset="-120"/>
              </a:rPr>
              <a:t>Adds depth — run it at volume.</a:t>
            </a:r>
            <a:endParaRPr lang="en-US" sz="850" dirty="0"/>
          </a:p>
        </p:txBody>
      </p:sp>
      <p:sp>
        <p:nvSpPr>
          <p:cNvPr id="26" name="Text 22"/>
          <p:cNvSpPr txBox="1"/>
          <p:nvPr/>
        </p:nvSpPr>
        <p:spPr>
          <a:xfrm>
            <a:off x="8125460" y="3352800"/>
            <a:ext cx="3479800" cy="152400"/>
          </a:xfrm>
          <a:prstGeom prst="rect">
            <a:avLst/>
          </a:prstGeom>
          <a:noFill/>
          <a:ln/>
        </p:spPr>
        <p:txBody>
          <a:bodyPr wrap="square" lIns="0" tIns="0" rIns="0" bIns="0" rtlCol="0" anchor="t"/>
          <a:lstStyle/>
          <a:p>
            <a:pPr indent="0" marL="0">
              <a:buNone/>
            </a:pPr>
            <a:r>
              <a:rPr lang="en-US" sz="800" b="1" spc="110" kern="0" dirty="0">
                <a:solidFill>
                  <a:srgbClr val="F36F20"/>
                </a:solidFill>
                <a:latin typeface="Segoe UI" pitchFamily="34" charset="0"/>
                <a:ea typeface="Segoe UI" pitchFamily="34" charset="-122"/>
                <a:cs typeface="Segoe UI" pitchFamily="34" charset="-120"/>
              </a:rPr>
              <a:t>WE COMMIT</a:t>
            </a:r>
            <a:endParaRPr lang="en-US" sz="800" dirty="0"/>
          </a:p>
        </p:txBody>
      </p:sp>
      <p:sp>
        <p:nvSpPr>
          <p:cNvPr id="27" name="Text 23"/>
          <p:cNvSpPr txBox="1"/>
          <p:nvPr/>
        </p:nvSpPr>
        <p:spPr>
          <a:xfrm>
            <a:off x="8125460" y="3530600"/>
            <a:ext cx="3479800" cy="13462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Top band: up to [N] offers a month; same-day drafting and submission for standard offers received before [cut-off time]</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Coverage extended to [window, time zone] — this rung’s increment is coverage and response band</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Weekly reporting; monthly reconciliation with every variance explained in writing</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Quarterly listing engineering review delivered as a written change plan</a:t>
            </a:r>
            <a:endParaRPr lang="en-US" sz="780" dirty="0"/>
          </a:p>
        </p:txBody>
      </p:sp>
      <p:sp>
        <p:nvSpPr>
          <p:cNvPr id="28" name="Text 24"/>
          <p:cNvSpPr txBox="1"/>
          <p:nvPr/>
        </p:nvSpPr>
        <p:spPr>
          <a:xfrm>
            <a:off x="8125460" y="4927600"/>
            <a:ext cx="3479800" cy="152400"/>
          </a:xfrm>
          <a:prstGeom prst="rect">
            <a:avLst/>
          </a:prstGeom>
          <a:noFill/>
          <a:ln/>
        </p:spPr>
        <p:txBody>
          <a:bodyPr wrap="square" lIns="0" tIns="0" rIns="0" bIns="0" rtlCol="0" anchor="t"/>
          <a:lstStyle/>
          <a:p>
            <a:pPr indent="0" marL="0">
              <a:buNone/>
            </a:pPr>
            <a:r>
              <a:rPr lang="en-US" sz="800" b="1" spc="110" kern="0" dirty="0">
                <a:solidFill>
                  <a:srgbClr val="9AA2B5"/>
                </a:solidFill>
                <a:latin typeface="Segoe UI" pitchFamily="34" charset="0"/>
                <a:ea typeface="Segoe UI" pitchFamily="34" charset="-122"/>
                <a:cs typeface="Segoe UI" pitchFamily="34" charset="-120"/>
              </a:rPr>
              <a:t>WE TARGET</a:t>
            </a:r>
            <a:endParaRPr lang="en-US" sz="800" dirty="0"/>
          </a:p>
        </p:txBody>
      </p:sp>
      <p:sp>
        <p:nvSpPr>
          <p:cNvPr id="29" name="Text 25"/>
          <p:cNvSpPr txBox="1"/>
          <p:nvPr/>
        </p:nvSpPr>
        <p:spPr>
          <a:xfrm>
            <a:off x="8125460" y="5105400"/>
            <a:ext cx="3479800" cy="6350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A desk running at [N]+ offers a month</a:t>
            </a:r>
            <a:endParaRPr lang="en-US" sz="780" dirty="0"/>
          </a:p>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[$X] Marketplace-transacted revenue over the term</a:t>
            </a:r>
            <a:endParaRPr lang="en-US" sz="780" dirty="0"/>
          </a:p>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[X]% of revenue reconciled with no open exception</a:t>
            </a:r>
            <a:endParaRPr lang="en-US" sz="780" dirty="0"/>
          </a:p>
        </p:txBody>
      </p:sp>
      <p:sp>
        <p:nvSpPr>
          <p:cNvPr id="30" name="Shape 26"/>
          <p:cNvSpPr/>
          <p:nvPr/>
        </p:nvSpPr>
        <p:spPr>
          <a:xfrm>
            <a:off x="566420" y="5760720"/>
            <a:ext cx="11057890" cy="566420"/>
          </a:xfrm>
          <a:prstGeom prst="roundRect">
            <a:avLst>
              <a:gd name="adj" fmla="val 22601"/>
            </a:avLst>
          </a:prstGeom>
          <a:solidFill>
            <a:srgbClr val="15224B"/>
          </a:solidFill>
          <a:ln/>
        </p:spPr>
      </p:sp>
      <p:sp>
        <p:nvSpPr>
          <p:cNvPr id="31" name="Text 27"/>
          <p:cNvSpPr txBox="1"/>
          <p:nvPr/>
        </p:nvSpPr>
        <p:spPr>
          <a:xfrm>
            <a:off x="838200" y="5867400"/>
            <a:ext cx="10541000" cy="355600"/>
          </a:xfrm>
          <a:prstGeom prst="rect">
            <a:avLst/>
          </a:prstGeom>
          <a:noFill/>
          <a:ln/>
        </p:spPr>
        <p:txBody>
          <a:bodyPr wrap="square" lIns="0" tIns="0" rIns="0" bIns="0" rtlCol="0" anchor="ctr"/>
          <a:lstStyle/>
          <a:p>
            <a:pPr indent="0" marL="0">
              <a:buNone/>
            </a:pPr>
            <a:r>
              <a:rPr lang="en-US" sz="1050" b="1" spc="110" kern="0" dirty="0">
                <a:solidFill>
                  <a:srgbClr val="F36F20"/>
                </a:solidFill>
                <a:latin typeface="Segoe UI" pitchFamily="34" charset="0"/>
                <a:ea typeface="Segoe UI" pitchFamily="34" charset="-122"/>
                <a:cs typeface="Segoe UI" pitchFamily="34" charset="-120"/>
              </a:rPr>
              <a:t>NOTE</a:t>
            </a:r>
            <a:pPr indent="0" marL="0">
              <a:buNone/>
            </a:pPr>
            <a:r>
              <a:rPr lang="en-US" sz="1050" dirty="0">
                <a:solidFill>
                  <a:srgbClr val="D7E1F5"/>
                </a:solidFill>
                <a:latin typeface="Segoe UI Semilight" pitchFamily="34" charset="0"/>
                <a:ea typeface="Segoe UI Semilight" pitchFamily="34" charset="-122"/>
                <a:cs typeface="Segoe UI Semilight" pitchFamily="34" charset="-120"/>
              </a:rPr>
              <a:t>    Offer issue turnaround is committed only where Automatum’s matching internal turnaround is in place. Selling authorizations and partner-issued offers sit in Managed Partner Development.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ome/user/barberbook/docs/deck/assets/bg_cont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eyebrow_p12.png">    </p:cNvPr>
          <p:cNvPicPr>
            <a:picLocks noChangeAspect="1"/>
          </p:cNvPicPr>
          <p:nvPr/>
        </p:nvPicPr>
        <p:blipFill>
          <a:blip r:embed="rId2"/>
          <a:stretch>
            <a:fillRect/>
          </a:stretch>
        </p:blipFill>
        <p:spPr>
          <a:xfrm>
            <a:off x="566420" y="474980"/>
            <a:ext cx="256540" cy="256540"/>
          </a:xfrm>
          <a:prstGeom prst="rect">
            <a:avLst/>
          </a:prstGeom>
        </p:spPr>
      </p:pic>
      <p:sp>
        <p:nvSpPr>
          <p:cNvPr id="4" name="Text 0"/>
          <p:cNvSpPr txBox="1"/>
          <p:nvPr/>
        </p:nvSpPr>
        <p:spPr>
          <a:xfrm>
            <a:off x="1023620" y="501650"/>
            <a:ext cx="6350000" cy="228600"/>
          </a:xfrm>
          <a:prstGeom prst="rect">
            <a:avLst/>
          </a:prstGeom>
          <a:noFill/>
          <a:ln/>
        </p:spPr>
        <p:txBody>
          <a:bodyPr wrap="square" lIns="0" tIns="0" rIns="0" bIns="0" rtlCol="0" anchor="t"/>
          <a:lstStyle/>
          <a:p>
            <a:pPr indent="0" marL="0">
              <a:buNone/>
            </a:pPr>
            <a:r>
              <a:rPr lang="en-US" sz="1150" b="1" spc="160" kern="0" dirty="0">
                <a:solidFill>
                  <a:srgbClr val="2E7CC4"/>
                </a:solidFill>
                <a:latin typeface="Segoe UI" pitchFamily="34" charset="0"/>
                <a:ea typeface="Segoe UI" pitchFamily="34" charset="-122"/>
                <a:cs typeface="Segoe UI" pitchFamily="34" charset="-120"/>
              </a:rPr>
              <a:t>RETAINER · TWELVE MONTHS</a:t>
            </a:r>
            <a:endParaRPr lang="en-US" sz="1150" dirty="0"/>
          </a:p>
        </p:txBody>
      </p:sp>
      <p:sp>
        <p:nvSpPr>
          <p:cNvPr id="5" name="Text 1"/>
          <p:cNvSpPr txBox="1"/>
          <p:nvPr/>
        </p:nvSpPr>
        <p:spPr>
          <a:xfrm>
            <a:off x="657860" y="939800"/>
            <a:ext cx="10922000" cy="508000"/>
          </a:xfrm>
          <a:prstGeom prst="rect">
            <a:avLst/>
          </a:prstGeom>
          <a:noFill/>
          <a:ln/>
        </p:spPr>
        <p:txBody>
          <a:bodyPr wrap="square" lIns="0" tIns="0" rIns="0" bIns="0" rtlCol="0" anchor="t"/>
          <a:lstStyle/>
          <a:p>
            <a:pPr indent="0" marL="0">
              <a:buNone/>
            </a:pPr>
            <a:r>
              <a:rPr lang="en-US" sz="2500" b="1" dirty="0">
                <a:solidFill>
                  <a:srgbClr val="15224B"/>
                </a:solidFill>
                <a:latin typeface="Segoe UI" pitchFamily="34" charset="0"/>
                <a:ea typeface="Segoe UI" pitchFamily="34" charset="-122"/>
                <a:cs typeface="Segoe UI" pitchFamily="34" charset="-120"/>
              </a:rPr>
              <a:t>Managed Partner Development</a:t>
            </a:r>
            <a:endParaRPr lang="en-US" sz="2500" dirty="0"/>
          </a:p>
        </p:txBody>
      </p:sp>
      <p:sp>
        <p:nvSpPr>
          <p:cNvPr id="6" name="Text 2"/>
          <p:cNvSpPr txBox="1"/>
          <p:nvPr/>
        </p:nvSpPr>
        <p:spPr>
          <a:xfrm>
            <a:off x="657860" y="1651000"/>
            <a:ext cx="10541000" cy="431800"/>
          </a:xfrm>
          <a:prstGeom prst="rect">
            <a:avLst/>
          </a:prstGeom>
          <a:noFill/>
          <a:ln/>
        </p:spPr>
        <p:txBody>
          <a:bodyPr wrap="square" lIns="0" tIns="0" rIns="0" bIns="0" rtlCol="0" anchor="t"/>
          <a:lstStyle/>
          <a:p>
            <a:pPr indent="0" marL="0">
              <a:buNone/>
            </a:pPr>
            <a:r>
              <a:rPr lang="en-US" sz="1250" dirty="0">
                <a:solidFill>
                  <a:srgbClr val="5B6378"/>
                </a:solidFill>
                <a:latin typeface="Segoe UI Semilight" pitchFamily="34" charset="0"/>
                <a:ea typeface="Segoe UI Semilight" pitchFamily="34" charset="-122"/>
                <a:cs typeface="Segoe UI Semilight" pitchFamily="34" charset="-120"/>
              </a:rPr>
              <a:t>Build and run a reseller channel. The headline number is partners issuing offers — not roster size.</a:t>
            </a:r>
            <a:endParaRPr lang="en-US" sz="1250" dirty="0"/>
          </a:p>
        </p:txBody>
      </p:sp>
      <p:sp>
        <p:nvSpPr>
          <p:cNvPr id="7" name="Text 3"/>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8" name="Text 4"/>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13 / 22</a:t>
            </a:r>
            <a:endParaRPr lang="en-US" sz="900" dirty="0"/>
          </a:p>
        </p:txBody>
      </p:sp>
      <p:sp>
        <p:nvSpPr>
          <p:cNvPr id="9" name="Text 5"/>
          <p:cNvSpPr txBox="1"/>
          <p:nvPr/>
        </p:nvSpPr>
        <p:spPr>
          <a:xfrm>
            <a:off x="657860" y="2019300"/>
            <a:ext cx="10871200" cy="177800"/>
          </a:xfrm>
          <a:prstGeom prst="rect">
            <a:avLst/>
          </a:prstGeom>
          <a:noFill/>
          <a:ln/>
        </p:spPr>
        <p:txBody>
          <a:bodyPr wrap="square" lIns="0" tIns="0" rIns="0" bIns="0" rtlCol="0" anchor="t"/>
          <a:lstStyle/>
          <a:p>
            <a:pPr indent="0" marL="0">
              <a:buNone/>
            </a:pPr>
            <a:r>
              <a:rPr lang="en-US" sz="850" dirty="0">
                <a:solidFill>
                  <a:srgbClr val="F36F20"/>
                </a:solidFill>
                <a:latin typeface="Segoe UI Semilight" pitchFamily="34" charset="0"/>
                <a:ea typeface="Segoe UI Semilight" pitchFamily="34" charset="-122"/>
                <a:cs typeface="Segoe UI Semilight" pitchFamily="34" charset="-120"/>
              </a:rPr>
              <a:t>[CONFIRM WITH AUTOMATUM — can a third-party reseller issue offers against Automatum’s listing under its seller-of-record position, and by what mechanism? The scoreboard below rests on it.]</a:t>
            </a:r>
            <a:endParaRPr lang="en-US" sz="850" dirty="0"/>
          </a:p>
        </p:txBody>
      </p:sp>
      <p:sp>
        <p:nvSpPr>
          <p:cNvPr id="10" name="Text 6"/>
          <p:cNvSpPr txBox="1"/>
          <p:nvPr/>
        </p:nvSpPr>
        <p:spPr>
          <a:xfrm>
            <a:off x="657860" y="2247900"/>
            <a:ext cx="10871200" cy="355600"/>
          </a:xfrm>
          <a:prstGeom prst="rect">
            <a:avLst/>
          </a:prstGeom>
          <a:noFill/>
          <a:ln/>
        </p:spPr>
        <p:txBody>
          <a:bodyPr wrap="square" lIns="0" tIns="0" rIns="0" bIns="0" rtlCol="0" anchor="ctr"/>
          <a:lstStyle/>
          <a:p>
            <a:pPr indent="0" marL="0">
              <a:buNone/>
            </a:pPr>
            <a:r>
              <a:rPr lang="en-US" sz="950" b="1" spc="110" kern="0" dirty="0">
                <a:solidFill>
                  <a:srgbClr val="F36F20"/>
                </a:solidFill>
                <a:latin typeface="Segoe UI" pitchFamily="34" charset="0"/>
                <a:ea typeface="Segoe UI" pitchFamily="34" charset="-122"/>
                <a:cs typeface="Segoe UI" pitchFamily="34" charset="-120"/>
              </a:rPr>
              <a:t>WE COMMIT   </a:t>
            </a:r>
            <a:pPr indent="0" marL="0">
              <a:buNone/>
            </a:pPr>
            <a:r>
              <a:rPr lang="en-US" sz="950" dirty="0">
                <a:solidFill>
                  <a:srgbClr val="5B6378"/>
                </a:solidFill>
                <a:latin typeface="Segoe UI Semilight" pitchFamily="34" charset="0"/>
                <a:ea typeface="Segoe UI Semilight" pitchFamily="34" charset="-122"/>
                <a:cs typeface="Segoe UI Semilight" pitchFamily="34" charset="-120"/>
              </a:rPr>
              <a:t>A named channel manager, an agreement pack issued for signature, a live Kiflo portal, recruitment and enablement on a named cadence, and a monthly report whose headline number is partners issuing offers.</a:t>
            </a:r>
            <a:endParaRPr lang="en-US" sz="950" dirty="0"/>
          </a:p>
        </p:txBody>
      </p:sp>
      <p:sp>
        <p:nvSpPr>
          <p:cNvPr id="11" name="Text 7"/>
          <p:cNvSpPr txBox="1"/>
          <p:nvPr/>
        </p:nvSpPr>
        <p:spPr>
          <a:xfrm>
            <a:off x="657860" y="2603500"/>
            <a:ext cx="10871200" cy="203200"/>
          </a:xfrm>
          <a:prstGeom prst="rect">
            <a:avLst/>
          </a:prstGeom>
          <a:noFill/>
          <a:ln/>
        </p:spPr>
        <p:txBody>
          <a:bodyPr wrap="square" lIns="0" tIns="0" rIns="0" bIns="0" rtlCol="0" anchor="ctr"/>
          <a:lstStyle/>
          <a:p>
            <a:pPr indent="0" marL="0">
              <a:buNone/>
            </a:pPr>
            <a:r>
              <a:rPr lang="en-US" sz="950" b="1" spc="110" kern="0" dirty="0">
                <a:solidFill>
                  <a:srgbClr val="9AA2B5"/>
                </a:solidFill>
                <a:latin typeface="Segoe UI" pitchFamily="34" charset="0"/>
                <a:ea typeface="Segoe UI" pitchFamily="34" charset="-122"/>
                <a:cs typeface="Segoe UI" pitchFamily="34" charset="-120"/>
              </a:rPr>
              <a:t>WE TARGET   </a:t>
            </a:r>
            <a:pPr indent="0" marL="0">
              <a:buNone/>
            </a:pPr>
            <a:r>
              <a:rPr lang="en-US" sz="950" dirty="0">
                <a:solidFill>
                  <a:srgbClr val="9AA2B5"/>
                </a:solidFill>
                <a:latin typeface="Segoe UI Semilight" pitchFamily="34" charset="0"/>
                <a:ea typeface="Segoe UI Semilight" pitchFamily="34" charset="-122"/>
                <a:cs typeface="Segoe UI Semilight" pitchFamily="34" charset="-120"/>
              </a:rPr>
              <a:t>[X] partners issuing offers and [$Y] partner-sourced Marketplace revenue by month twelve.</a:t>
            </a:r>
            <a:endParaRPr lang="en-US" sz="950" dirty="0"/>
          </a:p>
        </p:txBody>
      </p:sp>
      <p:sp>
        <p:nvSpPr>
          <p:cNvPr id="12" name="Text 8"/>
          <p:cNvSpPr txBox="1"/>
          <p:nvPr/>
        </p:nvSpPr>
        <p:spPr>
          <a:xfrm>
            <a:off x="657860" y="2895600"/>
            <a:ext cx="3479800" cy="203200"/>
          </a:xfrm>
          <a:prstGeom prst="rect">
            <a:avLst/>
          </a:prstGeom>
          <a:noFill/>
          <a:ln/>
        </p:spPr>
        <p:txBody>
          <a:bodyPr wrap="square" lIns="0" tIns="0" rIns="0" bIns="0" rtlCol="0" anchor="ctr"/>
          <a:lstStyle/>
          <a:p>
            <a:pPr indent="0" marL="0">
              <a:buNone/>
            </a:pPr>
            <a:r>
              <a:rPr lang="en-US" sz="1200" b="1" dirty="0">
                <a:solidFill>
                  <a:srgbClr val="15224B"/>
                </a:solidFill>
                <a:latin typeface="Segoe UI" pitchFamily="34" charset="0"/>
                <a:ea typeface="Segoe UI" pitchFamily="34" charset="-122"/>
                <a:cs typeface="Segoe UI" pitchFamily="34" charset="-120"/>
              </a:rPr>
              <a:t>Establish</a:t>
            </a:r>
            <a:pPr indent="0" marL="0">
              <a:buNone/>
            </a:pPr>
            <a:r>
              <a:rPr lang="en-US" sz="1200" b="1" dirty="0">
                <a:solidFill>
                  <a:srgbClr val="F36F20"/>
                </a:solidFill>
                <a:latin typeface="Segoe UI" pitchFamily="34" charset="0"/>
                <a:ea typeface="Segoe UI" pitchFamily="34" charset="-122"/>
                <a:cs typeface="Segoe UI" pitchFamily="34" charset="-120"/>
              </a:rPr>
              <a:t>   $2,500 / mo</a:t>
            </a:r>
            <a:endParaRPr lang="en-US" sz="1200" dirty="0"/>
          </a:p>
        </p:txBody>
      </p:sp>
      <p:sp>
        <p:nvSpPr>
          <p:cNvPr id="13" name="Text 9"/>
          <p:cNvSpPr txBox="1"/>
          <p:nvPr/>
        </p:nvSpPr>
        <p:spPr>
          <a:xfrm>
            <a:off x="657860" y="3136900"/>
            <a:ext cx="3479800" cy="330200"/>
          </a:xfrm>
          <a:prstGeom prst="rect">
            <a:avLst/>
          </a:prstGeom>
          <a:noFill/>
          <a:ln/>
        </p:spPr>
        <p:txBody>
          <a:bodyPr wrap="square" lIns="0" tIns="0" rIns="0" bIns="0" rtlCol="0" anchor="t"/>
          <a:lstStyle/>
          <a:p>
            <a:pPr indent="0" marL="0">
              <a:buNone/>
            </a:pPr>
            <a:r>
              <a:rPr lang="en-US" sz="850" dirty="0">
                <a:solidFill>
                  <a:srgbClr val="2E7CC4"/>
                </a:solidFill>
                <a:latin typeface="Segoe UI Semilight" pitchFamily="34" charset="0"/>
                <a:ea typeface="Segoe UI Semilight" pitchFamily="34" charset="-122"/>
                <a:cs typeface="Segoe UI Semilight" pitchFamily="34" charset="-120"/>
              </a:rPr>
              <a:t>Stand the channel up.</a:t>
            </a:r>
            <a:endParaRPr lang="en-US" sz="850" dirty="0"/>
          </a:p>
        </p:txBody>
      </p:sp>
      <p:sp>
        <p:nvSpPr>
          <p:cNvPr id="14" name="Text 10"/>
          <p:cNvSpPr txBox="1"/>
          <p:nvPr/>
        </p:nvSpPr>
        <p:spPr>
          <a:xfrm>
            <a:off x="657860" y="3352800"/>
            <a:ext cx="3479800" cy="152400"/>
          </a:xfrm>
          <a:prstGeom prst="rect">
            <a:avLst/>
          </a:prstGeom>
          <a:noFill/>
          <a:ln/>
        </p:spPr>
        <p:txBody>
          <a:bodyPr wrap="square" lIns="0" tIns="0" rIns="0" bIns="0" rtlCol="0" anchor="t"/>
          <a:lstStyle/>
          <a:p>
            <a:pPr indent="0" marL="0">
              <a:buNone/>
            </a:pPr>
            <a:r>
              <a:rPr lang="en-US" sz="800" b="1" spc="110" kern="0" dirty="0">
                <a:solidFill>
                  <a:srgbClr val="F36F20"/>
                </a:solidFill>
                <a:latin typeface="Segoe UI" pitchFamily="34" charset="0"/>
                <a:ea typeface="Segoe UI" pitchFamily="34" charset="-122"/>
                <a:cs typeface="Segoe UI" pitchFamily="34" charset="-120"/>
              </a:rPr>
              <a:t>WE COMMIT</a:t>
            </a:r>
            <a:endParaRPr lang="en-US" sz="800" dirty="0"/>
          </a:p>
        </p:txBody>
      </p:sp>
      <p:sp>
        <p:nvSpPr>
          <p:cNvPr id="15" name="Text 11"/>
          <p:cNvSpPr txBox="1"/>
          <p:nvPr/>
        </p:nvSpPr>
        <p:spPr>
          <a:xfrm>
            <a:off x="657860" y="3530600"/>
            <a:ext cx="3479800" cy="13462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Named channel manager at [N] hours, with a named backup</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Agreement pack — partner agreement, margin schedule, registration rules — drafted and issued for signature within [N] business days of kickoff</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Kiflo portal live within [N] business days of [named customer inputs]; resold by OBP inside the fee, [N] seats included, further at [$Z]</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Registration recommendation within [N] business days, plus the customer’s decision logged</a:t>
            </a:r>
            <a:endParaRPr lang="en-US" sz="780" dirty="0"/>
          </a:p>
        </p:txBody>
      </p:sp>
      <p:sp>
        <p:nvSpPr>
          <p:cNvPr id="16" name="Text 12"/>
          <p:cNvSpPr txBox="1"/>
          <p:nvPr/>
        </p:nvSpPr>
        <p:spPr>
          <a:xfrm>
            <a:off x="657860" y="4927600"/>
            <a:ext cx="3479800" cy="152400"/>
          </a:xfrm>
          <a:prstGeom prst="rect">
            <a:avLst/>
          </a:prstGeom>
          <a:noFill/>
          <a:ln/>
        </p:spPr>
        <p:txBody>
          <a:bodyPr wrap="square" lIns="0" tIns="0" rIns="0" bIns="0" rtlCol="0" anchor="t"/>
          <a:lstStyle/>
          <a:p>
            <a:pPr indent="0" marL="0">
              <a:buNone/>
            </a:pPr>
            <a:r>
              <a:rPr lang="en-US" sz="800" b="1" spc="110" kern="0" dirty="0">
                <a:solidFill>
                  <a:srgbClr val="9AA2B5"/>
                </a:solidFill>
                <a:latin typeface="Segoe UI" pitchFamily="34" charset="0"/>
                <a:ea typeface="Segoe UI" pitchFamily="34" charset="-122"/>
                <a:cs typeface="Segoe UI" pitchFamily="34" charset="-120"/>
              </a:rPr>
              <a:t>WE TARGET</a:t>
            </a:r>
            <a:endParaRPr lang="en-US" sz="800" dirty="0"/>
          </a:p>
        </p:txBody>
      </p:sp>
      <p:sp>
        <p:nvSpPr>
          <p:cNvPr id="17" name="Text 13"/>
          <p:cNvSpPr txBox="1"/>
          <p:nvPr/>
        </p:nvSpPr>
        <p:spPr>
          <a:xfrm>
            <a:off x="657860" y="5105400"/>
            <a:ext cx="3479800" cy="6350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[N] partners signed by month [6]</a:t>
            </a:r>
            <a:endParaRPr lang="en-US" sz="780" dirty="0"/>
          </a:p>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First partner-issued offer by month [N]</a:t>
            </a:r>
            <a:endParaRPr lang="en-US" sz="780" dirty="0"/>
          </a:p>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[N] partners issuing offers by month twelve</a:t>
            </a:r>
            <a:endParaRPr lang="en-US" sz="780" dirty="0"/>
          </a:p>
        </p:txBody>
      </p:sp>
      <p:sp>
        <p:nvSpPr>
          <p:cNvPr id="18" name="Text 14"/>
          <p:cNvSpPr txBox="1"/>
          <p:nvPr/>
        </p:nvSpPr>
        <p:spPr>
          <a:xfrm>
            <a:off x="4391660" y="2895600"/>
            <a:ext cx="3479800" cy="203200"/>
          </a:xfrm>
          <a:prstGeom prst="rect">
            <a:avLst/>
          </a:prstGeom>
          <a:noFill/>
          <a:ln/>
        </p:spPr>
        <p:txBody>
          <a:bodyPr wrap="square" lIns="0" tIns="0" rIns="0" bIns="0" rtlCol="0" anchor="ctr"/>
          <a:lstStyle/>
          <a:p>
            <a:pPr indent="0" marL="0">
              <a:buNone/>
            </a:pPr>
            <a:r>
              <a:rPr lang="en-US" sz="1200" b="1" dirty="0">
                <a:solidFill>
                  <a:srgbClr val="15224B"/>
                </a:solidFill>
                <a:latin typeface="Segoe UI" pitchFamily="34" charset="0"/>
                <a:ea typeface="Segoe UI" pitchFamily="34" charset="-122"/>
                <a:cs typeface="Segoe UI" pitchFamily="34" charset="-120"/>
              </a:rPr>
              <a:t>[Expand or Activate]</a:t>
            </a:r>
            <a:pPr indent="0" marL="0">
              <a:buNone/>
            </a:pPr>
            <a:r>
              <a:rPr lang="en-US" sz="1200" b="1" dirty="0">
                <a:solidFill>
                  <a:srgbClr val="F36F20"/>
                </a:solidFill>
                <a:latin typeface="Segoe UI" pitchFamily="34" charset="0"/>
                <a:ea typeface="Segoe UI" pitchFamily="34" charset="-122"/>
                <a:cs typeface="Segoe UI" pitchFamily="34" charset="-120"/>
              </a:rPr>
              <a:t>   $5,000 / mo</a:t>
            </a:r>
            <a:endParaRPr lang="en-US" sz="1200" dirty="0"/>
          </a:p>
        </p:txBody>
      </p:sp>
      <p:sp>
        <p:nvSpPr>
          <p:cNvPr id="19" name="Text 15"/>
          <p:cNvSpPr txBox="1"/>
          <p:nvPr/>
        </p:nvSpPr>
        <p:spPr>
          <a:xfrm>
            <a:off x="4391660" y="3136900"/>
            <a:ext cx="3479800" cy="330200"/>
          </a:xfrm>
          <a:prstGeom prst="rect">
            <a:avLst/>
          </a:prstGeom>
          <a:noFill/>
          <a:ln/>
        </p:spPr>
        <p:txBody>
          <a:bodyPr wrap="square" lIns="0" tIns="0" rIns="0" bIns="0" rtlCol="0" anchor="t"/>
          <a:lstStyle/>
          <a:p>
            <a:pPr indent="0" marL="0">
              <a:buNone/>
            </a:pPr>
            <a:r>
              <a:rPr lang="en-US" sz="850" dirty="0">
                <a:solidFill>
                  <a:srgbClr val="2E7CC4"/>
                </a:solidFill>
                <a:latin typeface="Segoe UI Semilight" pitchFamily="34" charset="0"/>
                <a:ea typeface="Segoe UI Semilight" pitchFamily="34" charset="-122"/>
                <a:cs typeface="Segoe UI Semilight" pitchFamily="34" charset="-120"/>
              </a:rPr>
              <a:t>Adds to Establish — widen the transacting roster.</a:t>
            </a:r>
            <a:endParaRPr lang="en-US" sz="850" dirty="0"/>
          </a:p>
        </p:txBody>
      </p:sp>
      <p:sp>
        <p:nvSpPr>
          <p:cNvPr id="20" name="Text 16"/>
          <p:cNvSpPr txBox="1"/>
          <p:nvPr/>
        </p:nvSpPr>
        <p:spPr>
          <a:xfrm>
            <a:off x="4391660" y="3352800"/>
            <a:ext cx="3479800" cy="152400"/>
          </a:xfrm>
          <a:prstGeom prst="rect">
            <a:avLst/>
          </a:prstGeom>
          <a:noFill/>
          <a:ln/>
        </p:spPr>
        <p:txBody>
          <a:bodyPr wrap="square" lIns="0" tIns="0" rIns="0" bIns="0" rtlCol="0" anchor="t"/>
          <a:lstStyle/>
          <a:p>
            <a:pPr indent="0" marL="0">
              <a:buNone/>
            </a:pPr>
            <a:r>
              <a:rPr lang="en-US" sz="800" b="1" spc="110" kern="0" dirty="0">
                <a:solidFill>
                  <a:srgbClr val="F36F20"/>
                </a:solidFill>
                <a:latin typeface="Segoe UI" pitchFamily="34" charset="0"/>
                <a:ea typeface="Segoe UI" pitchFamily="34" charset="-122"/>
                <a:cs typeface="Segoe UI" pitchFamily="34" charset="-120"/>
              </a:rPr>
              <a:t>WE COMMIT</a:t>
            </a:r>
            <a:endParaRPr lang="en-US" sz="800" dirty="0"/>
          </a:p>
        </p:txBody>
      </p:sp>
      <p:sp>
        <p:nvSpPr>
          <p:cNvPr id="21" name="Text 17"/>
          <p:cNvSpPr txBox="1"/>
          <p:nvPr/>
        </p:nvSpPr>
        <p:spPr>
          <a:xfrm>
            <a:off x="4391660" y="3530600"/>
            <a:ext cx="3479800" cy="13462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A second partner type in scope; [N] targeted approaches a month across both</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Enablement built and run — [N] sessions scheduled and held; attendance not guaranteed</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Written activation plan for up to [N] partners, reviewed monthly until first offer</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Selling authorization and offer requests submitted to Automatum within [N] business days</a:t>
            </a:r>
            <a:endParaRPr lang="en-US" sz="780" dirty="0"/>
          </a:p>
        </p:txBody>
      </p:sp>
      <p:sp>
        <p:nvSpPr>
          <p:cNvPr id="22" name="Text 18"/>
          <p:cNvSpPr txBox="1"/>
          <p:nvPr/>
        </p:nvSpPr>
        <p:spPr>
          <a:xfrm>
            <a:off x="4391660" y="4927600"/>
            <a:ext cx="3479800" cy="152400"/>
          </a:xfrm>
          <a:prstGeom prst="rect">
            <a:avLst/>
          </a:prstGeom>
          <a:noFill/>
          <a:ln/>
        </p:spPr>
        <p:txBody>
          <a:bodyPr wrap="square" lIns="0" tIns="0" rIns="0" bIns="0" rtlCol="0" anchor="t"/>
          <a:lstStyle/>
          <a:p>
            <a:pPr indent="0" marL="0">
              <a:buNone/>
            </a:pPr>
            <a:r>
              <a:rPr lang="en-US" sz="800" b="1" spc="110" kern="0" dirty="0">
                <a:solidFill>
                  <a:srgbClr val="9AA2B5"/>
                </a:solidFill>
                <a:latin typeface="Segoe UI" pitchFamily="34" charset="0"/>
                <a:ea typeface="Segoe UI" pitchFamily="34" charset="-122"/>
                <a:cs typeface="Segoe UI" pitchFamily="34" charset="-120"/>
              </a:rPr>
              <a:t>WE TARGET</a:t>
            </a:r>
            <a:endParaRPr lang="en-US" sz="800" dirty="0"/>
          </a:p>
        </p:txBody>
      </p:sp>
      <p:sp>
        <p:nvSpPr>
          <p:cNvPr id="23" name="Text 19"/>
          <p:cNvSpPr txBox="1"/>
          <p:nvPr/>
        </p:nvSpPr>
        <p:spPr>
          <a:xfrm>
            <a:off x="4391660" y="5105400"/>
            <a:ext cx="3479800" cy="6350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[N] partners issuing offers by month twelve</a:t>
            </a:r>
            <a:endParaRPr lang="en-US" sz="780" dirty="0"/>
          </a:p>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[N] partner-registered deals a quarter</a:t>
            </a:r>
            <a:endParaRPr lang="en-US" sz="780" dirty="0"/>
          </a:p>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[$X] partner-sourced pipeline standing in Kiflo</a:t>
            </a:r>
            <a:endParaRPr lang="en-US" sz="780" dirty="0"/>
          </a:p>
        </p:txBody>
      </p:sp>
      <p:sp>
        <p:nvSpPr>
          <p:cNvPr id="24" name="Text 20"/>
          <p:cNvSpPr txBox="1"/>
          <p:nvPr/>
        </p:nvSpPr>
        <p:spPr>
          <a:xfrm>
            <a:off x="8125460" y="2895600"/>
            <a:ext cx="3479800" cy="203200"/>
          </a:xfrm>
          <a:prstGeom prst="rect">
            <a:avLst/>
          </a:prstGeom>
          <a:noFill/>
          <a:ln/>
        </p:spPr>
        <p:txBody>
          <a:bodyPr wrap="square" lIns="0" tIns="0" rIns="0" bIns="0" rtlCol="0" anchor="ctr"/>
          <a:lstStyle/>
          <a:p>
            <a:pPr indent="0" marL="0">
              <a:buNone/>
            </a:pPr>
            <a:r>
              <a:rPr lang="en-US" sz="1200" b="1" dirty="0">
                <a:solidFill>
                  <a:srgbClr val="15224B"/>
                </a:solidFill>
                <a:latin typeface="Segoe UI" pitchFamily="34" charset="0"/>
                <a:ea typeface="Segoe UI" pitchFamily="34" charset="-122"/>
                <a:cs typeface="Segoe UI" pitchFamily="34" charset="-120"/>
              </a:rPr>
              <a:t>Accelerate</a:t>
            </a:r>
            <a:pPr indent="0" marL="0">
              <a:buNone/>
            </a:pPr>
            <a:r>
              <a:rPr lang="en-US" sz="1200" b="1" dirty="0">
                <a:solidFill>
                  <a:srgbClr val="F36F20"/>
                </a:solidFill>
                <a:latin typeface="Segoe UI" pitchFamily="34" charset="0"/>
                <a:ea typeface="Segoe UI" pitchFamily="34" charset="-122"/>
                <a:cs typeface="Segoe UI" pitchFamily="34" charset="-120"/>
              </a:rPr>
              <a:t>   $7,500 / mo</a:t>
            </a:r>
            <a:endParaRPr lang="en-US" sz="1200" dirty="0"/>
          </a:p>
        </p:txBody>
      </p:sp>
      <p:sp>
        <p:nvSpPr>
          <p:cNvPr id="25" name="Text 21"/>
          <p:cNvSpPr txBox="1"/>
          <p:nvPr/>
        </p:nvSpPr>
        <p:spPr>
          <a:xfrm>
            <a:off x="8125460" y="3136900"/>
            <a:ext cx="3479800" cy="330200"/>
          </a:xfrm>
          <a:prstGeom prst="rect">
            <a:avLst/>
          </a:prstGeom>
          <a:noFill/>
          <a:ln/>
        </p:spPr>
        <p:txBody>
          <a:bodyPr wrap="square" lIns="0" tIns="0" rIns="0" bIns="0" rtlCol="0" anchor="t"/>
          <a:lstStyle/>
          <a:p>
            <a:pPr indent="0" marL="0">
              <a:buNone/>
            </a:pPr>
            <a:r>
              <a:rPr lang="en-US" sz="850" dirty="0">
                <a:solidFill>
                  <a:srgbClr val="2E7CC4"/>
                </a:solidFill>
                <a:latin typeface="Segoe UI Semilight" pitchFamily="34" charset="0"/>
                <a:ea typeface="Segoe UI Semilight" pitchFamily="34" charset="-122"/>
                <a:cs typeface="Segoe UI Semilight" pitchFamily="34" charset="-120"/>
              </a:rPr>
              <a:t>Adds to the middle rung — operate the channel end to end.</a:t>
            </a:r>
            <a:endParaRPr lang="en-US" sz="850" dirty="0"/>
          </a:p>
        </p:txBody>
      </p:sp>
      <p:sp>
        <p:nvSpPr>
          <p:cNvPr id="26" name="Text 22"/>
          <p:cNvSpPr txBox="1"/>
          <p:nvPr/>
        </p:nvSpPr>
        <p:spPr>
          <a:xfrm>
            <a:off x="8125460" y="3352800"/>
            <a:ext cx="3479800" cy="152400"/>
          </a:xfrm>
          <a:prstGeom prst="rect">
            <a:avLst/>
          </a:prstGeom>
          <a:noFill/>
          <a:ln/>
        </p:spPr>
        <p:txBody>
          <a:bodyPr wrap="square" lIns="0" tIns="0" rIns="0" bIns="0" rtlCol="0" anchor="t"/>
          <a:lstStyle/>
          <a:p>
            <a:pPr indent="0" marL="0">
              <a:buNone/>
            </a:pPr>
            <a:r>
              <a:rPr lang="en-US" sz="800" b="1" spc="110" kern="0" dirty="0">
                <a:solidFill>
                  <a:srgbClr val="F36F20"/>
                </a:solidFill>
                <a:latin typeface="Segoe UI" pitchFamily="34" charset="0"/>
                <a:ea typeface="Segoe UI" pitchFamily="34" charset="-122"/>
                <a:cs typeface="Segoe UI" pitchFamily="34" charset="-120"/>
              </a:rPr>
              <a:t>WE COMMIT</a:t>
            </a:r>
            <a:endParaRPr lang="en-US" sz="800" dirty="0"/>
          </a:p>
        </p:txBody>
      </p:sp>
      <p:sp>
        <p:nvSpPr>
          <p:cNvPr id="27" name="Text 23"/>
          <p:cNvSpPr txBox="1"/>
          <p:nvPr/>
        </p:nvSpPr>
        <p:spPr>
          <a:xfrm>
            <a:off x="8125460" y="3530600"/>
            <a:ext cx="3479800" cy="13462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Named deal-desk owner with a stated coverage window</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Performance reviews offered monthly to up to [N] issuing partners, with written recovery plans</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Every eligible partner-sourced deal filed within [N] business days of registration</a:t>
            </a:r>
            <a:endParaRPr lang="en-US" sz="780" dirty="0"/>
          </a:p>
          <a:p>
            <a:pPr marL="127000" indent="-127000">
              <a:lnSpc>
                <a:spcPct val="112000"/>
              </a:lnSpc>
              <a:spcAft>
                <a:spcPts val="300"/>
              </a:spcAft>
              <a:buSzPct val="100000"/>
              <a:buChar char="•"/>
            </a:pPr>
            <a:r>
              <a:rPr lang="en-US" sz="780" dirty="0">
                <a:solidFill>
                  <a:srgbClr val="5B6378"/>
                </a:solidFill>
                <a:latin typeface="Segoe UI Semilight" pitchFamily="34" charset="0"/>
                <a:ea typeface="Segoe UI Semilight" pitchFamily="34" charset="-122"/>
                <a:cs typeface="Segoe UI Semilight" pitchFamily="34" charset="-120"/>
              </a:rPr>
              <a:t>Quarterly channel pack reporting margin paid, commission accrued and revenue attributed</a:t>
            </a:r>
            <a:endParaRPr lang="en-US" sz="780" dirty="0"/>
          </a:p>
        </p:txBody>
      </p:sp>
      <p:sp>
        <p:nvSpPr>
          <p:cNvPr id="28" name="Text 24"/>
          <p:cNvSpPr txBox="1"/>
          <p:nvPr/>
        </p:nvSpPr>
        <p:spPr>
          <a:xfrm>
            <a:off x="8125460" y="4927600"/>
            <a:ext cx="3479800" cy="152400"/>
          </a:xfrm>
          <a:prstGeom prst="rect">
            <a:avLst/>
          </a:prstGeom>
          <a:noFill/>
          <a:ln/>
        </p:spPr>
        <p:txBody>
          <a:bodyPr wrap="square" lIns="0" tIns="0" rIns="0" bIns="0" rtlCol="0" anchor="t"/>
          <a:lstStyle/>
          <a:p>
            <a:pPr indent="0" marL="0">
              <a:buNone/>
            </a:pPr>
            <a:r>
              <a:rPr lang="en-US" sz="800" b="1" spc="110" kern="0" dirty="0">
                <a:solidFill>
                  <a:srgbClr val="9AA2B5"/>
                </a:solidFill>
                <a:latin typeface="Segoe UI" pitchFamily="34" charset="0"/>
                <a:ea typeface="Segoe UI" pitchFamily="34" charset="-122"/>
                <a:cs typeface="Segoe UI" pitchFamily="34" charset="-120"/>
              </a:rPr>
              <a:t>WE TARGET</a:t>
            </a:r>
            <a:endParaRPr lang="en-US" sz="800" dirty="0"/>
          </a:p>
        </p:txBody>
      </p:sp>
      <p:sp>
        <p:nvSpPr>
          <p:cNvPr id="29" name="Text 25"/>
          <p:cNvSpPr txBox="1"/>
          <p:nvPr/>
        </p:nvSpPr>
        <p:spPr>
          <a:xfrm>
            <a:off x="8125460" y="5105400"/>
            <a:ext cx="3479800" cy="6350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[N] partners issuing offers, sustained per quarter</a:t>
            </a:r>
            <a:endParaRPr lang="en-US" sz="780" dirty="0"/>
          </a:p>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[$Y] partner-sourced revenue; conversion and attribution rates</a:t>
            </a:r>
            <a:endParaRPr lang="en-US" sz="780" dirty="0"/>
          </a:p>
          <a:p>
            <a:pPr marL="127000" indent="-127000">
              <a:lnSpc>
                <a:spcPct val="112000"/>
              </a:lnSpc>
              <a:spcAft>
                <a:spcPts val="300"/>
              </a:spcAft>
              <a:buSzPct val="100000"/>
              <a:buChar char="•"/>
            </a:pPr>
            <a:r>
              <a:rPr lang="en-US" sz="780" dirty="0">
                <a:solidFill>
                  <a:srgbClr val="9AA2B5"/>
                </a:solidFill>
                <a:latin typeface="Segoe UI Semilight" pitchFamily="34" charset="0"/>
                <a:ea typeface="Segoe UI Semilight" pitchFamily="34" charset="-122"/>
                <a:cs typeface="Segoe UI Semilight" pitchFamily="34" charset="-120"/>
              </a:rPr>
              <a:t>Partner-sourced ACE count — separate from the programme’s five per Solution ID</a:t>
            </a:r>
            <a:endParaRPr lang="en-US" sz="780" dirty="0"/>
          </a:p>
        </p:txBody>
      </p:sp>
      <p:sp>
        <p:nvSpPr>
          <p:cNvPr id="30" name="Shape 26"/>
          <p:cNvSpPr/>
          <p:nvPr/>
        </p:nvSpPr>
        <p:spPr>
          <a:xfrm>
            <a:off x="566420" y="5760720"/>
            <a:ext cx="11057890" cy="566420"/>
          </a:xfrm>
          <a:prstGeom prst="roundRect">
            <a:avLst>
              <a:gd name="adj" fmla="val 22601"/>
            </a:avLst>
          </a:prstGeom>
          <a:solidFill>
            <a:srgbClr val="15224B"/>
          </a:solidFill>
          <a:ln/>
        </p:spPr>
      </p:sp>
      <p:sp>
        <p:nvSpPr>
          <p:cNvPr id="31" name="Text 27"/>
          <p:cNvSpPr txBox="1"/>
          <p:nvPr/>
        </p:nvSpPr>
        <p:spPr>
          <a:xfrm>
            <a:off x="838200" y="5867400"/>
            <a:ext cx="10541000" cy="355600"/>
          </a:xfrm>
          <a:prstGeom prst="rect">
            <a:avLst/>
          </a:prstGeom>
          <a:noFill/>
          <a:ln/>
        </p:spPr>
        <p:txBody>
          <a:bodyPr wrap="square" lIns="0" tIns="0" rIns="0" bIns="0" rtlCol="0" anchor="ctr"/>
          <a:lstStyle/>
          <a:p>
            <a:pPr indent="0" marL="0">
              <a:buNone/>
            </a:pPr>
            <a:r>
              <a:rPr lang="en-US" sz="1050" b="1" spc="110" kern="0" dirty="0">
                <a:solidFill>
                  <a:srgbClr val="F36F20"/>
                </a:solidFill>
                <a:latin typeface="Segoe UI" pitchFamily="34" charset="0"/>
                <a:ea typeface="Segoe UI" pitchFamily="34" charset="-122"/>
                <a:cs typeface="Segoe UI" pitchFamily="34" charset="-120"/>
              </a:rPr>
              <a:t>NOTE</a:t>
            </a:r>
            <a:pPr indent="0" marL="0">
              <a:buNone/>
            </a:pPr>
            <a:r>
              <a:rPr lang="en-US" sz="1050" dirty="0">
                <a:solidFill>
                  <a:srgbClr val="D7E1F5"/>
                </a:solidFill>
                <a:latin typeface="Segoe UI Semilight" pitchFamily="34" charset="0"/>
                <a:ea typeface="Segoe UI Semilight" pitchFamily="34" charset="-122"/>
                <a:cs typeface="Segoe UI Semilight" pitchFamily="34" charset="-120"/>
              </a:rPr>
              <a:t>    Execution of an agreement needs the customer’s legal function and the partner’s countersignature — a target, not a commit. Rung names and partner types [P] / [P+1] / [P+2] to confirm.</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ome/user/barberbook/docs/deck/assets/bg_cont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eyebrow_p14.png">    </p:cNvPr>
          <p:cNvPicPr>
            <a:picLocks noChangeAspect="1"/>
          </p:cNvPicPr>
          <p:nvPr/>
        </p:nvPicPr>
        <p:blipFill>
          <a:blip r:embed="rId2"/>
          <a:stretch>
            <a:fillRect/>
          </a:stretch>
        </p:blipFill>
        <p:spPr>
          <a:xfrm>
            <a:off x="566420" y="474980"/>
            <a:ext cx="256540" cy="256540"/>
          </a:xfrm>
          <a:prstGeom prst="rect">
            <a:avLst/>
          </a:prstGeom>
        </p:spPr>
      </p:pic>
      <p:sp>
        <p:nvSpPr>
          <p:cNvPr id="4" name="Text 0"/>
          <p:cNvSpPr txBox="1"/>
          <p:nvPr/>
        </p:nvSpPr>
        <p:spPr>
          <a:xfrm>
            <a:off x="1023620" y="501650"/>
            <a:ext cx="6350000" cy="228600"/>
          </a:xfrm>
          <a:prstGeom prst="rect">
            <a:avLst/>
          </a:prstGeom>
          <a:noFill/>
          <a:ln/>
        </p:spPr>
        <p:txBody>
          <a:bodyPr wrap="square" lIns="0" tIns="0" rIns="0" bIns="0" rtlCol="0" anchor="t"/>
          <a:lstStyle/>
          <a:p>
            <a:pPr indent="0" marL="0">
              <a:buNone/>
            </a:pPr>
            <a:r>
              <a:rPr lang="en-US" sz="1150" b="1" spc="160" kern="0" dirty="0">
                <a:solidFill>
                  <a:srgbClr val="F36F20"/>
                </a:solidFill>
                <a:latin typeface="Segoe UI" pitchFamily="34" charset="0"/>
                <a:ea typeface="Segoe UI" pitchFamily="34" charset="-122"/>
                <a:cs typeface="Segoe UI" pitchFamily="34" charset="-120"/>
              </a:rPr>
              <a:t>THE SCOREBOARD</a:t>
            </a:r>
            <a:endParaRPr lang="en-US" sz="1150" dirty="0"/>
          </a:p>
        </p:txBody>
      </p:sp>
      <p:sp>
        <p:nvSpPr>
          <p:cNvPr id="5" name="Text 1"/>
          <p:cNvSpPr txBox="1"/>
          <p:nvPr/>
        </p:nvSpPr>
        <p:spPr>
          <a:xfrm>
            <a:off x="657860" y="939800"/>
            <a:ext cx="10922000" cy="508000"/>
          </a:xfrm>
          <a:prstGeom prst="rect">
            <a:avLst/>
          </a:prstGeom>
          <a:noFill/>
          <a:ln/>
        </p:spPr>
        <p:txBody>
          <a:bodyPr wrap="square" lIns="0" tIns="0" rIns="0" bIns="0" rtlCol="0" anchor="t"/>
          <a:lstStyle/>
          <a:p>
            <a:pPr indent="0" marL="0">
              <a:buNone/>
            </a:pPr>
            <a:r>
              <a:rPr lang="en-US" sz="2500" b="1" dirty="0">
                <a:solidFill>
                  <a:srgbClr val="15224B"/>
                </a:solidFill>
                <a:latin typeface="Segoe UI" pitchFamily="34" charset="0"/>
                <a:ea typeface="Segoe UI" pitchFamily="34" charset="-122"/>
                <a:cs typeface="Segoe UI" pitchFamily="34" charset="-120"/>
              </a:rPr>
              <a:t>How every number is settled.</a:t>
            </a:r>
            <a:endParaRPr lang="en-US" sz="2500" dirty="0"/>
          </a:p>
        </p:txBody>
      </p:sp>
      <p:sp>
        <p:nvSpPr>
          <p:cNvPr id="6" name="Text 2"/>
          <p:cNvSpPr txBox="1"/>
          <p:nvPr/>
        </p:nvSpPr>
        <p:spPr>
          <a:xfrm>
            <a:off x="657860" y="1651000"/>
            <a:ext cx="10541000" cy="431800"/>
          </a:xfrm>
          <a:prstGeom prst="rect">
            <a:avLst/>
          </a:prstGeom>
          <a:noFill/>
          <a:ln/>
        </p:spPr>
        <p:txBody>
          <a:bodyPr wrap="square" lIns="0" tIns="0" rIns="0" bIns="0" rtlCol="0" anchor="t"/>
          <a:lstStyle/>
          <a:p>
            <a:pPr indent="0" marL="0">
              <a:buNone/>
            </a:pPr>
            <a:r>
              <a:rPr lang="en-US" sz="1250" dirty="0">
                <a:solidFill>
                  <a:srgbClr val="5B6378"/>
                </a:solidFill>
                <a:latin typeface="Segoe UI Semilight" pitchFamily="34" charset="0"/>
                <a:ea typeface="Segoe UI Semilight" pitchFamily="34" charset="-122"/>
                <a:cs typeface="Segoe UI Semilight" pitchFamily="34" charset="-120"/>
              </a:rPr>
              <a:t>Every target is settled from data that sits on Automatum’s side of the chain. Agree the source before the first report, not after.</a:t>
            </a:r>
            <a:endParaRPr lang="en-US" sz="1250" dirty="0"/>
          </a:p>
        </p:txBody>
      </p:sp>
      <p:sp>
        <p:nvSpPr>
          <p:cNvPr id="7" name="Text 3"/>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8" name="Text 4"/>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14 / 22</a:t>
            </a:r>
            <a:endParaRPr lang="en-US" sz="900" dirty="0"/>
          </a:p>
        </p:txBody>
      </p:sp>
      <p:sp>
        <p:nvSpPr>
          <p:cNvPr id="9" name="Shape 5"/>
          <p:cNvSpPr/>
          <p:nvPr/>
        </p:nvSpPr>
        <p:spPr>
          <a:xfrm>
            <a:off x="566420" y="2343150"/>
            <a:ext cx="11055350" cy="330200"/>
          </a:xfrm>
          <a:prstGeom prst="rect">
            <a:avLst/>
          </a:prstGeom>
          <a:solidFill>
            <a:srgbClr val="15224B"/>
          </a:solidFill>
          <a:ln/>
        </p:spPr>
      </p:sp>
      <p:sp>
        <p:nvSpPr>
          <p:cNvPr id="10" name="Text 6"/>
          <p:cNvSpPr txBox="1"/>
          <p:nvPr/>
        </p:nvSpPr>
        <p:spPr>
          <a:xfrm>
            <a:off x="749300" y="2413000"/>
            <a:ext cx="3238500" cy="203200"/>
          </a:xfrm>
          <a:prstGeom prst="rect">
            <a:avLst/>
          </a:prstGeom>
          <a:noFill/>
          <a:ln/>
        </p:spPr>
        <p:txBody>
          <a:bodyPr wrap="square" lIns="0" tIns="0" rIns="0" bIns="0" rtlCol="0" anchor="t"/>
          <a:lstStyle/>
          <a:p>
            <a:pPr indent="0" marL="0">
              <a:buNone/>
            </a:pPr>
            <a:r>
              <a:rPr lang="en-US" sz="1000" b="1" dirty="0">
                <a:solidFill>
                  <a:srgbClr val="FFFFFF"/>
                </a:solidFill>
                <a:latin typeface="Segoe UI" pitchFamily="34" charset="0"/>
                <a:ea typeface="Segoe UI" pitchFamily="34" charset="-122"/>
                <a:cs typeface="Segoe UI" pitchFamily="34" charset="-120"/>
              </a:rPr>
              <a:t>The metric</a:t>
            </a:r>
            <a:endParaRPr lang="en-US" sz="1000" dirty="0"/>
          </a:p>
        </p:txBody>
      </p:sp>
      <p:sp>
        <p:nvSpPr>
          <p:cNvPr id="11" name="Text 7"/>
          <p:cNvSpPr txBox="1"/>
          <p:nvPr/>
        </p:nvSpPr>
        <p:spPr>
          <a:xfrm>
            <a:off x="4191000" y="2413000"/>
            <a:ext cx="4191000" cy="203200"/>
          </a:xfrm>
          <a:prstGeom prst="rect">
            <a:avLst/>
          </a:prstGeom>
          <a:noFill/>
          <a:ln/>
        </p:spPr>
        <p:txBody>
          <a:bodyPr wrap="square" lIns="0" tIns="0" rIns="0" bIns="0" rtlCol="0" anchor="t"/>
          <a:lstStyle/>
          <a:p>
            <a:pPr indent="0" marL="0">
              <a:buNone/>
            </a:pPr>
            <a:r>
              <a:rPr lang="en-US" sz="1000" b="1" dirty="0">
                <a:solidFill>
                  <a:srgbClr val="FFFFFF"/>
                </a:solidFill>
                <a:latin typeface="Segoe UI" pitchFamily="34" charset="0"/>
                <a:ea typeface="Segoe UI" pitchFamily="34" charset="-122"/>
                <a:cs typeface="Segoe UI" pitchFamily="34" charset="-120"/>
              </a:rPr>
              <a:t>The source, and who draws it</a:t>
            </a:r>
            <a:endParaRPr lang="en-US" sz="1000" dirty="0"/>
          </a:p>
        </p:txBody>
      </p:sp>
      <p:sp>
        <p:nvSpPr>
          <p:cNvPr id="12" name="Text 8"/>
          <p:cNvSpPr txBox="1"/>
          <p:nvPr/>
        </p:nvSpPr>
        <p:spPr>
          <a:xfrm>
            <a:off x="8763000" y="2413000"/>
            <a:ext cx="2895600" cy="203200"/>
          </a:xfrm>
          <a:prstGeom prst="rect">
            <a:avLst/>
          </a:prstGeom>
          <a:noFill/>
          <a:ln/>
        </p:spPr>
        <p:txBody>
          <a:bodyPr wrap="square" lIns="0" tIns="0" rIns="0" bIns="0" rtlCol="0" anchor="t"/>
          <a:lstStyle/>
          <a:p>
            <a:pPr indent="0" marL="0">
              <a:buNone/>
            </a:pPr>
            <a:r>
              <a:rPr lang="en-US" sz="1000" b="1" dirty="0">
                <a:solidFill>
                  <a:srgbClr val="FFFFFF"/>
                </a:solidFill>
                <a:latin typeface="Segoe UI" pitchFamily="34" charset="0"/>
                <a:ea typeface="Segoe UI" pitchFamily="34" charset="-122"/>
                <a:cs typeface="Segoe UI" pitchFamily="34" charset="-120"/>
              </a:rPr>
              <a:t>Cadence</a:t>
            </a:r>
            <a:endParaRPr lang="en-US" sz="1000" dirty="0"/>
          </a:p>
        </p:txBody>
      </p:sp>
      <p:sp>
        <p:nvSpPr>
          <p:cNvPr id="13" name="Text 9"/>
          <p:cNvSpPr txBox="1"/>
          <p:nvPr/>
        </p:nvSpPr>
        <p:spPr>
          <a:xfrm>
            <a:off x="749300" y="2794000"/>
            <a:ext cx="3238500" cy="330200"/>
          </a:xfrm>
          <a:prstGeom prst="rect">
            <a:avLst/>
          </a:prstGeom>
          <a:noFill/>
          <a:ln/>
        </p:spPr>
        <p:txBody>
          <a:bodyPr wrap="square" lIns="0" tIns="0" rIns="0" bIns="0" rtlCol="0" anchor="t"/>
          <a:lstStyle/>
          <a:p>
            <a:pPr indent="0" marL="0">
              <a:buNone/>
            </a:pPr>
            <a:r>
              <a:rPr lang="en-US" sz="1000" b="1" dirty="0">
                <a:solidFill>
                  <a:srgbClr val="15224B"/>
                </a:solidFill>
                <a:latin typeface="Segoe UI" pitchFamily="34" charset="0"/>
                <a:ea typeface="Segoe UI" pitchFamily="34" charset="-122"/>
                <a:cs typeface="Segoe UI" pitchFamily="34" charset="-120"/>
              </a:rPr>
              <a:t>ACE opportunities accepted</a:t>
            </a:r>
            <a:endParaRPr lang="en-US" sz="1000" dirty="0"/>
          </a:p>
        </p:txBody>
      </p:sp>
      <p:sp>
        <p:nvSpPr>
          <p:cNvPr id="14" name="Text 10"/>
          <p:cNvSpPr txBox="1"/>
          <p:nvPr/>
        </p:nvSpPr>
        <p:spPr>
          <a:xfrm>
            <a:off x="4191000" y="2794000"/>
            <a:ext cx="4191000" cy="3302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AWS Partner Central — [whose instance, to confirm]</a:t>
            </a:r>
            <a:endParaRPr lang="en-US" sz="1000" dirty="0"/>
          </a:p>
        </p:txBody>
      </p:sp>
      <p:sp>
        <p:nvSpPr>
          <p:cNvPr id="15" name="Text 11"/>
          <p:cNvSpPr txBox="1"/>
          <p:nvPr/>
        </p:nvSpPr>
        <p:spPr>
          <a:xfrm>
            <a:off x="8614410" y="2794000"/>
            <a:ext cx="2895600" cy="3302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Monthly</a:t>
            </a:r>
            <a:endParaRPr lang="en-US" sz="1000" dirty="0"/>
          </a:p>
        </p:txBody>
      </p:sp>
      <p:sp>
        <p:nvSpPr>
          <p:cNvPr id="16" name="Shape 12"/>
          <p:cNvSpPr/>
          <p:nvPr/>
        </p:nvSpPr>
        <p:spPr>
          <a:xfrm>
            <a:off x="566420" y="3054350"/>
            <a:ext cx="11055350" cy="330200"/>
          </a:xfrm>
          <a:prstGeom prst="rect">
            <a:avLst/>
          </a:prstGeom>
          <a:solidFill>
            <a:srgbClr val="F5F8FC"/>
          </a:solidFill>
          <a:ln/>
        </p:spPr>
      </p:sp>
      <p:sp>
        <p:nvSpPr>
          <p:cNvPr id="17" name="Text 13"/>
          <p:cNvSpPr txBox="1"/>
          <p:nvPr/>
        </p:nvSpPr>
        <p:spPr>
          <a:xfrm>
            <a:off x="749300" y="3124200"/>
            <a:ext cx="3238500" cy="330200"/>
          </a:xfrm>
          <a:prstGeom prst="rect">
            <a:avLst/>
          </a:prstGeom>
          <a:noFill/>
          <a:ln/>
        </p:spPr>
        <p:txBody>
          <a:bodyPr wrap="square" lIns="0" tIns="0" rIns="0" bIns="0" rtlCol="0" anchor="t"/>
          <a:lstStyle/>
          <a:p>
            <a:pPr indent="0" marL="0">
              <a:buNone/>
            </a:pPr>
            <a:r>
              <a:rPr lang="en-US" sz="1000" b="1" dirty="0">
                <a:solidFill>
                  <a:srgbClr val="15224B"/>
                </a:solidFill>
                <a:latin typeface="Segoe UI" pitchFamily="34" charset="0"/>
                <a:ea typeface="Segoe UI" pitchFamily="34" charset="-122"/>
                <a:cs typeface="Segoe UI" pitchFamily="34" charset="-120"/>
              </a:rPr>
              <a:t>AWS-attributed pipeline</a:t>
            </a:r>
            <a:endParaRPr lang="en-US" sz="1000" dirty="0"/>
          </a:p>
        </p:txBody>
      </p:sp>
      <p:sp>
        <p:nvSpPr>
          <p:cNvPr id="18" name="Text 14"/>
          <p:cNvSpPr txBox="1"/>
          <p:nvPr/>
        </p:nvSpPr>
        <p:spPr>
          <a:xfrm>
            <a:off x="4191000" y="3124200"/>
            <a:ext cx="4191000" cy="3302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Partner Central / ACE export, drawn by OBP</a:t>
            </a:r>
            <a:endParaRPr lang="en-US" sz="1000" dirty="0"/>
          </a:p>
        </p:txBody>
      </p:sp>
      <p:sp>
        <p:nvSpPr>
          <p:cNvPr id="19" name="Text 15"/>
          <p:cNvSpPr txBox="1"/>
          <p:nvPr/>
        </p:nvSpPr>
        <p:spPr>
          <a:xfrm>
            <a:off x="8614410" y="3124200"/>
            <a:ext cx="2895600" cy="3302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Monthly</a:t>
            </a:r>
            <a:endParaRPr lang="en-US" sz="1000" dirty="0"/>
          </a:p>
        </p:txBody>
      </p:sp>
      <p:sp>
        <p:nvSpPr>
          <p:cNvPr id="20" name="Text 16"/>
          <p:cNvSpPr txBox="1"/>
          <p:nvPr/>
        </p:nvSpPr>
        <p:spPr>
          <a:xfrm>
            <a:off x="749300" y="3454400"/>
            <a:ext cx="3238500" cy="330200"/>
          </a:xfrm>
          <a:prstGeom prst="rect">
            <a:avLst/>
          </a:prstGeom>
          <a:noFill/>
          <a:ln/>
        </p:spPr>
        <p:txBody>
          <a:bodyPr wrap="square" lIns="0" tIns="0" rIns="0" bIns="0" rtlCol="0" anchor="t"/>
          <a:lstStyle/>
          <a:p>
            <a:pPr indent="0" marL="0">
              <a:buNone/>
            </a:pPr>
            <a:r>
              <a:rPr lang="en-US" sz="1000" b="1" dirty="0">
                <a:solidFill>
                  <a:srgbClr val="15224B"/>
                </a:solidFill>
                <a:latin typeface="Segoe UI" pitchFamily="34" charset="0"/>
                <a:ea typeface="Segoe UI" pitchFamily="34" charset="-122"/>
                <a:cs typeface="Segoe UI" pitchFamily="34" charset="-120"/>
              </a:rPr>
              <a:t>Private offers issued</a:t>
            </a:r>
            <a:endParaRPr lang="en-US" sz="1000" dirty="0"/>
          </a:p>
        </p:txBody>
      </p:sp>
      <p:sp>
        <p:nvSpPr>
          <p:cNvPr id="21" name="Text 17"/>
          <p:cNvSpPr txBox="1"/>
          <p:nvPr/>
        </p:nvSpPr>
        <p:spPr>
          <a:xfrm>
            <a:off x="4191000" y="3454400"/>
            <a:ext cx="4191000" cy="3302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Automatum’s seller account</a:t>
            </a:r>
            <a:endParaRPr lang="en-US" sz="1000" dirty="0"/>
          </a:p>
        </p:txBody>
      </p:sp>
      <p:sp>
        <p:nvSpPr>
          <p:cNvPr id="22" name="Text 18"/>
          <p:cNvSpPr txBox="1"/>
          <p:nvPr/>
        </p:nvSpPr>
        <p:spPr>
          <a:xfrm>
            <a:off x="8614410" y="3454400"/>
            <a:ext cx="2895600" cy="3302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Monthly</a:t>
            </a:r>
            <a:endParaRPr lang="en-US" sz="1000" dirty="0"/>
          </a:p>
        </p:txBody>
      </p:sp>
      <p:sp>
        <p:nvSpPr>
          <p:cNvPr id="23" name="Shape 19"/>
          <p:cNvSpPr/>
          <p:nvPr/>
        </p:nvSpPr>
        <p:spPr>
          <a:xfrm>
            <a:off x="566420" y="3714750"/>
            <a:ext cx="11055350" cy="330200"/>
          </a:xfrm>
          <a:prstGeom prst="rect">
            <a:avLst/>
          </a:prstGeom>
          <a:solidFill>
            <a:srgbClr val="F5F8FC"/>
          </a:solidFill>
          <a:ln/>
        </p:spPr>
      </p:sp>
      <p:sp>
        <p:nvSpPr>
          <p:cNvPr id="24" name="Text 20"/>
          <p:cNvSpPr txBox="1"/>
          <p:nvPr/>
        </p:nvSpPr>
        <p:spPr>
          <a:xfrm>
            <a:off x="749300" y="3784600"/>
            <a:ext cx="3238500" cy="330200"/>
          </a:xfrm>
          <a:prstGeom prst="rect">
            <a:avLst/>
          </a:prstGeom>
          <a:noFill/>
          <a:ln/>
        </p:spPr>
        <p:txBody>
          <a:bodyPr wrap="square" lIns="0" tIns="0" rIns="0" bIns="0" rtlCol="0" anchor="t"/>
          <a:lstStyle/>
          <a:p>
            <a:pPr indent="0" marL="0">
              <a:buNone/>
            </a:pPr>
            <a:r>
              <a:rPr lang="en-US" sz="1000" b="1" dirty="0">
                <a:solidFill>
                  <a:srgbClr val="15224B"/>
                </a:solidFill>
                <a:latin typeface="Segoe UI" pitchFamily="34" charset="0"/>
                <a:ea typeface="Segoe UI" pitchFamily="34" charset="-122"/>
                <a:cs typeface="Segoe UI" pitchFamily="34" charset="-120"/>
              </a:rPr>
              <a:t>Marketplace revenue and disbursements</a:t>
            </a:r>
            <a:endParaRPr lang="en-US" sz="1000" dirty="0"/>
          </a:p>
        </p:txBody>
      </p:sp>
      <p:sp>
        <p:nvSpPr>
          <p:cNvPr id="25" name="Text 21"/>
          <p:cNvSpPr txBox="1"/>
          <p:nvPr/>
        </p:nvSpPr>
        <p:spPr>
          <a:xfrm>
            <a:off x="4191000" y="3784600"/>
            <a:ext cx="4191000" cy="3302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AWS seller reporting, reconciled by OBP</a:t>
            </a:r>
            <a:endParaRPr lang="en-US" sz="1000" dirty="0"/>
          </a:p>
        </p:txBody>
      </p:sp>
      <p:sp>
        <p:nvSpPr>
          <p:cNvPr id="26" name="Text 22"/>
          <p:cNvSpPr txBox="1"/>
          <p:nvPr/>
        </p:nvSpPr>
        <p:spPr>
          <a:xfrm>
            <a:off x="8614410" y="3784600"/>
            <a:ext cx="2895600" cy="3302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Monthly, against AWS statements</a:t>
            </a:r>
            <a:endParaRPr lang="en-US" sz="1000" dirty="0"/>
          </a:p>
        </p:txBody>
      </p:sp>
      <p:sp>
        <p:nvSpPr>
          <p:cNvPr id="27" name="Text 23"/>
          <p:cNvSpPr txBox="1"/>
          <p:nvPr/>
        </p:nvSpPr>
        <p:spPr>
          <a:xfrm>
            <a:off x="749300" y="4114800"/>
            <a:ext cx="3238500" cy="330200"/>
          </a:xfrm>
          <a:prstGeom prst="rect">
            <a:avLst/>
          </a:prstGeom>
          <a:noFill/>
          <a:ln/>
        </p:spPr>
        <p:txBody>
          <a:bodyPr wrap="square" lIns="0" tIns="0" rIns="0" bIns="0" rtlCol="0" anchor="t"/>
          <a:lstStyle/>
          <a:p>
            <a:pPr indent="0" marL="0">
              <a:buNone/>
            </a:pPr>
            <a:r>
              <a:rPr lang="en-US" sz="1000" b="1" dirty="0">
                <a:solidFill>
                  <a:srgbClr val="15224B"/>
                </a:solidFill>
                <a:latin typeface="Segoe UI" pitchFamily="34" charset="0"/>
                <a:ea typeface="Segoe UI" pitchFamily="34" charset="-122"/>
                <a:cs typeface="Segoe UI" pitchFamily="34" charset="-120"/>
              </a:rPr>
              <a:t>Partners issuing offers</a:t>
            </a:r>
            <a:endParaRPr lang="en-US" sz="1000" dirty="0"/>
          </a:p>
        </p:txBody>
      </p:sp>
      <p:sp>
        <p:nvSpPr>
          <p:cNvPr id="28" name="Text 24"/>
          <p:cNvSpPr txBox="1"/>
          <p:nvPr/>
        </p:nvSpPr>
        <p:spPr>
          <a:xfrm>
            <a:off x="4191000" y="4114800"/>
            <a:ext cx="4191000" cy="3302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Kiflo — system of record</a:t>
            </a:r>
            <a:endParaRPr lang="en-US" sz="1000" dirty="0"/>
          </a:p>
        </p:txBody>
      </p:sp>
      <p:sp>
        <p:nvSpPr>
          <p:cNvPr id="29" name="Text 25"/>
          <p:cNvSpPr txBox="1"/>
          <p:nvPr/>
        </p:nvSpPr>
        <p:spPr>
          <a:xfrm>
            <a:off x="8614410" y="4114800"/>
            <a:ext cx="2895600" cy="3302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Monthly</a:t>
            </a:r>
            <a:endParaRPr lang="en-US" sz="1000" dirty="0"/>
          </a:p>
        </p:txBody>
      </p:sp>
      <p:sp>
        <p:nvSpPr>
          <p:cNvPr id="30" name="Shape 26"/>
          <p:cNvSpPr/>
          <p:nvPr/>
        </p:nvSpPr>
        <p:spPr>
          <a:xfrm>
            <a:off x="566420" y="4375150"/>
            <a:ext cx="11055350" cy="330200"/>
          </a:xfrm>
          <a:prstGeom prst="rect">
            <a:avLst/>
          </a:prstGeom>
          <a:solidFill>
            <a:srgbClr val="F5F8FC"/>
          </a:solidFill>
          <a:ln/>
        </p:spPr>
      </p:sp>
      <p:sp>
        <p:nvSpPr>
          <p:cNvPr id="31" name="Text 27"/>
          <p:cNvSpPr txBox="1"/>
          <p:nvPr/>
        </p:nvSpPr>
        <p:spPr>
          <a:xfrm>
            <a:off x="749300" y="4445000"/>
            <a:ext cx="3238500" cy="330200"/>
          </a:xfrm>
          <a:prstGeom prst="rect">
            <a:avLst/>
          </a:prstGeom>
          <a:noFill/>
          <a:ln/>
        </p:spPr>
        <p:txBody>
          <a:bodyPr wrap="square" lIns="0" tIns="0" rIns="0" bIns="0" rtlCol="0" anchor="t"/>
          <a:lstStyle/>
          <a:p>
            <a:pPr indent="0" marL="0">
              <a:buNone/>
            </a:pPr>
            <a:r>
              <a:rPr lang="en-US" sz="1000" b="1" dirty="0">
                <a:solidFill>
                  <a:srgbClr val="15224B"/>
                </a:solidFill>
                <a:latin typeface="Segoe UI" pitchFamily="34" charset="0"/>
                <a:ea typeface="Segoe UI" pitchFamily="34" charset="-122"/>
                <a:cs typeface="Segoe UI" pitchFamily="34" charset="-120"/>
              </a:rPr>
              <a:t>Partner-registered deals</a:t>
            </a:r>
            <a:endParaRPr lang="en-US" sz="1000" dirty="0"/>
          </a:p>
        </p:txBody>
      </p:sp>
      <p:sp>
        <p:nvSpPr>
          <p:cNvPr id="32" name="Text 28"/>
          <p:cNvSpPr txBox="1"/>
          <p:nvPr/>
        </p:nvSpPr>
        <p:spPr>
          <a:xfrm>
            <a:off x="4191000" y="4445000"/>
            <a:ext cx="4191000" cy="3302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Kiflo</a:t>
            </a:r>
            <a:endParaRPr lang="en-US" sz="1000" dirty="0"/>
          </a:p>
        </p:txBody>
      </p:sp>
      <p:sp>
        <p:nvSpPr>
          <p:cNvPr id="33" name="Text 29"/>
          <p:cNvSpPr txBox="1"/>
          <p:nvPr/>
        </p:nvSpPr>
        <p:spPr>
          <a:xfrm>
            <a:off x="8614410" y="4445000"/>
            <a:ext cx="2895600" cy="3302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Monthly</a:t>
            </a:r>
            <a:endParaRPr lang="en-US" sz="1000" dirty="0"/>
          </a:p>
        </p:txBody>
      </p:sp>
      <p:sp>
        <p:nvSpPr>
          <p:cNvPr id="34" name="Text 30"/>
          <p:cNvSpPr txBox="1"/>
          <p:nvPr/>
        </p:nvSpPr>
        <p:spPr>
          <a:xfrm>
            <a:off x="749300" y="4775200"/>
            <a:ext cx="3238500" cy="330200"/>
          </a:xfrm>
          <a:prstGeom prst="rect">
            <a:avLst/>
          </a:prstGeom>
          <a:noFill/>
          <a:ln/>
        </p:spPr>
        <p:txBody>
          <a:bodyPr wrap="square" lIns="0" tIns="0" rIns="0" bIns="0" rtlCol="0" anchor="t"/>
          <a:lstStyle/>
          <a:p>
            <a:pPr indent="0" marL="0">
              <a:buNone/>
            </a:pPr>
            <a:r>
              <a:rPr lang="en-US" sz="1000" b="1" dirty="0">
                <a:solidFill>
                  <a:srgbClr val="15224B"/>
                </a:solidFill>
                <a:latin typeface="Segoe UI" pitchFamily="34" charset="0"/>
                <a:ea typeface="Segoe UI" pitchFamily="34" charset="-122"/>
                <a:cs typeface="Segoe UI" pitchFamily="34" charset="-120"/>
              </a:rPr>
              <a:t>Evidence for each commitment</a:t>
            </a:r>
            <a:endParaRPr lang="en-US" sz="1000" dirty="0"/>
          </a:p>
        </p:txBody>
      </p:sp>
      <p:sp>
        <p:nvSpPr>
          <p:cNvPr id="35" name="Text 31"/>
          <p:cNvSpPr txBox="1"/>
          <p:nvPr/>
        </p:nvSpPr>
        <p:spPr>
          <a:xfrm>
            <a:off x="4191000" y="4775200"/>
            <a:ext cx="4191000" cy="3302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Dated pack, action log, Kiflo activity log, monthly report</a:t>
            </a:r>
            <a:endParaRPr lang="en-US" sz="1000" dirty="0"/>
          </a:p>
        </p:txBody>
      </p:sp>
      <p:sp>
        <p:nvSpPr>
          <p:cNvPr id="36" name="Text 32"/>
          <p:cNvSpPr txBox="1"/>
          <p:nvPr/>
        </p:nvSpPr>
        <p:spPr>
          <a:xfrm>
            <a:off x="8614410" y="4775200"/>
            <a:ext cx="2895600" cy="3302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Per commitment</a:t>
            </a:r>
            <a:endParaRPr lang="en-US" sz="1000" dirty="0"/>
          </a:p>
        </p:txBody>
      </p:sp>
      <p:sp>
        <p:nvSpPr>
          <p:cNvPr id="37" name="Text 33"/>
          <p:cNvSpPr txBox="1"/>
          <p:nvPr/>
        </p:nvSpPr>
        <p:spPr>
          <a:xfrm>
            <a:off x="749300" y="5080000"/>
            <a:ext cx="10795000" cy="203200"/>
          </a:xfrm>
          <a:prstGeom prst="rect">
            <a:avLst/>
          </a:prstGeom>
          <a:noFill/>
          <a:ln/>
        </p:spPr>
        <p:txBody>
          <a:bodyPr wrap="square" lIns="0" tIns="0" rIns="0" bIns="0" rtlCol="0" anchor="ctr"/>
          <a:lstStyle/>
          <a:p>
            <a:pPr indent="0" marL="0">
              <a:buNone/>
            </a:pPr>
            <a:r>
              <a:rPr lang="en-US" sz="900" dirty="0">
                <a:solidFill>
                  <a:srgbClr val="9AA2B5"/>
                </a:solidFill>
                <a:latin typeface="Segoe UI Semilight" pitchFamily="34" charset="0"/>
                <a:ea typeface="Segoe UI Semilight" pitchFamily="34" charset="-122"/>
                <a:cs typeface="Segoe UI Semilight" pitchFamily="34" charset="-120"/>
              </a:rPr>
              <a:t>Targets. Not guaranteed. Set from the customer’s baseline at onboarding, shown against actuals from month one.  </a:t>
            </a:r>
            <a:pPr indent="0" marL="0">
              <a:buNone/>
            </a:pPr>
            <a:r>
              <a:rPr lang="en-US" sz="900" dirty="0">
                <a:solidFill>
                  <a:srgbClr val="F36F20"/>
                </a:solidFill>
                <a:latin typeface="Segoe UI Semilight" pitchFamily="34" charset="0"/>
                <a:ea typeface="Segoe UI Semilight" pitchFamily="34" charset="-122"/>
                <a:cs typeface="Segoe UI Semilight" pitchFamily="34" charset="-120"/>
              </a:rPr>
              <a:t>[Remedy] applies to commitments only.</a:t>
            </a:r>
            <a:endParaRPr lang="en-US" sz="900" dirty="0"/>
          </a:p>
        </p:txBody>
      </p:sp>
      <p:sp>
        <p:nvSpPr>
          <p:cNvPr id="38" name="Shape 34"/>
          <p:cNvSpPr/>
          <p:nvPr/>
        </p:nvSpPr>
        <p:spPr>
          <a:xfrm>
            <a:off x="566420" y="5760720"/>
            <a:ext cx="11057890" cy="566420"/>
          </a:xfrm>
          <a:prstGeom prst="roundRect">
            <a:avLst>
              <a:gd name="adj" fmla="val 22601"/>
            </a:avLst>
          </a:prstGeom>
          <a:solidFill>
            <a:srgbClr val="15224B"/>
          </a:solidFill>
          <a:ln/>
        </p:spPr>
      </p:sp>
      <p:sp>
        <p:nvSpPr>
          <p:cNvPr id="39" name="Text 35"/>
          <p:cNvSpPr txBox="1"/>
          <p:nvPr/>
        </p:nvSpPr>
        <p:spPr>
          <a:xfrm>
            <a:off x="838200" y="5867400"/>
            <a:ext cx="10541000" cy="355600"/>
          </a:xfrm>
          <a:prstGeom prst="rect">
            <a:avLst/>
          </a:prstGeom>
          <a:noFill/>
          <a:ln/>
        </p:spPr>
        <p:txBody>
          <a:bodyPr wrap="square" lIns="0" tIns="0" rIns="0" bIns="0" rtlCol="0" anchor="ctr"/>
          <a:lstStyle/>
          <a:p>
            <a:pPr indent="0" marL="0">
              <a:buNone/>
            </a:pPr>
            <a:r>
              <a:rPr lang="en-US" sz="1050" b="1" spc="110" kern="0" dirty="0">
                <a:solidFill>
                  <a:srgbClr val="F36F20"/>
                </a:solidFill>
                <a:latin typeface="Segoe UI" pitchFamily="34" charset="0"/>
                <a:ea typeface="Segoe UI" pitchFamily="34" charset="-122"/>
                <a:cs typeface="Segoe UI" pitchFamily="34" charset="-120"/>
              </a:rPr>
              <a:t>ON EVERY ARTIFACT</a:t>
            </a:r>
            <a:pPr indent="0" marL="0">
              <a:buNone/>
            </a:pPr>
            <a:r>
              <a:rPr lang="en-US" sz="1050" dirty="0">
                <a:solidFill>
                  <a:srgbClr val="D7E1F5"/>
                </a:solidFill>
                <a:latin typeface="Segoe UI Semilight" pitchFamily="34" charset="0"/>
                <a:ea typeface="Segoe UI Semilight" pitchFamily="34" charset="-122"/>
                <a:cs typeface="Segoe UI Semilight" pitchFamily="34" charset="-120"/>
              </a:rPr>
              <a:t>    Both lines above appear on every customer overview and deck, or the commit column silently acquires a number nobody set.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home/user/barberbook/docs/deck/assets/bg_divider3.jp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txBox="1"/>
          <p:nvPr/>
        </p:nvSpPr>
        <p:spPr>
          <a:xfrm>
            <a:off x="657860" y="1905000"/>
            <a:ext cx="5080000" cy="254000"/>
          </a:xfrm>
          <a:prstGeom prst="rect">
            <a:avLst/>
          </a:prstGeom>
          <a:noFill/>
          <a:ln/>
        </p:spPr>
        <p:txBody>
          <a:bodyPr wrap="square" lIns="0" tIns="0" rIns="0" bIns="0" rtlCol="0" anchor="t"/>
          <a:lstStyle/>
          <a:p>
            <a:pPr indent="0" marL="0">
              <a:buNone/>
            </a:pPr>
            <a:r>
              <a:rPr lang="en-US" sz="1150" b="1" spc="320" kern="0" dirty="0">
                <a:solidFill>
                  <a:srgbClr val="F36F20"/>
                </a:solidFill>
                <a:latin typeface="Segoe UI" pitchFamily="34" charset="0"/>
                <a:ea typeface="Segoe UI" pitchFamily="34" charset="-122"/>
                <a:cs typeface="Segoe UI" pitchFamily="34" charset="-120"/>
              </a:rPr>
              <a:t>PART THREE</a:t>
            </a:r>
            <a:endParaRPr lang="en-US" sz="1150" dirty="0"/>
          </a:p>
        </p:txBody>
      </p:sp>
      <p:sp>
        <p:nvSpPr>
          <p:cNvPr id="4" name="Text 1"/>
          <p:cNvSpPr txBox="1"/>
          <p:nvPr/>
        </p:nvSpPr>
        <p:spPr>
          <a:xfrm>
            <a:off x="657860" y="2349500"/>
            <a:ext cx="8890000" cy="635000"/>
          </a:xfrm>
          <a:prstGeom prst="rect">
            <a:avLst/>
          </a:prstGeom>
          <a:noFill/>
          <a:ln/>
        </p:spPr>
        <p:txBody>
          <a:bodyPr wrap="square" lIns="0" tIns="0" rIns="0" bIns="0" rtlCol="0" anchor="t"/>
          <a:lstStyle/>
          <a:p>
            <a:pPr indent="0" marL="0">
              <a:buNone/>
            </a:pPr>
            <a:r>
              <a:rPr lang="en-US" sz="3400" b="1" dirty="0">
                <a:solidFill>
                  <a:srgbClr val="FFFFFF"/>
                </a:solidFill>
                <a:latin typeface="Segoe UI" pitchFamily="34" charset="0"/>
                <a:ea typeface="Segoe UI" pitchFamily="34" charset="-122"/>
                <a:cs typeface="Segoe UI" pitchFamily="34" charset="-120"/>
              </a:rPr>
              <a:t>The machinery</a:t>
            </a:r>
            <a:endParaRPr lang="en-US" sz="3400" dirty="0"/>
          </a:p>
        </p:txBody>
      </p:sp>
      <p:sp>
        <p:nvSpPr>
          <p:cNvPr id="5" name="Text 2"/>
          <p:cNvSpPr txBox="1"/>
          <p:nvPr/>
        </p:nvSpPr>
        <p:spPr>
          <a:xfrm>
            <a:off x="657860" y="3111500"/>
            <a:ext cx="8128000" cy="304800"/>
          </a:xfrm>
          <a:prstGeom prst="rect">
            <a:avLst/>
          </a:prstGeom>
          <a:noFill/>
          <a:ln/>
        </p:spPr>
        <p:txBody>
          <a:bodyPr wrap="square" lIns="0" tIns="0" rIns="0" bIns="0" rtlCol="0" anchor="t"/>
          <a:lstStyle/>
          <a:p>
            <a:pPr indent="0" marL="0">
              <a:buNone/>
            </a:pPr>
            <a:r>
              <a:rPr lang="en-US" sz="1300" dirty="0">
                <a:solidFill>
                  <a:srgbClr val="C6D2EA"/>
                </a:solidFill>
                <a:latin typeface="Segoe UI Semilight" pitchFamily="34" charset="0"/>
                <a:ea typeface="Segoe UI Semilight" pitchFamily="34" charset="-122"/>
                <a:cs typeface="Segoe UI Semilight" pitchFamily="34" charset="-120"/>
              </a:rPr>
              <a:t>What sits behind the four, for us and for AWS.</a:t>
            </a:r>
            <a:endParaRPr lang="en-US" sz="1300" dirty="0"/>
          </a:p>
        </p:txBody>
      </p:sp>
      <p:pic>
        <p:nvPicPr>
          <p:cNvPr id="6" name="Image 1" descr="/home/user/barberbook/docs/deck/assets/tile_a.png">    </p:cNvPr>
          <p:cNvPicPr>
            <a:picLocks noChangeAspect="1"/>
          </p:cNvPicPr>
          <p:nvPr/>
        </p:nvPicPr>
        <p:blipFill>
          <a:blip r:embed="rId2"/>
          <a:stretch>
            <a:fillRect/>
          </a:stretch>
        </p:blipFill>
        <p:spPr>
          <a:xfrm>
            <a:off x="657860" y="3810000"/>
            <a:ext cx="431800" cy="431800"/>
          </a:xfrm>
          <a:prstGeom prst="rect">
            <a:avLst/>
          </a:prstGeom>
        </p:spPr>
      </p:pic>
      <p:sp>
        <p:nvSpPr>
          <p:cNvPr id="7" name="Text 3"/>
          <p:cNvSpPr txBox="1"/>
          <p:nvPr/>
        </p:nvSpPr>
        <p:spPr>
          <a:xfrm>
            <a:off x="657860" y="4368800"/>
            <a:ext cx="1422400" cy="203200"/>
          </a:xfrm>
          <a:prstGeom prst="rect">
            <a:avLst/>
          </a:prstGeom>
          <a:noFill/>
          <a:ln/>
        </p:spPr>
        <p:txBody>
          <a:bodyPr wrap="square" lIns="0" tIns="0" rIns="0" bIns="0" rtlCol="0" anchor="t"/>
          <a:lstStyle/>
          <a:p>
            <a:pPr indent="0" marL="0">
              <a:buNone/>
            </a:pPr>
            <a:r>
              <a:rPr lang="en-US" sz="1000" dirty="0">
                <a:solidFill>
                  <a:srgbClr val="D3DCEF"/>
                </a:solidFill>
                <a:latin typeface="Segoe UI Semilight" pitchFamily="34" charset="0"/>
                <a:ea typeface="Segoe UI Semilight" pitchFamily="34" charset="-122"/>
                <a:cs typeface="Segoe UI Semilight" pitchFamily="34" charset="-120"/>
              </a:rPr>
              <a:t>Value chain</a:t>
            </a:r>
            <a:endParaRPr lang="en-US" sz="1000" dirty="0"/>
          </a:p>
        </p:txBody>
      </p:sp>
      <p:pic>
        <p:nvPicPr>
          <p:cNvPr id="8" name="Image 2" descr="/home/user/barberbook/docs/deck/assets/tile_c.png">    </p:cNvPr>
          <p:cNvPicPr>
            <a:picLocks noChangeAspect="1"/>
          </p:cNvPicPr>
          <p:nvPr/>
        </p:nvPicPr>
        <p:blipFill>
          <a:blip r:embed="rId3"/>
          <a:stretch>
            <a:fillRect/>
          </a:stretch>
        </p:blipFill>
        <p:spPr>
          <a:xfrm>
            <a:off x="2207260" y="3810000"/>
            <a:ext cx="431800" cy="431800"/>
          </a:xfrm>
          <a:prstGeom prst="rect">
            <a:avLst/>
          </a:prstGeom>
        </p:spPr>
      </p:pic>
      <p:sp>
        <p:nvSpPr>
          <p:cNvPr id="9" name="Text 4"/>
          <p:cNvSpPr txBox="1"/>
          <p:nvPr/>
        </p:nvSpPr>
        <p:spPr>
          <a:xfrm>
            <a:off x="2207260" y="4368800"/>
            <a:ext cx="1422400" cy="203200"/>
          </a:xfrm>
          <a:prstGeom prst="rect">
            <a:avLst/>
          </a:prstGeom>
          <a:noFill/>
          <a:ln/>
        </p:spPr>
        <p:txBody>
          <a:bodyPr wrap="square" lIns="0" tIns="0" rIns="0" bIns="0" rtlCol="0" anchor="t"/>
          <a:lstStyle/>
          <a:p>
            <a:pPr indent="0" marL="0">
              <a:buNone/>
            </a:pPr>
            <a:r>
              <a:rPr lang="en-US" sz="1000" dirty="0">
                <a:solidFill>
                  <a:srgbClr val="D3DCEF"/>
                </a:solidFill>
                <a:latin typeface="Segoe UI Semilight" pitchFamily="34" charset="0"/>
                <a:ea typeface="Segoe UI Semilight" pitchFamily="34" charset="-122"/>
                <a:cs typeface="Segoe UI Semilight" pitchFamily="34" charset="-120"/>
              </a:rPr>
              <a:t>Components</a:t>
            </a:r>
            <a:endParaRPr lang="en-US" sz="1000" dirty="0"/>
          </a:p>
        </p:txBody>
      </p:sp>
      <p:pic>
        <p:nvPicPr>
          <p:cNvPr id="10" name="Image 3" descr="/home/user/barberbook/docs/deck/assets/tile_h.png">    </p:cNvPr>
          <p:cNvPicPr>
            <a:picLocks noChangeAspect="1"/>
          </p:cNvPicPr>
          <p:nvPr/>
        </p:nvPicPr>
        <p:blipFill>
          <a:blip r:embed="rId4"/>
          <a:stretch>
            <a:fillRect/>
          </a:stretch>
        </p:blipFill>
        <p:spPr>
          <a:xfrm>
            <a:off x="3756660" y="3810000"/>
            <a:ext cx="431800" cy="431800"/>
          </a:xfrm>
          <a:prstGeom prst="rect">
            <a:avLst/>
          </a:prstGeom>
        </p:spPr>
      </p:pic>
      <p:sp>
        <p:nvSpPr>
          <p:cNvPr id="11" name="Text 5"/>
          <p:cNvSpPr txBox="1"/>
          <p:nvPr/>
        </p:nvSpPr>
        <p:spPr>
          <a:xfrm>
            <a:off x="3756660" y="4368800"/>
            <a:ext cx="1422400" cy="203200"/>
          </a:xfrm>
          <a:prstGeom prst="rect">
            <a:avLst/>
          </a:prstGeom>
          <a:noFill/>
          <a:ln/>
        </p:spPr>
        <p:txBody>
          <a:bodyPr wrap="square" lIns="0" tIns="0" rIns="0" bIns="0" rtlCol="0" anchor="t"/>
          <a:lstStyle/>
          <a:p>
            <a:pPr indent="0" marL="0">
              <a:buNone/>
            </a:pPr>
            <a:r>
              <a:rPr lang="en-US" sz="1000" dirty="0">
                <a:solidFill>
                  <a:srgbClr val="D3DCEF"/>
                </a:solidFill>
                <a:latin typeface="Segoe UI Semilight" pitchFamily="34" charset="0"/>
                <a:ea typeface="Segoe UI Semilight" pitchFamily="34" charset="-122"/>
                <a:cs typeface="Segoe UI Semilight" pitchFamily="34" charset="-120"/>
              </a:rPr>
              <a:t>Economics</a:t>
            </a:r>
            <a:endParaRPr lang="en-US" sz="1000" dirty="0"/>
          </a:p>
        </p:txBody>
      </p:sp>
      <p:pic>
        <p:nvPicPr>
          <p:cNvPr id="12" name="Image 4" descr="/home/user/barberbook/docs/deck/assets/tile_i.png">    </p:cNvPr>
          <p:cNvPicPr>
            <a:picLocks noChangeAspect="1"/>
          </p:cNvPicPr>
          <p:nvPr/>
        </p:nvPicPr>
        <p:blipFill>
          <a:blip r:embed="rId5"/>
          <a:stretch>
            <a:fillRect/>
          </a:stretch>
        </p:blipFill>
        <p:spPr>
          <a:xfrm>
            <a:off x="5306060" y="3810000"/>
            <a:ext cx="431800" cy="431800"/>
          </a:xfrm>
          <a:prstGeom prst="rect">
            <a:avLst/>
          </a:prstGeom>
        </p:spPr>
      </p:pic>
      <p:sp>
        <p:nvSpPr>
          <p:cNvPr id="13" name="Text 6"/>
          <p:cNvSpPr txBox="1"/>
          <p:nvPr/>
        </p:nvSpPr>
        <p:spPr>
          <a:xfrm>
            <a:off x="5306060" y="4368800"/>
            <a:ext cx="1422400" cy="203200"/>
          </a:xfrm>
          <a:prstGeom prst="rect">
            <a:avLst/>
          </a:prstGeom>
          <a:noFill/>
          <a:ln/>
        </p:spPr>
        <p:txBody>
          <a:bodyPr wrap="square" lIns="0" tIns="0" rIns="0" bIns="0" rtlCol="0" anchor="t"/>
          <a:lstStyle/>
          <a:p>
            <a:pPr indent="0" marL="0">
              <a:buNone/>
            </a:pPr>
            <a:r>
              <a:rPr lang="en-US" sz="1000" dirty="0">
                <a:solidFill>
                  <a:srgbClr val="D3DCEF"/>
                </a:solidFill>
                <a:latin typeface="Segoe UI Semilight" pitchFamily="34" charset="0"/>
                <a:ea typeface="Segoe UI Semilight" pitchFamily="34" charset="-122"/>
                <a:cs typeface="Segoe UI Semilight" pitchFamily="34" charset="-120"/>
              </a:rPr>
              <a:t>The decision</a:t>
            </a:r>
            <a:endParaRPr lang="en-US" sz="1000" dirty="0"/>
          </a:p>
        </p:txBody>
      </p:sp>
      <p:sp>
        <p:nvSpPr>
          <p:cNvPr id="14" name="Text 7"/>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15" name="Text 8"/>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15 / 22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home/user/barberbook/docs/deck/assets/bg_cont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eyebrow_p10.png">    </p:cNvPr>
          <p:cNvPicPr>
            <a:picLocks noChangeAspect="1"/>
          </p:cNvPicPr>
          <p:nvPr/>
        </p:nvPicPr>
        <p:blipFill>
          <a:blip r:embed="rId2"/>
          <a:stretch>
            <a:fillRect/>
          </a:stretch>
        </p:blipFill>
        <p:spPr>
          <a:xfrm>
            <a:off x="566420" y="474980"/>
            <a:ext cx="256540" cy="256540"/>
          </a:xfrm>
          <a:prstGeom prst="rect">
            <a:avLst/>
          </a:prstGeom>
        </p:spPr>
      </p:pic>
      <p:sp>
        <p:nvSpPr>
          <p:cNvPr id="4" name="Text 0"/>
          <p:cNvSpPr txBox="1"/>
          <p:nvPr/>
        </p:nvSpPr>
        <p:spPr>
          <a:xfrm>
            <a:off x="1023620" y="501650"/>
            <a:ext cx="6350000" cy="228600"/>
          </a:xfrm>
          <a:prstGeom prst="rect">
            <a:avLst/>
          </a:prstGeom>
          <a:noFill/>
          <a:ln/>
        </p:spPr>
        <p:txBody>
          <a:bodyPr wrap="square" lIns="0" tIns="0" rIns="0" bIns="0" rtlCol="0" anchor="t"/>
          <a:lstStyle/>
          <a:p>
            <a:pPr indent="0" marL="0">
              <a:buNone/>
            </a:pPr>
            <a:r>
              <a:rPr lang="en-US" sz="1150" b="1" spc="160" kern="0" dirty="0">
                <a:solidFill>
                  <a:srgbClr val="F36F20"/>
                </a:solidFill>
                <a:latin typeface="Segoe UI" pitchFamily="34" charset="0"/>
                <a:ea typeface="Segoe UI" pitchFamily="34" charset="-122"/>
                <a:cs typeface="Segoe UI" pitchFamily="34" charset="-120"/>
              </a:rPr>
              <a:t>ONE PLATFORM, FOUR STAGES</a:t>
            </a:r>
            <a:endParaRPr lang="en-US" sz="1150" dirty="0"/>
          </a:p>
        </p:txBody>
      </p:sp>
      <p:sp>
        <p:nvSpPr>
          <p:cNvPr id="5" name="Text 1"/>
          <p:cNvSpPr txBox="1"/>
          <p:nvPr/>
        </p:nvSpPr>
        <p:spPr>
          <a:xfrm>
            <a:off x="657860" y="939800"/>
            <a:ext cx="10922000" cy="508000"/>
          </a:xfrm>
          <a:prstGeom prst="rect">
            <a:avLst/>
          </a:prstGeom>
          <a:noFill/>
          <a:ln/>
        </p:spPr>
        <p:txBody>
          <a:bodyPr wrap="square" lIns="0" tIns="0" rIns="0" bIns="0" rtlCol="0" anchor="t"/>
          <a:lstStyle/>
          <a:p>
            <a:pPr indent="0" marL="0">
              <a:buNone/>
            </a:pPr>
            <a:r>
              <a:rPr lang="en-US" sz="2500" b="1" dirty="0">
                <a:solidFill>
                  <a:srgbClr val="15224B"/>
                </a:solidFill>
                <a:latin typeface="Segoe UI" pitchFamily="34" charset="0"/>
                <a:ea typeface="Segoe UI" pitchFamily="34" charset="-122"/>
                <a:cs typeface="Segoe UI" pitchFamily="34" charset="-120"/>
              </a:rPr>
              <a:t>Automatum is the common thread.</a:t>
            </a:r>
            <a:endParaRPr lang="en-US" sz="2500" dirty="0"/>
          </a:p>
        </p:txBody>
      </p:sp>
      <p:sp>
        <p:nvSpPr>
          <p:cNvPr id="6" name="Text 2"/>
          <p:cNvSpPr txBox="1"/>
          <p:nvPr/>
        </p:nvSpPr>
        <p:spPr>
          <a:xfrm>
            <a:off x="657860" y="1651000"/>
            <a:ext cx="10541000" cy="431800"/>
          </a:xfrm>
          <a:prstGeom prst="rect">
            <a:avLst/>
          </a:prstGeom>
          <a:noFill/>
          <a:ln/>
        </p:spPr>
        <p:txBody>
          <a:bodyPr wrap="square" lIns="0" tIns="0" rIns="0" bIns="0" rtlCol="0" anchor="t"/>
          <a:lstStyle/>
          <a:p>
            <a:pPr indent="0" marL="0">
              <a:buNone/>
            </a:pPr>
            <a:r>
              <a:rPr lang="en-US" sz="1250" dirty="0">
                <a:solidFill>
                  <a:srgbClr val="5B6378"/>
                </a:solidFill>
                <a:latin typeface="Segoe UI Semilight" pitchFamily="34" charset="0"/>
                <a:ea typeface="Segoe UI Semilight" pitchFamily="34" charset="-122"/>
                <a:cs typeface="Segoe UI Semilight" pitchFamily="34" charset="-120"/>
              </a:rPr>
              <a:t>Each solution puts OBP on a different stage of the same chain — and the boundary row is what keeps them four.</a:t>
            </a:r>
            <a:endParaRPr lang="en-US" sz="1250" dirty="0"/>
          </a:p>
        </p:txBody>
      </p:sp>
      <p:sp>
        <p:nvSpPr>
          <p:cNvPr id="7" name="Text 3"/>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8" name="Text 4"/>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16 / 22</a:t>
            </a:r>
            <a:endParaRPr lang="en-US" sz="900" dirty="0"/>
          </a:p>
        </p:txBody>
      </p:sp>
      <p:sp>
        <p:nvSpPr>
          <p:cNvPr id="9" name="Text 5"/>
          <p:cNvSpPr txBox="1"/>
          <p:nvPr/>
        </p:nvSpPr>
        <p:spPr>
          <a:xfrm>
            <a:off x="1905000" y="2286000"/>
            <a:ext cx="2311400" cy="330200"/>
          </a:xfrm>
          <a:prstGeom prst="rect">
            <a:avLst/>
          </a:prstGeom>
          <a:noFill/>
          <a:ln/>
        </p:spPr>
        <p:txBody>
          <a:bodyPr wrap="square" lIns="0" tIns="0" rIns="0" bIns="0" rtlCol="0" anchor="t"/>
          <a:lstStyle/>
          <a:p>
            <a:pPr indent="0" marL="0">
              <a:buNone/>
            </a:pPr>
            <a:r>
              <a:rPr lang="en-US" sz="1050" b="1" dirty="0">
                <a:solidFill>
                  <a:srgbClr val="15224B"/>
                </a:solidFill>
                <a:latin typeface="Segoe UI" pitchFamily="34" charset="0"/>
                <a:ea typeface="Segoe UI" pitchFamily="34" charset="-122"/>
                <a:cs typeface="Segoe UI" pitchFamily="34" charset="-120"/>
              </a:rPr>
              <a:t>Get listed</a:t>
            </a:r>
            <a:endParaRPr lang="en-US" sz="1050" dirty="0"/>
          </a:p>
        </p:txBody>
      </p:sp>
      <p:sp>
        <p:nvSpPr>
          <p:cNvPr id="10" name="Text 6"/>
          <p:cNvSpPr txBox="1"/>
          <p:nvPr/>
        </p:nvSpPr>
        <p:spPr>
          <a:xfrm>
            <a:off x="4394200" y="2286000"/>
            <a:ext cx="2311400" cy="330200"/>
          </a:xfrm>
          <a:prstGeom prst="rect">
            <a:avLst/>
          </a:prstGeom>
          <a:noFill/>
          <a:ln/>
        </p:spPr>
        <p:txBody>
          <a:bodyPr wrap="square" lIns="0" tIns="0" rIns="0" bIns="0" rtlCol="0" anchor="t"/>
          <a:lstStyle/>
          <a:p>
            <a:pPr indent="0" marL="0">
              <a:buNone/>
            </a:pPr>
            <a:r>
              <a:rPr lang="en-US" sz="1050" b="1" dirty="0">
                <a:solidFill>
                  <a:srgbClr val="15224B"/>
                </a:solidFill>
                <a:latin typeface="Segoe UI" pitchFamily="34" charset="0"/>
                <a:ea typeface="Segoe UI" pitchFamily="34" charset="-122"/>
                <a:cs typeface="Segoe UI" pitchFamily="34" charset="-120"/>
              </a:rPr>
              <a:t>Run the partnership</a:t>
            </a:r>
            <a:endParaRPr lang="en-US" sz="1050" dirty="0"/>
          </a:p>
        </p:txBody>
      </p:sp>
      <p:sp>
        <p:nvSpPr>
          <p:cNvPr id="11" name="Text 7"/>
          <p:cNvSpPr txBox="1"/>
          <p:nvPr/>
        </p:nvSpPr>
        <p:spPr>
          <a:xfrm>
            <a:off x="6883400" y="2286000"/>
            <a:ext cx="2311400" cy="330200"/>
          </a:xfrm>
          <a:prstGeom prst="rect">
            <a:avLst/>
          </a:prstGeom>
          <a:noFill/>
          <a:ln/>
        </p:spPr>
        <p:txBody>
          <a:bodyPr wrap="square" lIns="0" tIns="0" rIns="0" bIns="0" rtlCol="0" anchor="t"/>
          <a:lstStyle/>
          <a:p>
            <a:pPr indent="0" marL="0">
              <a:buNone/>
            </a:pPr>
            <a:r>
              <a:rPr lang="en-US" sz="1050" b="1" dirty="0">
                <a:solidFill>
                  <a:srgbClr val="15224B"/>
                </a:solidFill>
                <a:latin typeface="Segoe UI" pitchFamily="34" charset="0"/>
                <a:ea typeface="Segoe UI" pitchFamily="34" charset="-122"/>
                <a:cs typeface="Segoe UI" pitchFamily="34" charset="-120"/>
              </a:rPr>
              <a:t>Operate the Marketplace</a:t>
            </a:r>
            <a:endParaRPr lang="en-US" sz="1050" dirty="0"/>
          </a:p>
        </p:txBody>
      </p:sp>
      <p:sp>
        <p:nvSpPr>
          <p:cNvPr id="12" name="Text 8"/>
          <p:cNvSpPr txBox="1"/>
          <p:nvPr/>
        </p:nvSpPr>
        <p:spPr>
          <a:xfrm>
            <a:off x="9372600" y="2286000"/>
            <a:ext cx="2311400" cy="330200"/>
          </a:xfrm>
          <a:prstGeom prst="rect">
            <a:avLst/>
          </a:prstGeom>
          <a:noFill/>
          <a:ln/>
        </p:spPr>
        <p:txBody>
          <a:bodyPr wrap="square" lIns="0" tIns="0" rIns="0" bIns="0" rtlCol="0" anchor="t"/>
          <a:lstStyle/>
          <a:p>
            <a:pPr indent="0" marL="0">
              <a:buNone/>
            </a:pPr>
            <a:r>
              <a:rPr lang="en-US" sz="1050" b="1" dirty="0">
                <a:solidFill>
                  <a:srgbClr val="15224B"/>
                </a:solidFill>
                <a:latin typeface="Segoe UI" pitchFamily="34" charset="0"/>
                <a:ea typeface="Segoe UI" pitchFamily="34" charset="-122"/>
                <a:cs typeface="Segoe UI" pitchFamily="34" charset="-120"/>
              </a:rPr>
              <a:t>Build the channel</a:t>
            </a:r>
            <a:endParaRPr lang="en-US" sz="1050" dirty="0"/>
          </a:p>
        </p:txBody>
      </p:sp>
      <p:sp>
        <p:nvSpPr>
          <p:cNvPr id="13" name="Text 9"/>
          <p:cNvSpPr txBox="1"/>
          <p:nvPr/>
        </p:nvSpPr>
        <p:spPr>
          <a:xfrm>
            <a:off x="657860" y="2667000"/>
            <a:ext cx="1117600" cy="787400"/>
          </a:xfrm>
          <a:prstGeom prst="rect">
            <a:avLst/>
          </a:prstGeom>
          <a:noFill/>
          <a:ln/>
        </p:spPr>
        <p:txBody>
          <a:bodyPr wrap="square" lIns="0" tIns="0" rIns="0" bIns="0" rtlCol="0" anchor="t"/>
          <a:lstStyle/>
          <a:p>
            <a:pPr indent="0" marL="0">
              <a:buNone/>
            </a:pPr>
            <a:r>
              <a:rPr lang="en-US" sz="800" b="1" spc="50" kern="0" dirty="0">
                <a:solidFill>
                  <a:srgbClr val="F36F20"/>
                </a:solidFill>
                <a:latin typeface="Segoe UI" pitchFamily="34" charset="0"/>
                <a:ea typeface="Segoe UI" pitchFamily="34" charset="-122"/>
                <a:cs typeface="Segoe UI" pitchFamily="34" charset="-120"/>
              </a:rPr>
              <a:t>STAGE</a:t>
            </a:r>
            <a:endParaRPr lang="en-US" sz="800" dirty="0"/>
          </a:p>
        </p:txBody>
      </p:sp>
      <p:sp>
        <p:nvSpPr>
          <p:cNvPr id="14" name="Text 10"/>
          <p:cNvSpPr txBox="1"/>
          <p:nvPr/>
        </p:nvSpPr>
        <p:spPr>
          <a:xfrm>
            <a:off x="1905000" y="2667000"/>
            <a:ext cx="2311400" cy="787400"/>
          </a:xfrm>
          <a:prstGeom prst="rect">
            <a:avLst/>
          </a:prstGeom>
          <a:noFill/>
          <a:ln/>
        </p:spPr>
        <p:txBody>
          <a:bodyPr wrap="square" lIns="0" tIns="0" rIns="0" bIns="0" rtlCol="0" anchor="t"/>
          <a:lstStyle/>
          <a:p>
            <a:pPr indent="0" marL="0">
              <a:buNone/>
            </a:pPr>
            <a:r>
              <a:rPr lang="en-US" sz="800" dirty="0">
                <a:solidFill>
                  <a:srgbClr val="5B6378"/>
                </a:solidFill>
                <a:latin typeface="Segoe UI Semilight" pitchFamily="34" charset="0"/>
                <a:ea typeface="Segoe UI Semilight" pitchFamily="34" charset="-122"/>
                <a:cs typeface="Segoe UI Semilight" pitchFamily="34" charset="-120"/>
              </a:rPr>
              <a:t>The listing the product publishes to</a:t>
            </a:r>
            <a:endParaRPr lang="en-US" sz="800" dirty="0"/>
          </a:p>
        </p:txBody>
      </p:sp>
      <p:sp>
        <p:nvSpPr>
          <p:cNvPr id="15" name="Text 11"/>
          <p:cNvSpPr txBox="1"/>
          <p:nvPr/>
        </p:nvSpPr>
        <p:spPr>
          <a:xfrm>
            <a:off x="4394200" y="2667000"/>
            <a:ext cx="2311400" cy="787400"/>
          </a:xfrm>
          <a:prstGeom prst="rect">
            <a:avLst/>
          </a:prstGeom>
          <a:noFill/>
          <a:ln/>
        </p:spPr>
        <p:txBody>
          <a:bodyPr wrap="square" lIns="0" tIns="0" rIns="0" bIns="0" rtlCol="0" anchor="t"/>
          <a:lstStyle/>
          <a:p>
            <a:pPr indent="0" marL="0">
              <a:buNone/>
            </a:pPr>
            <a:r>
              <a:rPr lang="en-US" sz="800" dirty="0">
                <a:solidFill>
                  <a:srgbClr val="5B6378"/>
                </a:solidFill>
                <a:latin typeface="Segoe UI Semilight" pitchFamily="34" charset="0"/>
                <a:ea typeface="Segoe UI Semilight" pitchFamily="34" charset="-122"/>
                <a:cs typeface="Segoe UI Semilight" pitchFamily="34" charset="-120"/>
              </a:rPr>
              <a:t>The Marketplace platform compliance and co-sell work transacts on</a:t>
            </a:r>
            <a:endParaRPr lang="en-US" sz="800" dirty="0"/>
          </a:p>
        </p:txBody>
      </p:sp>
      <p:sp>
        <p:nvSpPr>
          <p:cNvPr id="16" name="Text 12"/>
          <p:cNvSpPr txBox="1"/>
          <p:nvPr/>
        </p:nvSpPr>
        <p:spPr>
          <a:xfrm>
            <a:off x="6883400" y="2667000"/>
            <a:ext cx="2311400" cy="787400"/>
          </a:xfrm>
          <a:prstGeom prst="rect">
            <a:avLst/>
          </a:prstGeom>
          <a:noFill/>
          <a:ln/>
        </p:spPr>
        <p:txBody>
          <a:bodyPr wrap="square" lIns="0" tIns="0" rIns="0" bIns="0" rtlCol="0" anchor="t"/>
          <a:lstStyle/>
          <a:p>
            <a:pPr indent="0" marL="0">
              <a:buNone/>
            </a:pPr>
            <a:r>
              <a:rPr lang="en-US" sz="800" dirty="0">
                <a:solidFill>
                  <a:srgbClr val="5B6378"/>
                </a:solidFill>
                <a:latin typeface="Segoe UI Semilight" pitchFamily="34" charset="0"/>
                <a:ea typeface="Segoe UI Semilight" pitchFamily="34" charset="-122"/>
                <a:cs typeface="Segoe UI Semilight" pitchFamily="34" charset="-120"/>
              </a:rPr>
              <a:t>The listing, the private offers, and the CRM and Partner Central integrations</a:t>
            </a:r>
            <a:endParaRPr lang="en-US" sz="800" dirty="0"/>
          </a:p>
        </p:txBody>
      </p:sp>
      <p:sp>
        <p:nvSpPr>
          <p:cNvPr id="17" name="Text 13"/>
          <p:cNvSpPr txBox="1"/>
          <p:nvPr/>
        </p:nvSpPr>
        <p:spPr>
          <a:xfrm>
            <a:off x="9372600" y="2667000"/>
            <a:ext cx="2311400" cy="787400"/>
          </a:xfrm>
          <a:prstGeom prst="rect">
            <a:avLst/>
          </a:prstGeom>
          <a:noFill/>
          <a:ln/>
        </p:spPr>
        <p:txBody>
          <a:bodyPr wrap="square" lIns="0" tIns="0" rIns="0" bIns="0" rtlCol="0" anchor="t"/>
          <a:lstStyle/>
          <a:p>
            <a:pPr indent="0" marL="0">
              <a:buNone/>
            </a:pPr>
            <a:r>
              <a:rPr lang="en-US" sz="800" dirty="0">
                <a:solidFill>
                  <a:srgbClr val="5B6378"/>
                </a:solidFill>
                <a:latin typeface="Segoe UI Semilight" pitchFamily="34" charset="0"/>
                <a:ea typeface="Segoe UI Semilight" pitchFamily="34" charset="-122"/>
                <a:cs typeface="Segoe UI Semilight" pitchFamily="34" charset="-120"/>
              </a:rPr>
              <a:t>The selling authorizations, the private offers and the AWS attribution</a:t>
            </a:r>
            <a:endParaRPr lang="en-US" sz="800" dirty="0"/>
          </a:p>
        </p:txBody>
      </p:sp>
      <p:sp>
        <p:nvSpPr>
          <p:cNvPr id="18" name="Text 14"/>
          <p:cNvSpPr txBox="1"/>
          <p:nvPr/>
        </p:nvSpPr>
        <p:spPr>
          <a:xfrm>
            <a:off x="657860" y="3454400"/>
            <a:ext cx="1117600" cy="508000"/>
          </a:xfrm>
          <a:prstGeom prst="rect">
            <a:avLst/>
          </a:prstGeom>
          <a:noFill/>
          <a:ln/>
        </p:spPr>
        <p:txBody>
          <a:bodyPr wrap="square" lIns="0" tIns="0" rIns="0" bIns="0" rtlCol="0" anchor="t"/>
          <a:lstStyle/>
          <a:p>
            <a:pPr indent="0" marL="0">
              <a:buNone/>
            </a:pPr>
            <a:r>
              <a:rPr lang="en-US" sz="800" b="1" spc="50" kern="0" dirty="0">
                <a:solidFill>
                  <a:srgbClr val="F36F20"/>
                </a:solidFill>
                <a:latin typeface="Segoe UI" pitchFamily="34" charset="0"/>
                <a:ea typeface="Segoe UI" pitchFamily="34" charset="-122"/>
                <a:cs typeface="Segoe UI" pitchFamily="34" charset="-120"/>
              </a:rPr>
              <a:t>AUTOMATUM</a:t>
            </a:r>
            <a:endParaRPr lang="en-US" sz="800" dirty="0"/>
          </a:p>
        </p:txBody>
      </p:sp>
      <p:sp>
        <p:nvSpPr>
          <p:cNvPr id="19" name="Text 15"/>
          <p:cNvSpPr txBox="1"/>
          <p:nvPr/>
        </p:nvSpPr>
        <p:spPr>
          <a:xfrm>
            <a:off x="1905000" y="3454400"/>
            <a:ext cx="2311400" cy="508000"/>
          </a:xfrm>
          <a:prstGeom prst="rect">
            <a:avLst/>
          </a:prstGeom>
          <a:noFill/>
          <a:ln/>
        </p:spPr>
        <p:txBody>
          <a:bodyPr wrap="square" lIns="0" tIns="0" rIns="0" bIns="0" rtlCol="0" anchor="t"/>
          <a:lstStyle/>
          <a:p>
            <a:pPr indent="0" marL="0">
              <a:buNone/>
            </a:pPr>
            <a:r>
              <a:rPr lang="en-US" sz="800" dirty="0">
                <a:solidFill>
                  <a:srgbClr val="5B6378"/>
                </a:solidFill>
                <a:latin typeface="Segoe UI Semilight" pitchFamily="34" charset="0"/>
                <a:ea typeface="Segoe UI Semilight" pitchFamily="34" charset="-122"/>
                <a:cs typeface="Segoe UI Semilight" pitchFamily="34" charset="-120"/>
              </a:rPr>
              <a:t>Seller of record on every transaction</a:t>
            </a:r>
            <a:endParaRPr lang="en-US" sz="800" dirty="0"/>
          </a:p>
        </p:txBody>
      </p:sp>
      <p:sp>
        <p:nvSpPr>
          <p:cNvPr id="20" name="Text 16"/>
          <p:cNvSpPr txBox="1"/>
          <p:nvPr/>
        </p:nvSpPr>
        <p:spPr>
          <a:xfrm>
            <a:off x="4394200" y="3454400"/>
            <a:ext cx="2311400" cy="508000"/>
          </a:xfrm>
          <a:prstGeom prst="rect">
            <a:avLst/>
          </a:prstGeom>
          <a:noFill/>
          <a:ln/>
        </p:spPr>
        <p:txBody>
          <a:bodyPr wrap="square" lIns="0" tIns="0" rIns="0" bIns="0" rtlCol="0" anchor="t"/>
          <a:lstStyle/>
          <a:p>
            <a:pPr indent="0" marL="0">
              <a:buNone/>
            </a:pPr>
            <a:r>
              <a:rPr lang="en-US" sz="800" dirty="0">
                <a:solidFill>
                  <a:srgbClr val="5B6378"/>
                </a:solidFill>
                <a:latin typeface="Segoe UI Semilight" pitchFamily="34" charset="0"/>
                <a:ea typeface="Segoe UI Semilight" pitchFamily="34" charset="-122"/>
                <a:cs typeface="Segoe UI Semilight" pitchFamily="34" charset="-120"/>
              </a:rPr>
              <a:t>Seller of record</a:t>
            </a:r>
            <a:endParaRPr lang="en-US" sz="800" dirty="0"/>
          </a:p>
        </p:txBody>
      </p:sp>
      <p:sp>
        <p:nvSpPr>
          <p:cNvPr id="21" name="Text 17"/>
          <p:cNvSpPr txBox="1"/>
          <p:nvPr/>
        </p:nvSpPr>
        <p:spPr>
          <a:xfrm>
            <a:off x="6883400" y="3454400"/>
            <a:ext cx="2311400" cy="508000"/>
          </a:xfrm>
          <a:prstGeom prst="rect">
            <a:avLst/>
          </a:prstGeom>
          <a:noFill/>
          <a:ln/>
        </p:spPr>
        <p:txBody>
          <a:bodyPr wrap="square" lIns="0" tIns="0" rIns="0" bIns="0" rtlCol="0" anchor="t"/>
          <a:lstStyle/>
          <a:p>
            <a:pPr indent="0" marL="0">
              <a:buNone/>
            </a:pPr>
            <a:r>
              <a:rPr lang="en-US" sz="800" dirty="0">
                <a:solidFill>
                  <a:srgbClr val="5B6378"/>
                </a:solidFill>
                <a:latin typeface="Segoe UI Semilight" pitchFamily="34" charset="0"/>
                <a:ea typeface="Segoe UI Semilight" pitchFamily="34" charset="-122"/>
                <a:cs typeface="Segoe UI Semilight" pitchFamily="34" charset="-120"/>
              </a:rPr>
              <a:t>Issues every private offer</a:t>
            </a:r>
            <a:endParaRPr lang="en-US" sz="800" dirty="0"/>
          </a:p>
        </p:txBody>
      </p:sp>
      <p:sp>
        <p:nvSpPr>
          <p:cNvPr id="22" name="Text 18"/>
          <p:cNvSpPr txBox="1"/>
          <p:nvPr/>
        </p:nvSpPr>
        <p:spPr>
          <a:xfrm>
            <a:off x="9372600" y="3454400"/>
            <a:ext cx="2311400" cy="508000"/>
          </a:xfrm>
          <a:prstGeom prst="rect">
            <a:avLst/>
          </a:prstGeom>
          <a:noFill/>
          <a:ln/>
        </p:spPr>
        <p:txBody>
          <a:bodyPr wrap="square" lIns="0" tIns="0" rIns="0" bIns="0" rtlCol="0" anchor="t"/>
          <a:lstStyle/>
          <a:p>
            <a:pPr indent="0" marL="0">
              <a:buNone/>
            </a:pPr>
            <a:r>
              <a:rPr lang="en-US" sz="800" dirty="0">
                <a:solidFill>
                  <a:srgbClr val="5B6378"/>
                </a:solidFill>
                <a:latin typeface="Segoe UI Semilight" pitchFamily="34" charset="0"/>
                <a:ea typeface="Segoe UI Semilight" pitchFamily="34" charset="-122"/>
                <a:cs typeface="Segoe UI Semilight" pitchFamily="34" charset="-120"/>
              </a:rPr>
              <a:t>Issues partner offers and selling authorizations</a:t>
            </a:r>
            <a:endParaRPr lang="en-US" sz="800" dirty="0"/>
          </a:p>
        </p:txBody>
      </p:sp>
      <p:sp>
        <p:nvSpPr>
          <p:cNvPr id="23" name="Text 19"/>
          <p:cNvSpPr txBox="1"/>
          <p:nvPr/>
        </p:nvSpPr>
        <p:spPr>
          <a:xfrm>
            <a:off x="657860" y="3962400"/>
            <a:ext cx="1117600" cy="838200"/>
          </a:xfrm>
          <a:prstGeom prst="rect">
            <a:avLst/>
          </a:prstGeom>
          <a:noFill/>
          <a:ln/>
        </p:spPr>
        <p:txBody>
          <a:bodyPr wrap="square" lIns="0" tIns="0" rIns="0" bIns="0" rtlCol="0" anchor="t"/>
          <a:lstStyle/>
          <a:p>
            <a:pPr indent="0" marL="0">
              <a:buNone/>
            </a:pPr>
            <a:r>
              <a:rPr lang="en-US" sz="800" b="1" spc="50" kern="0" dirty="0">
                <a:solidFill>
                  <a:srgbClr val="F36F20"/>
                </a:solidFill>
                <a:latin typeface="Segoe UI" pitchFamily="34" charset="0"/>
                <a:ea typeface="Segoe UI" pitchFamily="34" charset="-122"/>
                <a:cs typeface="Segoe UI" pitchFamily="34" charset="-120"/>
              </a:rPr>
              <a:t>OBP</a:t>
            </a:r>
            <a:endParaRPr lang="en-US" sz="800" dirty="0"/>
          </a:p>
        </p:txBody>
      </p:sp>
      <p:sp>
        <p:nvSpPr>
          <p:cNvPr id="24" name="Text 20"/>
          <p:cNvSpPr txBox="1"/>
          <p:nvPr/>
        </p:nvSpPr>
        <p:spPr>
          <a:xfrm>
            <a:off x="1905000" y="3962400"/>
            <a:ext cx="2311400" cy="838200"/>
          </a:xfrm>
          <a:prstGeom prst="rect">
            <a:avLst/>
          </a:prstGeom>
          <a:noFill/>
          <a:ln/>
        </p:spPr>
        <p:txBody>
          <a:bodyPr wrap="square" lIns="0" tIns="0" rIns="0" bIns="0" rtlCol="0" anchor="t"/>
          <a:lstStyle/>
          <a:p>
            <a:pPr indent="0" marL="0">
              <a:buNone/>
            </a:pPr>
            <a:r>
              <a:rPr lang="en-US" sz="800" dirty="0">
                <a:solidFill>
                  <a:srgbClr val="5B6378"/>
                </a:solidFill>
                <a:latin typeface="Segoe UI Semilight" pitchFamily="34" charset="0"/>
                <a:ea typeface="Segoe UI Semilight" pitchFamily="34" charset="-122"/>
                <a:cs typeface="Segoe UI Semilight" pitchFamily="34" charset="-120"/>
              </a:rPr>
              <a:t>The review, the remediation, the FTR and the seller registration</a:t>
            </a:r>
            <a:endParaRPr lang="en-US" sz="800" dirty="0"/>
          </a:p>
        </p:txBody>
      </p:sp>
      <p:sp>
        <p:nvSpPr>
          <p:cNvPr id="25" name="Text 21"/>
          <p:cNvSpPr txBox="1"/>
          <p:nvPr/>
        </p:nvSpPr>
        <p:spPr>
          <a:xfrm>
            <a:off x="4394200" y="3962400"/>
            <a:ext cx="2311400" cy="838200"/>
          </a:xfrm>
          <a:prstGeom prst="rect">
            <a:avLst/>
          </a:prstGeom>
          <a:noFill/>
          <a:ln/>
        </p:spPr>
        <p:txBody>
          <a:bodyPr wrap="square" lIns="0" tIns="0" rIns="0" bIns="0" rtlCol="0" anchor="t"/>
          <a:lstStyle/>
          <a:p>
            <a:pPr indent="0" marL="0">
              <a:buNone/>
            </a:pPr>
            <a:r>
              <a:rPr lang="en-US" sz="800" dirty="0">
                <a:solidFill>
                  <a:srgbClr val="5B6378"/>
                </a:solidFill>
                <a:latin typeface="Segoe UI Semilight" pitchFamily="34" charset="0"/>
                <a:ea typeface="Segoe UI Semilight" pitchFamily="34" charset="-122"/>
                <a:cs typeface="Segoe UI Semilight" pitchFamily="34" charset="-120"/>
              </a:rPr>
              <a:t>Program management, compliance, marketing, events, ACE and co-sell</a:t>
            </a:r>
            <a:endParaRPr lang="en-US" sz="800" dirty="0"/>
          </a:p>
        </p:txBody>
      </p:sp>
      <p:sp>
        <p:nvSpPr>
          <p:cNvPr id="26" name="Text 22"/>
          <p:cNvSpPr txBox="1"/>
          <p:nvPr/>
        </p:nvSpPr>
        <p:spPr>
          <a:xfrm>
            <a:off x="6883400" y="3962400"/>
            <a:ext cx="2311400" cy="838200"/>
          </a:xfrm>
          <a:prstGeom prst="rect">
            <a:avLst/>
          </a:prstGeom>
          <a:noFill/>
          <a:ln/>
        </p:spPr>
        <p:txBody>
          <a:bodyPr wrap="square" lIns="0" tIns="0" rIns="0" bIns="0" rtlCol="0" anchor="t"/>
          <a:lstStyle/>
          <a:p>
            <a:pPr indent="0" marL="0">
              <a:buNone/>
            </a:pPr>
            <a:r>
              <a:rPr lang="en-US" sz="800" dirty="0">
                <a:solidFill>
                  <a:srgbClr val="5B6378"/>
                </a:solidFill>
                <a:latin typeface="Segoe UI Semilight" pitchFamily="34" charset="0"/>
                <a:ea typeface="Segoe UI Semilight" pitchFamily="34" charset="-122"/>
                <a:cs typeface="Segoe UI Semilight" pitchFamily="34" charset="-120"/>
              </a:rPr>
              <a:t>Compliance engineering, the offer desk, reporting and listing configuration</a:t>
            </a:r>
            <a:endParaRPr lang="en-US" sz="800" dirty="0"/>
          </a:p>
        </p:txBody>
      </p:sp>
      <p:sp>
        <p:nvSpPr>
          <p:cNvPr id="27" name="Text 23"/>
          <p:cNvSpPr txBox="1"/>
          <p:nvPr/>
        </p:nvSpPr>
        <p:spPr>
          <a:xfrm>
            <a:off x="9372600" y="3962400"/>
            <a:ext cx="2311400" cy="838200"/>
          </a:xfrm>
          <a:prstGeom prst="rect">
            <a:avLst/>
          </a:prstGeom>
          <a:noFill/>
          <a:ln/>
        </p:spPr>
        <p:txBody>
          <a:bodyPr wrap="square" lIns="0" tIns="0" rIns="0" bIns="0" rtlCol="0" anchor="t"/>
          <a:lstStyle/>
          <a:p>
            <a:pPr indent="0" marL="0">
              <a:buNone/>
            </a:pPr>
            <a:r>
              <a:rPr lang="en-US" sz="800" dirty="0">
                <a:solidFill>
                  <a:srgbClr val="5B6378"/>
                </a:solidFill>
                <a:latin typeface="Segoe UI Semilight" pitchFamily="34" charset="0"/>
                <a:ea typeface="Segoe UI Semilight" pitchFamily="34" charset="-122"/>
                <a:cs typeface="Segoe UI Semilight" pitchFamily="34" charset="-120"/>
              </a:rPr>
              <a:t>Recruitment, agreements, enablement, training, the desk and the reviews</a:t>
            </a:r>
            <a:endParaRPr lang="en-US" sz="800" dirty="0"/>
          </a:p>
        </p:txBody>
      </p:sp>
      <p:sp>
        <p:nvSpPr>
          <p:cNvPr id="28" name="Text 24"/>
          <p:cNvSpPr txBox="1"/>
          <p:nvPr/>
        </p:nvSpPr>
        <p:spPr>
          <a:xfrm>
            <a:off x="657860" y="4800600"/>
            <a:ext cx="1117600" cy="660400"/>
          </a:xfrm>
          <a:prstGeom prst="rect">
            <a:avLst/>
          </a:prstGeom>
          <a:noFill/>
          <a:ln/>
        </p:spPr>
        <p:txBody>
          <a:bodyPr wrap="square" lIns="0" tIns="0" rIns="0" bIns="0" rtlCol="0" anchor="t"/>
          <a:lstStyle/>
          <a:p>
            <a:pPr indent="0" marL="0">
              <a:buNone/>
            </a:pPr>
            <a:r>
              <a:rPr lang="en-US" sz="800" b="1" spc="50" kern="0" dirty="0">
                <a:solidFill>
                  <a:srgbClr val="F36F20"/>
                </a:solidFill>
                <a:latin typeface="Segoe UI" pitchFamily="34" charset="0"/>
                <a:ea typeface="Segoe UI" pitchFamily="34" charset="-122"/>
                <a:cs typeface="Segoe UI" pitchFamily="34" charset="-120"/>
              </a:rPr>
              <a:t>THE BOUNDARY</a:t>
            </a:r>
            <a:endParaRPr lang="en-US" sz="800" dirty="0"/>
          </a:p>
        </p:txBody>
      </p:sp>
      <p:sp>
        <p:nvSpPr>
          <p:cNvPr id="29" name="Text 25"/>
          <p:cNvSpPr txBox="1"/>
          <p:nvPr/>
        </p:nvSpPr>
        <p:spPr>
          <a:xfrm>
            <a:off x="1905000" y="4800600"/>
            <a:ext cx="2311400" cy="660400"/>
          </a:xfrm>
          <a:prstGeom prst="rect">
            <a:avLst/>
          </a:prstGeom>
          <a:noFill/>
          <a:ln/>
        </p:spPr>
        <p:txBody>
          <a:bodyPr wrap="square" lIns="0" tIns="0" rIns="0" bIns="0" rtlCol="0" anchor="t"/>
          <a:lstStyle/>
          <a:p>
            <a:pPr indent="0" marL="0">
              <a:buNone/>
            </a:pPr>
            <a:r>
              <a:rPr lang="en-US" sz="800" dirty="0">
                <a:solidFill>
                  <a:srgbClr val="5B6378"/>
                </a:solidFill>
                <a:latin typeface="Segoe UI Semilight" pitchFamily="34" charset="0"/>
                <a:ea typeface="Segoe UI Semilight" pitchFamily="34" charset="-122"/>
                <a:cs typeface="Segoe UI Semilight" pitchFamily="34" charset="-120"/>
              </a:rPr>
              <a:t>One-time listing production</a:t>
            </a:r>
            <a:endParaRPr lang="en-US" sz="800" dirty="0"/>
          </a:p>
        </p:txBody>
      </p:sp>
      <p:sp>
        <p:nvSpPr>
          <p:cNvPr id="30" name="Text 26"/>
          <p:cNvSpPr txBox="1"/>
          <p:nvPr/>
        </p:nvSpPr>
        <p:spPr>
          <a:xfrm>
            <a:off x="4394200" y="4800600"/>
            <a:ext cx="2311400" cy="660400"/>
          </a:xfrm>
          <a:prstGeom prst="rect">
            <a:avLst/>
          </a:prstGeom>
          <a:noFill/>
          <a:ln/>
        </p:spPr>
        <p:txBody>
          <a:bodyPr wrap="square" lIns="0" tIns="0" rIns="0" bIns="0" rtlCol="0" anchor="t"/>
          <a:lstStyle/>
          <a:p>
            <a:pPr indent="0" marL="0">
              <a:buNone/>
            </a:pPr>
            <a:r>
              <a:rPr lang="en-US" sz="800" dirty="0">
                <a:solidFill>
                  <a:srgbClr val="5B6378"/>
                </a:solidFill>
                <a:latin typeface="Segoe UI Semilight" pitchFamily="34" charset="0"/>
                <a:ea typeface="Segoe UI Semilight" pitchFamily="34" charset="-122"/>
                <a:cs typeface="Segoe UI Semilight" pitchFamily="34" charset="-120"/>
              </a:rPr>
              <a:t>Co-sell opportunities and AWS funding</a:t>
            </a:r>
            <a:endParaRPr lang="en-US" sz="800" dirty="0"/>
          </a:p>
        </p:txBody>
      </p:sp>
      <p:sp>
        <p:nvSpPr>
          <p:cNvPr id="31" name="Text 27"/>
          <p:cNvSpPr txBox="1"/>
          <p:nvPr/>
        </p:nvSpPr>
        <p:spPr>
          <a:xfrm>
            <a:off x="6883400" y="4800600"/>
            <a:ext cx="2311400" cy="660400"/>
          </a:xfrm>
          <a:prstGeom prst="rect">
            <a:avLst/>
          </a:prstGeom>
          <a:noFill/>
          <a:ln/>
        </p:spPr>
        <p:txBody>
          <a:bodyPr wrap="square" lIns="0" tIns="0" rIns="0" bIns="0" rtlCol="0" anchor="t"/>
          <a:lstStyle/>
          <a:p>
            <a:pPr indent="0" marL="0">
              <a:buNone/>
            </a:pPr>
            <a:r>
              <a:rPr lang="en-US" sz="800" dirty="0">
                <a:solidFill>
                  <a:srgbClr val="5B6378"/>
                </a:solidFill>
                <a:latin typeface="Segoe UI Semilight" pitchFamily="34" charset="0"/>
                <a:ea typeface="Segoe UI Semilight" pitchFamily="34" charset="-122"/>
                <a:cs typeface="Segoe UI Semilight" pitchFamily="34" charset="-120"/>
              </a:rPr>
              <a:t>The customer’s own listing, offers and reconciliation</a:t>
            </a:r>
            <a:endParaRPr lang="en-US" sz="800" dirty="0"/>
          </a:p>
        </p:txBody>
      </p:sp>
      <p:sp>
        <p:nvSpPr>
          <p:cNvPr id="32" name="Text 28"/>
          <p:cNvSpPr txBox="1"/>
          <p:nvPr/>
        </p:nvSpPr>
        <p:spPr>
          <a:xfrm>
            <a:off x="9372600" y="4800600"/>
            <a:ext cx="2311400" cy="660400"/>
          </a:xfrm>
          <a:prstGeom prst="rect">
            <a:avLst/>
          </a:prstGeom>
          <a:noFill/>
          <a:ln/>
        </p:spPr>
        <p:txBody>
          <a:bodyPr wrap="square" lIns="0" tIns="0" rIns="0" bIns="0" rtlCol="0" anchor="t"/>
          <a:lstStyle/>
          <a:p>
            <a:pPr indent="0" marL="0">
              <a:buNone/>
            </a:pPr>
            <a:r>
              <a:rPr lang="en-US" sz="800" dirty="0">
                <a:solidFill>
                  <a:srgbClr val="5B6378"/>
                </a:solidFill>
                <a:latin typeface="Segoe UI Semilight" pitchFamily="34" charset="0"/>
                <a:ea typeface="Segoe UI Semilight" pitchFamily="34" charset="-122"/>
                <a:cs typeface="Segoe UI Semilight" pitchFamily="34" charset="-120"/>
              </a:rPr>
              <a:t>Third-party sellers and partner-issued offers</a:t>
            </a:r>
            <a:endParaRPr lang="en-US" sz="800" dirty="0"/>
          </a:p>
        </p:txBody>
      </p:sp>
      <p:sp>
        <p:nvSpPr>
          <p:cNvPr id="33" name="Shape 29"/>
          <p:cNvSpPr/>
          <p:nvPr/>
        </p:nvSpPr>
        <p:spPr>
          <a:xfrm>
            <a:off x="566420" y="5760720"/>
            <a:ext cx="11057890" cy="566420"/>
          </a:xfrm>
          <a:prstGeom prst="roundRect">
            <a:avLst>
              <a:gd name="adj" fmla="val 22601"/>
            </a:avLst>
          </a:prstGeom>
          <a:solidFill>
            <a:srgbClr val="15224B"/>
          </a:solidFill>
          <a:ln/>
        </p:spPr>
      </p:sp>
      <p:sp>
        <p:nvSpPr>
          <p:cNvPr id="34" name="Text 30"/>
          <p:cNvSpPr txBox="1"/>
          <p:nvPr/>
        </p:nvSpPr>
        <p:spPr>
          <a:xfrm>
            <a:off x="838200" y="5867400"/>
            <a:ext cx="10541000" cy="355600"/>
          </a:xfrm>
          <a:prstGeom prst="rect">
            <a:avLst/>
          </a:prstGeom>
          <a:noFill/>
          <a:ln/>
        </p:spPr>
        <p:txBody>
          <a:bodyPr wrap="square" lIns="0" tIns="0" rIns="0" bIns="0" rtlCol="0" anchor="ctr"/>
          <a:lstStyle/>
          <a:p>
            <a:pPr indent="0" marL="0">
              <a:buNone/>
            </a:pPr>
            <a:r>
              <a:rPr lang="en-US" sz="1050" b="1" spc="110" kern="0" dirty="0">
                <a:solidFill>
                  <a:srgbClr val="F36F20"/>
                </a:solidFill>
                <a:latin typeface="Segoe UI" pitchFamily="34" charset="0"/>
                <a:ea typeface="Segoe UI" pitchFamily="34" charset="-122"/>
                <a:cs typeface="Segoe UI" pitchFamily="34" charset="-120"/>
              </a:rPr>
              <a:t>STACKING RULE</a:t>
            </a:r>
            <a:pPr indent="0" marL="0">
              <a:buNone/>
            </a:pPr>
            <a:r>
              <a:rPr lang="en-US" sz="1050" dirty="0">
                <a:solidFill>
                  <a:srgbClr val="D7E1F5"/>
                </a:solidFill>
                <a:latin typeface="Segoe UI Semilight" pitchFamily="34" charset="0"/>
                <a:ea typeface="Segoe UI Semilight" pitchFamily="34" charset="-122"/>
                <a:cs typeface="Segoe UI Semilight" pitchFamily="34" charset="-120"/>
              </a:rPr>
              <a:t>    Where a customer buys two, the higher solution’s commit column governs the overlap, and the same work is not billed twice.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home/user/barberbook/docs/deck/assets/bg_cont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eyebrow_p8.png">    </p:cNvPr>
          <p:cNvPicPr>
            <a:picLocks noChangeAspect="1"/>
          </p:cNvPicPr>
          <p:nvPr/>
        </p:nvPicPr>
        <p:blipFill>
          <a:blip r:embed="rId2"/>
          <a:stretch>
            <a:fillRect/>
          </a:stretch>
        </p:blipFill>
        <p:spPr>
          <a:xfrm>
            <a:off x="566420" y="474980"/>
            <a:ext cx="256540" cy="256540"/>
          </a:xfrm>
          <a:prstGeom prst="rect">
            <a:avLst/>
          </a:prstGeom>
        </p:spPr>
      </p:pic>
      <p:sp>
        <p:nvSpPr>
          <p:cNvPr id="4" name="Text 0"/>
          <p:cNvSpPr txBox="1"/>
          <p:nvPr/>
        </p:nvSpPr>
        <p:spPr>
          <a:xfrm>
            <a:off x="1023620" y="501650"/>
            <a:ext cx="6350000" cy="228600"/>
          </a:xfrm>
          <a:prstGeom prst="rect">
            <a:avLst/>
          </a:prstGeom>
          <a:noFill/>
          <a:ln/>
        </p:spPr>
        <p:txBody>
          <a:bodyPr wrap="square" lIns="0" tIns="0" rIns="0" bIns="0" rtlCol="0" anchor="t"/>
          <a:lstStyle/>
          <a:p>
            <a:pPr indent="0" marL="0">
              <a:buNone/>
            </a:pPr>
            <a:r>
              <a:rPr lang="en-US" sz="1150" b="1" spc="160" kern="0" dirty="0">
                <a:solidFill>
                  <a:srgbClr val="2E7CC4"/>
                </a:solidFill>
                <a:latin typeface="Segoe UI" pitchFamily="34" charset="0"/>
                <a:ea typeface="Segoe UI" pitchFamily="34" charset="-122"/>
                <a:cs typeface="Segoe UI" pitchFamily="34" charset="-120"/>
              </a:rPr>
              <a:t>COMPONENTS BEHIND THE LISTING</a:t>
            </a:r>
            <a:endParaRPr lang="en-US" sz="1150" dirty="0"/>
          </a:p>
        </p:txBody>
      </p:sp>
      <p:sp>
        <p:nvSpPr>
          <p:cNvPr id="5" name="Text 1"/>
          <p:cNvSpPr txBox="1"/>
          <p:nvPr/>
        </p:nvSpPr>
        <p:spPr>
          <a:xfrm>
            <a:off x="657860" y="939800"/>
            <a:ext cx="10922000" cy="508000"/>
          </a:xfrm>
          <a:prstGeom prst="rect">
            <a:avLst/>
          </a:prstGeom>
          <a:noFill/>
          <a:ln/>
        </p:spPr>
        <p:txBody>
          <a:bodyPr wrap="square" lIns="0" tIns="0" rIns="0" bIns="0" rtlCol="0" anchor="t"/>
          <a:lstStyle/>
          <a:p>
            <a:pPr indent="0" marL="0">
              <a:buNone/>
            </a:pPr>
            <a:r>
              <a:rPr lang="en-US" sz="2500" b="1" dirty="0">
                <a:solidFill>
                  <a:srgbClr val="15224B"/>
                </a:solidFill>
                <a:latin typeface="Segoe UI" pitchFamily="34" charset="0"/>
                <a:ea typeface="Segoe UI" pitchFamily="34" charset="-122"/>
                <a:cs typeface="Segoe UI" pitchFamily="34" charset="-120"/>
              </a:rPr>
              <a:t>Licensed and operated inside the fee.</a:t>
            </a:r>
            <a:endParaRPr lang="en-US" sz="2500" dirty="0"/>
          </a:p>
        </p:txBody>
      </p:sp>
      <p:sp>
        <p:nvSpPr>
          <p:cNvPr id="6" name="Text 2"/>
          <p:cNvSpPr txBox="1"/>
          <p:nvPr/>
        </p:nvSpPr>
        <p:spPr>
          <a:xfrm>
            <a:off x="657860" y="1651000"/>
            <a:ext cx="10541000" cy="431800"/>
          </a:xfrm>
          <a:prstGeom prst="rect">
            <a:avLst/>
          </a:prstGeom>
          <a:noFill/>
          <a:ln/>
        </p:spPr>
        <p:txBody>
          <a:bodyPr wrap="square" lIns="0" tIns="0" rIns="0" bIns="0" rtlCol="0" anchor="t"/>
          <a:lstStyle/>
          <a:p>
            <a:pPr indent="0" marL="0">
              <a:buNone/>
            </a:pPr>
            <a:r>
              <a:rPr lang="en-US" sz="1250" dirty="0">
                <a:solidFill>
                  <a:srgbClr val="5B6378"/>
                </a:solidFill>
                <a:latin typeface="Segoe UI Semilight" pitchFamily="34" charset="0"/>
                <a:ea typeface="Segoe UI Semilight" pitchFamily="34" charset="-122"/>
                <a:cs typeface="Segoe UI Semilight" pitchFamily="34" charset="-120"/>
              </a:rPr>
              <a:t>Costs live in the models and in this register alone — a percentage discloses an amount as surely as the amount does.</a:t>
            </a:r>
            <a:endParaRPr lang="en-US" sz="1250" dirty="0"/>
          </a:p>
        </p:txBody>
      </p:sp>
      <p:sp>
        <p:nvSpPr>
          <p:cNvPr id="7" name="Text 3"/>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8" name="Text 4"/>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17 / 22</a:t>
            </a:r>
            <a:endParaRPr lang="en-US" sz="900" dirty="0"/>
          </a:p>
        </p:txBody>
      </p:sp>
      <p:sp>
        <p:nvSpPr>
          <p:cNvPr id="9" name="Text 5"/>
          <p:cNvSpPr txBox="1"/>
          <p:nvPr/>
        </p:nvSpPr>
        <p:spPr>
          <a:xfrm>
            <a:off x="749300" y="2489200"/>
            <a:ext cx="1397000" cy="1041400"/>
          </a:xfrm>
          <a:prstGeom prst="rect">
            <a:avLst/>
          </a:prstGeom>
          <a:noFill/>
          <a:ln/>
        </p:spPr>
        <p:txBody>
          <a:bodyPr wrap="square" lIns="0" tIns="0" rIns="0" bIns="0" rtlCol="0" anchor="t"/>
          <a:lstStyle/>
          <a:p>
            <a:pPr indent="0" marL="0">
              <a:buNone/>
            </a:pPr>
            <a:r>
              <a:rPr lang="en-US" sz="900" b="1" dirty="0">
                <a:solidFill>
                  <a:srgbClr val="15224B"/>
                </a:solidFill>
                <a:latin typeface="Segoe UI" pitchFamily="34" charset="0"/>
                <a:ea typeface="Segoe UI" pitchFamily="34" charset="-122"/>
                <a:cs typeface="Segoe UI" pitchFamily="34" charset="-120"/>
              </a:rPr>
              <a:t>ASecureCloud</a:t>
            </a:r>
            <a:endParaRPr lang="en-US" sz="900" dirty="0"/>
          </a:p>
        </p:txBody>
      </p:sp>
      <p:sp>
        <p:nvSpPr>
          <p:cNvPr id="10" name="Text 6"/>
          <p:cNvSpPr txBox="1"/>
          <p:nvPr/>
        </p:nvSpPr>
        <p:spPr>
          <a:xfrm>
            <a:off x="2286000" y="2489200"/>
            <a:ext cx="3810000" cy="104140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Automates data collection for a Well-Architected review, suggests answers, and generates CloudFormation and AWS CLI templates that resolve findings.</a:t>
            </a:r>
            <a:endParaRPr lang="en-US" sz="900" dirty="0"/>
          </a:p>
        </p:txBody>
      </p:sp>
      <p:sp>
        <p:nvSpPr>
          <p:cNvPr id="11" name="Text 7"/>
          <p:cNvSpPr txBox="1"/>
          <p:nvPr/>
        </p:nvSpPr>
        <p:spPr>
          <a:xfrm>
            <a:off x="6477000" y="2489200"/>
            <a:ext cx="2895600" cy="104140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Licensed and operated by OBP. Premium required for Well-Architected reviews; licences reassign between accounts and are held as a pool.</a:t>
            </a:r>
            <a:endParaRPr lang="en-US" sz="900" dirty="0"/>
          </a:p>
        </p:txBody>
      </p:sp>
      <p:sp>
        <p:nvSpPr>
          <p:cNvPr id="12" name="Shape 8"/>
          <p:cNvSpPr/>
          <p:nvPr/>
        </p:nvSpPr>
        <p:spPr>
          <a:xfrm>
            <a:off x="566420" y="3460750"/>
            <a:ext cx="11055350" cy="1041400"/>
          </a:xfrm>
          <a:prstGeom prst="rect">
            <a:avLst/>
          </a:prstGeom>
          <a:solidFill>
            <a:srgbClr val="F5F8FC"/>
          </a:solidFill>
          <a:ln/>
        </p:spPr>
      </p:sp>
      <p:sp>
        <p:nvSpPr>
          <p:cNvPr id="13" name="Text 9"/>
          <p:cNvSpPr txBox="1"/>
          <p:nvPr/>
        </p:nvSpPr>
        <p:spPr>
          <a:xfrm>
            <a:off x="749300" y="3530600"/>
            <a:ext cx="1397000" cy="1041400"/>
          </a:xfrm>
          <a:prstGeom prst="rect">
            <a:avLst/>
          </a:prstGeom>
          <a:noFill/>
          <a:ln/>
        </p:spPr>
        <p:txBody>
          <a:bodyPr wrap="square" lIns="0" tIns="0" rIns="0" bIns="0" rtlCol="0" anchor="t"/>
          <a:lstStyle/>
          <a:p>
            <a:pPr indent="0" marL="0">
              <a:buNone/>
            </a:pPr>
            <a:r>
              <a:rPr lang="en-US" sz="900" b="1" dirty="0">
                <a:solidFill>
                  <a:srgbClr val="15224B"/>
                </a:solidFill>
                <a:latin typeface="Segoe UI" pitchFamily="34" charset="0"/>
                <a:ea typeface="Segoe UI" pitchFamily="34" charset="-122"/>
                <a:cs typeface="Segoe UI" pitchFamily="34" charset="-120"/>
              </a:rPr>
              <a:t>Kiflo</a:t>
            </a:r>
            <a:endParaRPr lang="en-US" sz="900" dirty="0"/>
          </a:p>
        </p:txBody>
      </p:sp>
      <p:sp>
        <p:nvSpPr>
          <p:cNvPr id="14" name="Text 10"/>
          <p:cNvSpPr txBox="1"/>
          <p:nvPr/>
        </p:nvSpPr>
        <p:spPr>
          <a:xfrm>
            <a:off x="2286000" y="3530600"/>
            <a:ext cx="3810000" cy="104140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Partner system of record: portal, onboarding, deal registration, commission tracking. Core carries HubSpot and Salesforce sync.</a:t>
            </a:r>
            <a:endParaRPr lang="en-US" sz="900" dirty="0"/>
          </a:p>
        </p:txBody>
      </p:sp>
      <p:sp>
        <p:nvSpPr>
          <p:cNvPr id="15" name="Text 11"/>
          <p:cNvSpPr txBox="1"/>
          <p:nvPr/>
        </p:nvSpPr>
        <p:spPr>
          <a:xfrm>
            <a:off x="6477000" y="3530600"/>
            <a:ext cx="2895600" cy="104140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Resold by OBP inside Managed Partner Development, at every tier. System of record behind the partners-issuing-offers count. [Pricing basis, seats per rung, edition per rung — to confirm.]</a:t>
            </a:r>
            <a:endParaRPr lang="en-US" sz="900" dirty="0"/>
          </a:p>
        </p:txBody>
      </p:sp>
      <p:sp>
        <p:nvSpPr>
          <p:cNvPr id="16" name="Text 12"/>
          <p:cNvSpPr txBox="1"/>
          <p:nvPr/>
        </p:nvSpPr>
        <p:spPr>
          <a:xfrm>
            <a:off x="749300" y="4572000"/>
            <a:ext cx="1397000" cy="1041400"/>
          </a:xfrm>
          <a:prstGeom prst="rect">
            <a:avLst/>
          </a:prstGeom>
          <a:noFill/>
          <a:ln/>
        </p:spPr>
        <p:txBody>
          <a:bodyPr wrap="square" lIns="0" tIns="0" rIns="0" bIns="0" rtlCol="0" anchor="t"/>
          <a:lstStyle/>
          <a:p>
            <a:pPr indent="0" marL="0">
              <a:buNone/>
            </a:pPr>
            <a:r>
              <a:rPr lang="en-US" sz="900" b="1" dirty="0">
                <a:solidFill>
                  <a:srgbClr val="15224B"/>
                </a:solidFill>
                <a:latin typeface="Segoe UI" pitchFamily="34" charset="0"/>
                <a:ea typeface="Segoe UI" pitchFamily="34" charset="-122"/>
                <a:cs typeface="Segoe UI" pitchFamily="34" charset="-120"/>
              </a:rPr>
              <a:t>Archera</a:t>
            </a:r>
            <a:endParaRPr lang="en-US" sz="900" dirty="0"/>
          </a:p>
        </p:txBody>
      </p:sp>
      <p:sp>
        <p:nvSpPr>
          <p:cNvPr id="17" name="Text 13"/>
          <p:cNvSpPr txBox="1"/>
          <p:nvPr/>
        </p:nvSpPr>
        <p:spPr>
          <a:xfrm>
            <a:off x="2286000" y="4572000"/>
            <a:ext cx="3810000" cy="104140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Commitment management for AWS spend — insured reservations and savings plans.</a:t>
            </a:r>
            <a:endParaRPr lang="en-US" sz="900" dirty="0"/>
          </a:p>
        </p:txBody>
      </p:sp>
      <p:sp>
        <p:nvSpPr>
          <p:cNvPr id="18" name="Text 14"/>
          <p:cNvSpPr txBox="1"/>
          <p:nvPr/>
        </p:nvSpPr>
        <p:spPr>
          <a:xfrm>
            <a:off x="6477000" y="4572000"/>
            <a:ext cx="2895600" cy="104140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Carried under OBP’s own agreement and sold on its own motion. It appears in no artifact of these four solutions, and must not leak into the revenue share.</a:t>
            </a:r>
            <a:endParaRPr lang="en-US" sz="900" dirty="0"/>
          </a:p>
        </p:txBody>
      </p:sp>
      <p:sp>
        <p:nvSpPr>
          <p:cNvPr id="19" name="Text 15"/>
          <p:cNvSpPr txBox="1"/>
          <p:nvPr/>
        </p:nvSpPr>
        <p:spPr>
          <a:xfrm>
            <a:off x="749300" y="5486400"/>
            <a:ext cx="10795000" cy="203200"/>
          </a:xfrm>
          <a:prstGeom prst="rect">
            <a:avLst/>
          </a:prstGeom>
          <a:noFill/>
          <a:ln/>
        </p:spPr>
        <p:txBody>
          <a:bodyPr wrap="square" lIns="0" tIns="0" rIns="0" bIns="0" rtlCol="0" anchor="ctr"/>
          <a:lstStyle/>
          <a:p>
            <a:pPr indent="0" marL="0">
              <a:buNone/>
            </a:pPr>
            <a:r>
              <a:rPr lang="en-US" sz="900" b="1" dirty="0">
                <a:solidFill>
                  <a:srgbClr val="F36F20"/>
                </a:solidFill>
                <a:latin typeface="Segoe UI" pitchFamily="34" charset="0"/>
                <a:ea typeface="Segoe UI" pitchFamily="34" charset="-122"/>
                <a:cs typeface="Segoe UI" pitchFamily="34" charset="-120"/>
              </a:rPr>
              <a:t>Not yet named:  </a:t>
            </a:r>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the deck names no component for Managed AWS Alliances or Managed Marketplace Operations, and no Automatum software on the software line of any of the four listings. Name them or mark them confirmed-empty.</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home/user/barberbook/docs/deck/assets/bg_cont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eyebrow_p12.png">    </p:cNvPr>
          <p:cNvPicPr>
            <a:picLocks noChangeAspect="1"/>
          </p:cNvPicPr>
          <p:nvPr/>
        </p:nvPicPr>
        <p:blipFill>
          <a:blip r:embed="rId2"/>
          <a:stretch>
            <a:fillRect/>
          </a:stretch>
        </p:blipFill>
        <p:spPr>
          <a:xfrm>
            <a:off x="566420" y="474980"/>
            <a:ext cx="256540" cy="256540"/>
          </a:xfrm>
          <a:prstGeom prst="rect">
            <a:avLst/>
          </a:prstGeom>
        </p:spPr>
      </p:pic>
      <p:sp>
        <p:nvSpPr>
          <p:cNvPr id="4" name="Text 0"/>
          <p:cNvSpPr txBox="1"/>
          <p:nvPr/>
        </p:nvSpPr>
        <p:spPr>
          <a:xfrm>
            <a:off x="1023620" y="501650"/>
            <a:ext cx="6350000" cy="228600"/>
          </a:xfrm>
          <a:prstGeom prst="rect">
            <a:avLst/>
          </a:prstGeom>
          <a:noFill/>
          <a:ln/>
        </p:spPr>
        <p:txBody>
          <a:bodyPr wrap="square" lIns="0" tIns="0" rIns="0" bIns="0" rtlCol="0" anchor="t"/>
          <a:lstStyle/>
          <a:p>
            <a:pPr indent="0" marL="0">
              <a:buNone/>
            </a:pPr>
            <a:r>
              <a:rPr lang="en-US" sz="1150" b="1" spc="160" kern="0" dirty="0">
                <a:solidFill>
                  <a:srgbClr val="F36F20"/>
                </a:solidFill>
                <a:latin typeface="Segoe UI" pitchFamily="34" charset="0"/>
                <a:ea typeface="Segoe UI" pitchFamily="34" charset="-122"/>
                <a:cs typeface="Segoe UI" pitchFamily="34" charset="-120"/>
              </a:rPr>
              <a:t>PARTNER ECONOMICS</a:t>
            </a:r>
            <a:endParaRPr lang="en-US" sz="1150" dirty="0"/>
          </a:p>
        </p:txBody>
      </p:sp>
      <p:sp>
        <p:nvSpPr>
          <p:cNvPr id="5" name="Text 1"/>
          <p:cNvSpPr txBox="1"/>
          <p:nvPr/>
        </p:nvSpPr>
        <p:spPr>
          <a:xfrm>
            <a:off x="657860" y="939800"/>
            <a:ext cx="10922000" cy="508000"/>
          </a:xfrm>
          <a:prstGeom prst="rect">
            <a:avLst/>
          </a:prstGeom>
          <a:noFill/>
          <a:ln/>
        </p:spPr>
        <p:txBody>
          <a:bodyPr wrap="square" lIns="0" tIns="0" rIns="0" bIns="0" rtlCol="0" anchor="t"/>
          <a:lstStyle/>
          <a:p>
            <a:pPr indent="0" marL="0">
              <a:buNone/>
            </a:pPr>
            <a:r>
              <a:rPr lang="en-US" sz="2500" b="1" dirty="0">
                <a:solidFill>
                  <a:srgbClr val="15224B"/>
                </a:solidFill>
                <a:latin typeface="Segoe UI" pitchFamily="34" charset="0"/>
                <a:ea typeface="Segoe UI" pitchFamily="34" charset="-122"/>
                <a:cs typeface="Segoe UI" pitchFamily="34" charset="-120"/>
              </a:rPr>
              <a:t>The terms to agree between us.</a:t>
            </a:r>
            <a:endParaRPr lang="en-US" sz="2500" dirty="0"/>
          </a:p>
        </p:txBody>
      </p:sp>
      <p:sp>
        <p:nvSpPr>
          <p:cNvPr id="6" name="Text 2"/>
          <p:cNvSpPr txBox="1"/>
          <p:nvPr/>
        </p:nvSpPr>
        <p:spPr>
          <a:xfrm>
            <a:off x="657860" y="1651000"/>
            <a:ext cx="10541000" cy="431800"/>
          </a:xfrm>
          <a:prstGeom prst="rect">
            <a:avLst/>
          </a:prstGeom>
          <a:noFill/>
          <a:ln/>
        </p:spPr>
        <p:txBody>
          <a:bodyPr wrap="square" lIns="0" tIns="0" rIns="0" bIns="0" rtlCol="0" anchor="t"/>
          <a:lstStyle/>
          <a:p>
            <a:pPr indent="0" marL="0">
              <a:buNone/>
            </a:pPr>
            <a:r>
              <a:rPr lang="en-US" sz="1250" dirty="0">
                <a:solidFill>
                  <a:srgbClr val="5B6378"/>
                </a:solidFill>
                <a:latin typeface="Segoe UI Semilight" pitchFamily="34" charset="0"/>
                <a:ea typeface="Segoe UI Semilight" pitchFamily="34" charset="-122"/>
                <a:cs typeface="Segoe UI Semilight" pitchFamily="34" charset="-120"/>
              </a:rPr>
              <a:t>Automatum is seller of record and owns the listed software in all four. No numbers here before the call — this is the agenda for it.</a:t>
            </a:r>
            <a:endParaRPr lang="en-US" sz="1250" dirty="0"/>
          </a:p>
        </p:txBody>
      </p:sp>
      <p:sp>
        <p:nvSpPr>
          <p:cNvPr id="7" name="Text 3"/>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8" name="Text 4"/>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18 / 22</a:t>
            </a:r>
            <a:endParaRPr lang="en-US" sz="900" dirty="0"/>
          </a:p>
        </p:txBody>
      </p:sp>
      <p:sp>
        <p:nvSpPr>
          <p:cNvPr id="9" name="Shape 5"/>
          <p:cNvSpPr/>
          <p:nvPr/>
        </p:nvSpPr>
        <p:spPr>
          <a:xfrm>
            <a:off x="566420" y="2292350"/>
            <a:ext cx="11055350" cy="311150"/>
          </a:xfrm>
          <a:prstGeom prst="rect">
            <a:avLst/>
          </a:prstGeom>
          <a:solidFill>
            <a:srgbClr val="15224B"/>
          </a:solidFill>
          <a:ln/>
        </p:spPr>
      </p:sp>
      <p:sp>
        <p:nvSpPr>
          <p:cNvPr id="10" name="Text 6"/>
          <p:cNvSpPr txBox="1"/>
          <p:nvPr/>
        </p:nvSpPr>
        <p:spPr>
          <a:xfrm>
            <a:off x="749300" y="2362200"/>
            <a:ext cx="2413000" cy="203200"/>
          </a:xfrm>
          <a:prstGeom prst="rect">
            <a:avLst/>
          </a:prstGeom>
          <a:noFill/>
          <a:ln/>
        </p:spPr>
        <p:txBody>
          <a:bodyPr wrap="square" lIns="0" tIns="0" rIns="0" bIns="0" rtlCol="0" anchor="t"/>
          <a:lstStyle/>
          <a:p>
            <a:pPr indent="0" marL="0">
              <a:buNone/>
            </a:pPr>
            <a:r>
              <a:rPr lang="en-US" sz="900" b="1" dirty="0">
                <a:solidFill>
                  <a:srgbClr val="FFFFFF"/>
                </a:solidFill>
                <a:latin typeface="Segoe UI" pitchFamily="34" charset="0"/>
                <a:ea typeface="Segoe UI" pitchFamily="34" charset="-122"/>
                <a:cs typeface="Segoe UI" pitchFamily="34" charset="-120"/>
              </a:rPr>
              <a:t>Term</a:t>
            </a:r>
            <a:endParaRPr lang="en-US" sz="900" dirty="0"/>
          </a:p>
        </p:txBody>
      </p:sp>
      <p:sp>
        <p:nvSpPr>
          <p:cNvPr id="11" name="Text 7"/>
          <p:cNvSpPr txBox="1"/>
          <p:nvPr/>
        </p:nvSpPr>
        <p:spPr>
          <a:xfrm>
            <a:off x="3327400" y="2362200"/>
            <a:ext cx="5270500" cy="203200"/>
          </a:xfrm>
          <a:prstGeom prst="rect">
            <a:avLst/>
          </a:prstGeom>
          <a:noFill/>
          <a:ln/>
        </p:spPr>
        <p:txBody>
          <a:bodyPr wrap="square" lIns="0" tIns="0" rIns="0" bIns="0" rtlCol="0" anchor="t"/>
          <a:lstStyle/>
          <a:p>
            <a:pPr indent="0" marL="0">
              <a:buNone/>
            </a:pPr>
            <a:r>
              <a:rPr lang="en-US" sz="900" b="1" dirty="0">
                <a:solidFill>
                  <a:srgbClr val="FFFFFF"/>
                </a:solidFill>
                <a:latin typeface="Segoe UI" pitchFamily="34" charset="0"/>
                <a:ea typeface="Segoe UI" pitchFamily="34" charset="-122"/>
                <a:cs typeface="Segoe UI" pitchFamily="34" charset="-120"/>
              </a:rPr>
              <a:t>What has to be settled</a:t>
            </a:r>
            <a:endParaRPr lang="en-US" sz="900" dirty="0"/>
          </a:p>
        </p:txBody>
      </p:sp>
      <p:sp>
        <p:nvSpPr>
          <p:cNvPr id="12" name="Text 8"/>
          <p:cNvSpPr txBox="1"/>
          <p:nvPr/>
        </p:nvSpPr>
        <p:spPr>
          <a:xfrm>
            <a:off x="8890000" y="2362200"/>
            <a:ext cx="2895600" cy="203200"/>
          </a:xfrm>
          <a:prstGeom prst="rect">
            <a:avLst/>
          </a:prstGeom>
          <a:noFill/>
          <a:ln/>
        </p:spPr>
        <p:txBody>
          <a:bodyPr wrap="square" lIns="0" tIns="0" rIns="0" bIns="0" rtlCol="0" anchor="t"/>
          <a:lstStyle/>
          <a:p>
            <a:pPr indent="0" marL="0">
              <a:buNone/>
            </a:pPr>
            <a:r>
              <a:rPr lang="en-US" sz="900" b="1" dirty="0">
                <a:solidFill>
                  <a:srgbClr val="FFFFFF"/>
                </a:solidFill>
                <a:latin typeface="Segoe UI" pitchFamily="34" charset="0"/>
                <a:ea typeface="Segoe UI" pitchFamily="34" charset="-122"/>
                <a:cs typeface="Segoe UI" pitchFamily="34" charset="-120"/>
              </a:rPr>
              <a:t>Owner and status</a:t>
            </a:r>
            <a:endParaRPr lang="en-US" sz="900" dirty="0"/>
          </a:p>
        </p:txBody>
      </p:sp>
      <p:sp>
        <p:nvSpPr>
          <p:cNvPr id="13" name="Text 9"/>
          <p:cNvSpPr txBox="1"/>
          <p:nvPr/>
        </p:nvSpPr>
        <p:spPr>
          <a:xfrm>
            <a:off x="749300" y="2724150"/>
            <a:ext cx="2413000" cy="311150"/>
          </a:xfrm>
          <a:prstGeom prst="rect">
            <a:avLst/>
          </a:prstGeom>
          <a:noFill/>
          <a:ln/>
        </p:spPr>
        <p:txBody>
          <a:bodyPr wrap="square" lIns="0" tIns="0" rIns="0" bIns="0" rtlCol="0" anchor="t"/>
          <a:lstStyle/>
          <a:p>
            <a:pPr indent="0" marL="0">
              <a:buNone/>
            </a:pPr>
            <a:r>
              <a:rPr lang="en-US" sz="900" b="1" dirty="0">
                <a:solidFill>
                  <a:srgbClr val="15224B"/>
                </a:solidFill>
                <a:latin typeface="Segoe UI" pitchFamily="34" charset="0"/>
                <a:ea typeface="Segoe UI" pitchFamily="34" charset="-122"/>
                <a:cs typeface="Segoe UI" pitchFamily="34" charset="-120"/>
              </a:rPr>
              <a:t>Flow of funds and payment trigger</a:t>
            </a:r>
            <a:endParaRPr lang="en-US" sz="900" dirty="0"/>
          </a:p>
        </p:txBody>
      </p:sp>
      <p:sp>
        <p:nvSpPr>
          <p:cNvPr id="14" name="Text 10"/>
          <p:cNvSpPr txBox="1"/>
          <p:nvPr/>
        </p:nvSpPr>
        <p:spPr>
          <a:xfrm>
            <a:off x="3327400" y="2724150"/>
            <a:ext cx="52705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AWS disbursement to Automatum vs invoice at [N] days; who carries the float, including the Accelerator’s 50/50</a:t>
            </a:r>
            <a:endParaRPr lang="en-US" sz="900" dirty="0"/>
          </a:p>
        </p:txBody>
      </p:sp>
      <p:sp>
        <p:nvSpPr>
          <p:cNvPr id="15" name="Text 11"/>
          <p:cNvSpPr txBox="1"/>
          <p:nvPr/>
        </p:nvSpPr>
        <p:spPr>
          <a:xfrm>
            <a:off x="8890000" y="2724150"/>
            <a:ext cx="28956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Both · to agree</a:t>
            </a:r>
            <a:endParaRPr lang="en-US" sz="900" dirty="0"/>
          </a:p>
        </p:txBody>
      </p:sp>
      <p:sp>
        <p:nvSpPr>
          <p:cNvPr id="16" name="Shape 12"/>
          <p:cNvSpPr/>
          <p:nvPr/>
        </p:nvSpPr>
        <p:spPr>
          <a:xfrm>
            <a:off x="566420" y="2965450"/>
            <a:ext cx="11055350" cy="311150"/>
          </a:xfrm>
          <a:prstGeom prst="rect">
            <a:avLst/>
          </a:prstGeom>
          <a:solidFill>
            <a:srgbClr val="F5F8FC"/>
          </a:solidFill>
          <a:ln/>
        </p:spPr>
      </p:sp>
      <p:sp>
        <p:nvSpPr>
          <p:cNvPr id="17" name="Text 13"/>
          <p:cNvSpPr txBox="1"/>
          <p:nvPr/>
        </p:nvSpPr>
        <p:spPr>
          <a:xfrm>
            <a:off x="749300" y="3035300"/>
            <a:ext cx="2413000" cy="311150"/>
          </a:xfrm>
          <a:prstGeom prst="rect">
            <a:avLst/>
          </a:prstGeom>
          <a:noFill/>
          <a:ln/>
        </p:spPr>
        <p:txBody>
          <a:bodyPr wrap="square" lIns="0" tIns="0" rIns="0" bIns="0" rtlCol="0" anchor="t"/>
          <a:lstStyle/>
          <a:p>
            <a:pPr indent="0" marL="0">
              <a:buNone/>
            </a:pPr>
            <a:r>
              <a:rPr lang="en-US" sz="900" b="1" dirty="0">
                <a:solidFill>
                  <a:srgbClr val="15224B"/>
                </a:solidFill>
                <a:latin typeface="Segoe UI" pitchFamily="34" charset="0"/>
                <a:ea typeface="Segoe UI" pitchFamily="34" charset="-122"/>
                <a:cs typeface="Segoe UI" pitchFamily="34" charset="-120"/>
              </a:rPr>
              <a:t>Revenue split, software line</a:t>
            </a:r>
            <a:endParaRPr lang="en-US" sz="900" dirty="0"/>
          </a:p>
        </p:txBody>
      </p:sp>
      <p:sp>
        <p:nvSpPr>
          <p:cNvPr id="18" name="Text 14"/>
          <p:cNvSpPr txBox="1"/>
          <p:nvPr/>
        </p:nvSpPr>
        <p:spPr>
          <a:xfrm>
            <a:off x="3327400" y="3035300"/>
            <a:ext cx="52705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Follows the licensor</a:t>
            </a:r>
            <a:endParaRPr lang="en-US" sz="900" dirty="0"/>
          </a:p>
        </p:txBody>
      </p:sp>
      <p:sp>
        <p:nvSpPr>
          <p:cNvPr id="19" name="Text 15"/>
          <p:cNvSpPr txBox="1"/>
          <p:nvPr/>
        </p:nvSpPr>
        <p:spPr>
          <a:xfrm>
            <a:off x="8890000" y="3035300"/>
            <a:ext cx="28956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Both · to agree</a:t>
            </a:r>
            <a:endParaRPr lang="en-US" sz="900" dirty="0"/>
          </a:p>
        </p:txBody>
      </p:sp>
      <p:sp>
        <p:nvSpPr>
          <p:cNvPr id="20" name="Text 16"/>
          <p:cNvSpPr txBox="1"/>
          <p:nvPr/>
        </p:nvSpPr>
        <p:spPr>
          <a:xfrm>
            <a:off x="749300" y="3346450"/>
            <a:ext cx="2413000" cy="311150"/>
          </a:xfrm>
          <a:prstGeom prst="rect">
            <a:avLst/>
          </a:prstGeom>
          <a:noFill/>
          <a:ln/>
        </p:spPr>
        <p:txBody>
          <a:bodyPr wrap="square" lIns="0" tIns="0" rIns="0" bIns="0" rtlCol="0" anchor="t"/>
          <a:lstStyle/>
          <a:p>
            <a:pPr indent="0" marL="0">
              <a:buNone/>
            </a:pPr>
            <a:r>
              <a:rPr lang="en-US" sz="900" b="1" dirty="0">
                <a:solidFill>
                  <a:srgbClr val="15224B"/>
                </a:solidFill>
                <a:latin typeface="Segoe UI" pitchFamily="34" charset="0"/>
                <a:ea typeface="Segoe UI" pitchFamily="34" charset="-122"/>
                <a:cs typeface="Segoe UI" pitchFamily="34" charset="-120"/>
              </a:rPr>
              <a:t>Revenue split, professional services line</a:t>
            </a:r>
            <a:endParaRPr lang="en-US" sz="900" dirty="0"/>
          </a:p>
        </p:txBody>
      </p:sp>
      <p:sp>
        <p:nvSpPr>
          <p:cNvPr id="21" name="Text 17"/>
          <p:cNvSpPr txBox="1"/>
          <p:nvPr/>
        </p:nvSpPr>
        <p:spPr>
          <a:xfrm>
            <a:off x="3327400" y="3346450"/>
            <a:ext cx="52705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Follows the delivering party</a:t>
            </a:r>
            <a:endParaRPr lang="en-US" sz="900" dirty="0"/>
          </a:p>
        </p:txBody>
      </p:sp>
      <p:sp>
        <p:nvSpPr>
          <p:cNvPr id="22" name="Text 18"/>
          <p:cNvSpPr txBox="1"/>
          <p:nvPr/>
        </p:nvSpPr>
        <p:spPr>
          <a:xfrm>
            <a:off x="8890000" y="3346450"/>
            <a:ext cx="28956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Both · to agree</a:t>
            </a:r>
            <a:endParaRPr lang="en-US" sz="900" dirty="0"/>
          </a:p>
        </p:txBody>
      </p:sp>
      <p:sp>
        <p:nvSpPr>
          <p:cNvPr id="23" name="Shape 19"/>
          <p:cNvSpPr/>
          <p:nvPr/>
        </p:nvSpPr>
        <p:spPr>
          <a:xfrm>
            <a:off x="566420" y="3587750"/>
            <a:ext cx="11055350" cy="311150"/>
          </a:xfrm>
          <a:prstGeom prst="rect">
            <a:avLst/>
          </a:prstGeom>
          <a:solidFill>
            <a:srgbClr val="F5F8FC"/>
          </a:solidFill>
          <a:ln/>
        </p:spPr>
      </p:sp>
      <p:sp>
        <p:nvSpPr>
          <p:cNvPr id="24" name="Text 20"/>
          <p:cNvSpPr txBox="1"/>
          <p:nvPr/>
        </p:nvSpPr>
        <p:spPr>
          <a:xfrm>
            <a:off x="749300" y="3657600"/>
            <a:ext cx="2413000" cy="311150"/>
          </a:xfrm>
          <a:prstGeom prst="rect">
            <a:avLst/>
          </a:prstGeom>
          <a:noFill/>
          <a:ln/>
        </p:spPr>
        <p:txBody>
          <a:bodyPr wrap="square" lIns="0" tIns="0" rIns="0" bIns="0" rtlCol="0" anchor="t"/>
          <a:lstStyle/>
          <a:p>
            <a:pPr indent="0" marL="0">
              <a:buNone/>
            </a:pPr>
            <a:r>
              <a:rPr lang="en-US" sz="900" b="1" dirty="0">
                <a:solidFill>
                  <a:srgbClr val="15224B"/>
                </a:solidFill>
                <a:latin typeface="Segoe UI" pitchFamily="34" charset="0"/>
                <a:ea typeface="Segoe UI" pitchFamily="34" charset="-122"/>
                <a:cs typeface="Segoe UI" pitchFamily="34" charset="-120"/>
              </a:rPr>
              <a:t>Marketplace listing fee</a:t>
            </a:r>
            <a:endParaRPr lang="en-US" sz="900" dirty="0"/>
          </a:p>
        </p:txBody>
      </p:sp>
      <p:sp>
        <p:nvSpPr>
          <p:cNvPr id="25" name="Text 21"/>
          <p:cNvSpPr txBox="1"/>
          <p:nvPr/>
        </p:nvSpPr>
        <p:spPr>
          <a:xfrm>
            <a:off x="3327400" y="3657600"/>
            <a:ext cx="52705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Rates, mechanics and how it is netted</a:t>
            </a:r>
            <a:endParaRPr lang="en-US" sz="900" dirty="0"/>
          </a:p>
        </p:txBody>
      </p:sp>
      <p:sp>
        <p:nvSpPr>
          <p:cNvPr id="26" name="Text 22"/>
          <p:cNvSpPr txBox="1"/>
          <p:nvPr/>
        </p:nvSpPr>
        <p:spPr>
          <a:xfrm>
            <a:off x="8890000" y="3657600"/>
            <a:ext cx="28956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Automatum · to confirm</a:t>
            </a:r>
            <a:endParaRPr lang="en-US" sz="900" dirty="0"/>
          </a:p>
        </p:txBody>
      </p:sp>
      <p:sp>
        <p:nvSpPr>
          <p:cNvPr id="27" name="Text 23"/>
          <p:cNvSpPr txBox="1"/>
          <p:nvPr/>
        </p:nvSpPr>
        <p:spPr>
          <a:xfrm>
            <a:off x="749300" y="3968750"/>
            <a:ext cx="2413000" cy="311150"/>
          </a:xfrm>
          <a:prstGeom prst="rect">
            <a:avLst/>
          </a:prstGeom>
          <a:noFill/>
          <a:ln/>
        </p:spPr>
        <p:txBody>
          <a:bodyPr wrap="square" lIns="0" tIns="0" rIns="0" bIns="0" rtlCol="0" anchor="t"/>
          <a:lstStyle/>
          <a:p>
            <a:pPr indent="0" marL="0">
              <a:buNone/>
            </a:pPr>
            <a:r>
              <a:rPr lang="en-US" sz="900" b="1" dirty="0">
                <a:solidFill>
                  <a:srgbClr val="15224B"/>
                </a:solidFill>
                <a:latin typeface="Segoe UI" pitchFamily="34" charset="0"/>
                <a:ea typeface="Segoe UI" pitchFamily="34" charset="-122"/>
                <a:cs typeface="Segoe UI" pitchFamily="34" charset="-120"/>
              </a:rPr>
              <a:t>Milestone cash and credits</a:t>
            </a:r>
            <a:endParaRPr lang="en-US" sz="900" dirty="0"/>
          </a:p>
        </p:txBody>
      </p:sp>
      <p:sp>
        <p:nvSpPr>
          <p:cNvPr id="28" name="Text 24"/>
          <p:cNvSpPr txBox="1"/>
          <p:nvPr/>
        </p:nvSpPr>
        <p:spPr>
          <a:xfrm>
            <a:off x="3327400" y="3968750"/>
            <a:ext cx="52705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Figures are established; the division is not. Credits are worth face value only to the party with spend to offset</a:t>
            </a:r>
            <a:endParaRPr lang="en-US" sz="900" dirty="0"/>
          </a:p>
        </p:txBody>
      </p:sp>
      <p:sp>
        <p:nvSpPr>
          <p:cNvPr id="29" name="Text 25"/>
          <p:cNvSpPr txBox="1"/>
          <p:nvPr/>
        </p:nvSpPr>
        <p:spPr>
          <a:xfrm>
            <a:off x="8890000" y="3968750"/>
            <a:ext cx="28956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Both · to agree</a:t>
            </a:r>
            <a:endParaRPr lang="en-US" sz="900" dirty="0"/>
          </a:p>
        </p:txBody>
      </p:sp>
      <p:sp>
        <p:nvSpPr>
          <p:cNvPr id="30" name="Shape 26"/>
          <p:cNvSpPr/>
          <p:nvPr/>
        </p:nvSpPr>
        <p:spPr>
          <a:xfrm>
            <a:off x="566420" y="4210050"/>
            <a:ext cx="11055350" cy="311150"/>
          </a:xfrm>
          <a:prstGeom prst="rect">
            <a:avLst/>
          </a:prstGeom>
          <a:solidFill>
            <a:srgbClr val="F5F8FC"/>
          </a:solidFill>
          <a:ln/>
        </p:spPr>
      </p:sp>
      <p:sp>
        <p:nvSpPr>
          <p:cNvPr id="31" name="Text 27"/>
          <p:cNvSpPr txBox="1"/>
          <p:nvPr/>
        </p:nvSpPr>
        <p:spPr>
          <a:xfrm>
            <a:off x="749300" y="4279900"/>
            <a:ext cx="2413000" cy="311150"/>
          </a:xfrm>
          <a:prstGeom prst="rect">
            <a:avLst/>
          </a:prstGeom>
          <a:noFill/>
          <a:ln/>
        </p:spPr>
        <p:txBody>
          <a:bodyPr wrap="square" lIns="0" tIns="0" rIns="0" bIns="0" rtlCol="0" anchor="t"/>
          <a:lstStyle/>
          <a:p>
            <a:pPr indent="0" marL="0">
              <a:buNone/>
            </a:pPr>
            <a:r>
              <a:rPr lang="en-US" sz="900" b="1" dirty="0">
                <a:solidFill>
                  <a:srgbClr val="15224B"/>
                </a:solidFill>
                <a:latin typeface="Segoe UI" pitchFamily="34" charset="0"/>
                <a:ea typeface="Segoe UI" pitchFamily="34" charset="-122"/>
                <a:cs typeface="Segoe UI" pitchFamily="34" charset="-120"/>
              </a:rPr>
              <a:t>Milestone 3 — the 55 leads</a:t>
            </a:r>
            <a:endParaRPr lang="en-US" sz="900" dirty="0"/>
          </a:p>
        </p:txBody>
      </p:sp>
      <p:sp>
        <p:nvSpPr>
          <p:cNvPr id="32" name="Text 28"/>
          <p:cNvSpPr txBox="1"/>
          <p:nvPr/>
        </p:nvSpPr>
        <p:spPr>
          <a:xfrm>
            <a:off x="3327400" y="4279900"/>
            <a:ext cx="52705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Confirm the direction before agreeing who owns them</a:t>
            </a:r>
            <a:endParaRPr lang="en-US" sz="900" dirty="0"/>
          </a:p>
        </p:txBody>
      </p:sp>
      <p:sp>
        <p:nvSpPr>
          <p:cNvPr id="33" name="Text 29"/>
          <p:cNvSpPr txBox="1"/>
          <p:nvPr/>
        </p:nvSpPr>
        <p:spPr>
          <a:xfrm>
            <a:off x="8890000" y="4279900"/>
            <a:ext cx="28956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Both · to confirm</a:t>
            </a:r>
            <a:endParaRPr lang="en-US" sz="900" dirty="0"/>
          </a:p>
        </p:txBody>
      </p:sp>
      <p:sp>
        <p:nvSpPr>
          <p:cNvPr id="34" name="Text 30"/>
          <p:cNvSpPr txBox="1"/>
          <p:nvPr/>
        </p:nvSpPr>
        <p:spPr>
          <a:xfrm>
            <a:off x="749300" y="4591050"/>
            <a:ext cx="2413000" cy="311150"/>
          </a:xfrm>
          <a:prstGeom prst="rect">
            <a:avLst/>
          </a:prstGeom>
          <a:noFill/>
          <a:ln/>
        </p:spPr>
        <p:txBody>
          <a:bodyPr wrap="square" lIns="0" tIns="0" rIns="0" bIns="0" rtlCol="0" anchor="t"/>
          <a:lstStyle/>
          <a:p>
            <a:pPr indent="0" marL="0">
              <a:buNone/>
            </a:pPr>
            <a:r>
              <a:rPr lang="en-US" sz="900" b="1" dirty="0">
                <a:solidFill>
                  <a:srgbClr val="15224B"/>
                </a:solidFill>
                <a:latin typeface="Segoe UI" pitchFamily="34" charset="0"/>
                <a:ea typeface="Segoe UI" pitchFamily="34" charset="-122"/>
                <a:cs typeface="Segoe UI" pitchFamily="34" charset="-120"/>
              </a:rPr>
              <a:t>Component cost recovery</a:t>
            </a:r>
            <a:endParaRPr lang="en-US" sz="900" dirty="0"/>
          </a:p>
        </p:txBody>
      </p:sp>
      <p:sp>
        <p:nvSpPr>
          <p:cNvPr id="35" name="Text 31"/>
          <p:cNvSpPr txBox="1"/>
          <p:nvPr/>
        </p:nvSpPr>
        <p:spPr>
          <a:xfrm>
            <a:off x="3327400" y="4591050"/>
            <a:ext cx="52705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ASecureCloud and Kiflo, stress-tested against the $2,500 rung</a:t>
            </a:r>
            <a:endParaRPr lang="en-US" sz="900" dirty="0"/>
          </a:p>
        </p:txBody>
      </p:sp>
      <p:sp>
        <p:nvSpPr>
          <p:cNvPr id="36" name="Text 32"/>
          <p:cNvSpPr txBox="1"/>
          <p:nvPr/>
        </p:nvSpPr>
        <p:spPr>
          <a:xfrm>
            <a:off x="8890000" y="4591050"/>
            <a:ext cx="28956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OBP · to model</a:t>
            </a:r>
            <a:endParaRPr lang="en-US" sz="900" dirty="0"/>
          </a:p>
        </p:txBody>
      </p:sp>
      <p:sp>
        <p:nvSpPr>
          <p:cNvPr id="37" name="Shape 33"/>
          <p:cNvSpPr/>
          <p:nvPr/>
        </p:nvSpPr>
        <p:spPr>
          <a:xfrm>
            <a:off x="566420" y="4832350"/>
            <a:ext cx="11055350" cy="311150"/>
          </a:xfrm>
          <a:prstGeom prst="rect">
            <a:avLst/>
          </a:prstGeom>
          <a:solidFill>
            <a:srgbClr val="F5F8FC"/>
          </a:solidFill>
          <a:ln/>
        </p:spPr>
      </p:sp>
      <p:sp>
        <p:nvSpPr>
          <p:cNvPr id="38" name="Text 34"/>
          <p:cNvSpPr txBox="1"/>
          <p:nvPr/>
        </p:nvSpPr>
        <p:spPr>
          <a:xfrm>
            <a:off x="749300" y="4902200"/>
            <a:ext cx="2413000" cy="311150"/>
          </a:xfrm>
          <a:prstGeom prst="rect">
            <a:avLst/>
          </a:prstGeom>
          <a:noFill/>
          <a:ln/>
        </p:spPr>
        <p:txBody>
          <a:bodyPr wrap="square" lIns="0" tIns="0" rIns="0" bIns="0" rtlCol="0" anchor="t"/>
          <a:lstStyle/>
          <a:p>
            <a:pPr indent="0" marL="0">
              <a:buNone/>
            </a:pPr>
            <a:r>
              <a:rPr lang="en-US" sz="900" b="1" dirty="0">
                <a:solidFill>
                  <a:srgbClr val="15224B"/>
                </a:solidFill>
                <a:latin typeface="Segoe UI" pitchFamily="34" charset="0"/>
                <a:ea typeface="Segoe UI" pitchFamily="34" charset="-122"/>
                <a:cs typeface="Segoe UI" pitchFamily="34" charset="-120"/>
              </a:rPr>
              <a:t>Back-to-back internal SLAs</a:t>
            </a:r>
            <a:endParaRPr lang="en-US" sz="900" dirty="0"/>
          </a:p>
        </p:txBody>
      </p:sp>
      <p:sp>
        <p:nvSpPr>
          <p:cNvPr id="39" name="Text 35"/>
          <p:cNvSpPr txBox="1"/>
          <p:nvPr/>
        </p:nvSpPr>
        <p:spPr>
          <a:xfrm>
            <a:off x="3327400" y="4902200"/>
            <a:ext cx="52705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Offer issue, listing configuration, selling authorizations, ACE instance, reporting feed</a:t>
            </a:r>
            <a:endParaRPr lang="en-US" sz="900" dirty="0"/>
          </a:p>
        </p:txBody>
      </p:sp>
      <p:sp>
        <p:nvSpPr>
          <p:cNvPr id="40" name="Text 36"/>
          <p:cNvSpPr txBox="1"/>
          <p:nvPr/>
        </p:nvSpPr>
        <p:spPr>
          <a:xfrm>
            <a:off x="8890000" y="4902200"/>
            <a:ext cx="28956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Automatum · BLOCKING</a:t>
            </a:r>
            <a:endParaRPr lang="en-US" sz="900" dirty="0"/>
          </a:p>
        </p:txBody>
      </p:sp>
      <p:sp>
        <p:nvSpPr>
          <p:cNvPr id="41" name="Text 37"/>
          <p:cNvSpPr txBox="1"/>
          <p:nvPr/>
        </p:nvSpPr>
        <p:spPr>
          <a:xfrm>
            <a:off x="749300" y="5213350"/>
            <a:ext cx="2413000" cy="311150"/>
          </a:xfrm>
          <a:prstGeom prst="rect">
            <a:avLst/>
          </a:prstGeom>
          <a:noFill/>
          <a:ln/>
        </p:spPr>
        <p:txBody>
          <a:bodyPr wrap="square" lIns="0" tIns="0" rIns="0" bIns="0" rtlCol="0" anchor="t"/>
          <a:lstStyle/>
          <a:p>
            <a:pPr indent="0" marL="0">
              <a:buNone/>
            </a:pPr>
            <a:r>
              <a:rPr lang="en-US" sz="900" b="1" dirty="0">
                <a:solidFill>
                  <a:srgbClr val="15224B"/>
                </a:solidFill>
                <a:latin typeface="Segoe UI" pitchFamily="34" charset="0"/>
                <a:ea typeface="Segoe UI" pitchFamily="34" charset="-122"/>
                <a:cs typeface="Segoe UI" pitchFamily="34" charset="-120"/>
              </a:rPr>
              <a:t>Renewal, churn and exit</a:t>
            </a:r>
            <a:endParaRPr lang="en-US" sz="900" dirty="0"/>
          </a:p>
        </p:txBody>
      </p:sp>
      <p:sp>
        <p:nvSpPr>
          <p:cNvPr id="42" name="Text 38"/>
          <p:cNvSpPr txBox="1"/>
          <p:nvPr/>
        </p:nvSpPr>
        <p:spPr>
          <a:xfrm>
            <a:off x="3327400" y="5213350"/>
            <a:ext cx="52705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Ownership of partner agreements and Kiflo channel data at end of term</a:t>
            </a:r>
            <a:endParaRPr lang="en-US" sz="900" dirty="0"/>
          </a:p>
        </p:txBody>
      </p:sp>
      <p:sp>
        <p:nvSpPr>
          <p:cNvPr id="43" name="Text 39"/>
          <p:cNvSpPr txBox="1"/>
          <p:nvPr/>
        </p:nvSpPr>
        <p:spPr>
          <a:xfrm>
            <a:off x="8890000" y="5213350"/>
            <a:ext cx="28956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Both · to agree</a:t>
            </a:r>
            <a:endParaRPr lang="en-US" sz="900" dirty="0"/>
          </a:p>
        </p:txBody>
      </p:sp>
      <p:sp>
        <p:nvSpPr>
          <p:cNvPr id="44" name="Shape 40"/>
          <p:cNvSpPr/>
          <p:nvPr/>
        </p:nvSpPr>
        <p:spPr>
          <a:xfrm>
            <a:off x="566420" y="5454650"/>
            <a:ext cx="11055350" cy="311150"/>
          </a:xfrm>
          <a:prstGeom prst="rect">
            <a:avLst/>
          </a:prstGeom>
          <a:solidFill>
            <a:srgbClr val="F5F8FC"/>
          </a:solidFill>
          <a:ln/>
        </p:spPr>
      </p:sp>
      <p:sp>
        <p:nvSpPr>
          <p:cNvPr id="45" name="Text 41"/>
          <p:cNvSpPr txBox="1"/>
          <p:nvPr/>
        </p:nvSpPr>
        <p:spPr>
          <a:xfrm>
            <a:off x="749300" y="5524500"/>
            <a:ext cx="2413000" cy="311150"/>
          </a:xfrm>
          <a:prstGeom prst="rect">
            <a:avLst/>
          </a:prstGeom>
          <a:noFill/>
          <a:ln/>
        </p:spPr>
        <p:txBody>
          <a:bodyPr wrap="square" lIns="0" tIns="0" rIns="0" bIns="0" rtlCol="0" anchor="t"/>
          <a:lstStyle/>
          <a:p>
            <a:pPr indent="0" marL="0">
              <a:buNone/>
            </a:pPr>
            <a:r>
              <a:rPr lang="en-US" sz="900" b="1" dirty="0">
                <a:solidFill>
                  <a:srgbClr val="15224B"/>
                </a:solidFill>
                <a:latin typeface="Segoe UI" pitchFamily="34" charset="0"/>
                <a:ea typeface="Segoe UI" pitchFamily="34" charset="-122"/>
                <a:cs typeface="Segoe UI" pitchFamily="34" charset="-120"/>
              </a:rPr>
              <a:t>Exclusivity and reporting access</a:t>
            </a:r>
            <a:endParaRPr lang="en-US" sz="900" dirty="0"/>
          </a:p>
        </p:txBody>
      </p:sp>
      <p:sp>
        <p:nvSpPr>
          <p:cNvPr id="46" name="Text 42"/>
          <p:cNvSpPr txBox="1"/>
          <p:nvPr/>
        </p:nvSpPr>
        <p:spPr>
          <a:xfrm>
            <a:off x="3327400" y="5524500"/>
            <a:ext cx="52705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Scope boundary, and OBP’s access to Marketplace seller reporting</a:t>
            </a:r>
            <a:endParaRPr lang="en-US" sz="900" dirty="0"/>
          </a:p>
        </p:txBody>
      </p:sp>
      <p:sp>
        <p:nvSpPr>
          <p:cNvPr id="47" name="Text 43"/>
          <p:cNvSpPr txBox="1"/>
          <p:nvPr/>
        </p:nvSpPr>
        <p:spPr>
          <a:xfrm>
            <a:off x="8890000" y="5524500"/>
            <a:ext cx="2895600" cy="31115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Both · to agree</a:t>
            </a:r>
            <a:endParaRPr lang="en-US" sz="900" dirty="0"/>
          </a:p>
        </p:txBody>
      </p:sp>
      <p:sp>
        <p:nvSpPr>
          <p:cNvPr id="48" name="Shape 44"/>
          <p:cNvSpPr/>
          <p:nvPr/>
        </p:nvSpPr>
        <p:spPr>
          <a:xfrm>
            <a:off x="566420" y="5760720"/>
            <a:ext cx="11057890" cy="566420"/>
          </a:xfrm>
          <a:prstGeom prst="roundRect">
            <a:avLst>
              <a:gd name="adj" fmla="val 22601"/>
            </a:avLst>
          </a:prstGeom>
          <a:solidFill>
            <a:srgbClr val="15224B"/>
          </a:solidFill>
          <a:ln/>
        </p:spPr>
      </p:sp>
      <p:sp>
        <p:nvSpPr>
          <p:cNvPr id="49" name="Text 45"/>
          <p:cNvSpPr txBox="1"/>
          <p:nvPr/>
        </p:nvSpPr>
        <p:spPr>
          <a:xfrm>
            <a:off x="838200" y="5867400"/>
            <a:ext cx="10541000" cy="355600"/>
          </a:xfrm>
          <a:prstGeom prst="rect">
            <a:avLst/>
          </a:prstGeom>
          <a:noFill/>
          <a:ln/>
        </p:spPr>
        <p:txBody>
          <a:bodyPr wrap="square" lIns="0" tIns="0" rIns="0" bIns="0" rtlCol="0" anchor="ctr"/>
          <a:lstStyle/>
          <a:p>
            <a:pPr indent="0" marL="0">
              <a:buNone/>
            </a:pPr>
            <a:r>
              <a:rPr lang="en-US" sz="1050" b="1" spc="110" kern="0" dirty="0">
                <a:solidFill>
                  <a:srgbClr val="F36F20"/>
                </a:solidFill>
                <a:latin typeface="Segoe UI" pitchFamily="34" charset="0"/>
                <a:ea typeface="Segoe UI" pitchFamily="34" charset="-122"/>
                <a:cs typeface="Segoe UI" pitchFamily="34" charset="-120"/>
              </a:rPr>
              <a:t>NOT CUSTOMER-FACING</a:t>
            </a:r>
            <a:pPr indent="0" marL="0">
              <a:buNone/>
            </a:pPr>
            <a:r>
              <a:rPr lang="en-US" sz="1050" dirty="0">
                <a:solidFill>
                  <a:srgbClr val="D7E1F5"/>
                </a:solidFill>
                <a:latin typeface="Segoe UI Semilight" pitchFamily="34" charset="0"/>
                <a:ea typeface="Segoe UI Semilight" pitchFamily="34" charset="-122"/>
                <a:cs typeface="Segoe UI Semilight" pitchFamily="34" charset="-120"/>
              </a:rPr>
              <a:t>    The $10,000 fee and the ladder cannot be validated until OBP knows its share. A split below OBP’s walk-away means the prices are wrong, not the split.</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home/user/barberbook/docs/deck/assets/bg_cont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eyebrow_p12.png">    </p:cNvPr>
          <p:cNvPicPr>
            <a:picLocks noChangeAspect="1"/>
          </p:cNvPicPr>
          <p:nvPr/>
        </p:nvPicPr>
        <p:blipFill>
          <a:blip r:embed="rId2"/>
          <a:stretch>
            <a:fillRect/>
          </a:stretch>
        </p:blipFill>
        <p:spPr>
          <a:xfrm>
            <a:off x="566420" y="474980"/>
            <a:ext cx="256540" cy="256540"/>
          </a:xfrm>
          <a:prstGeom prst="rect">
            <a:avLst/>
          </a:prstGeom>
        </p:spPr>
      </p:pic>
      <p:sp>
        <p:nvSpPr>
          <p:cNvPr id="4" name="Text 0"/>
          <p:cNvSpPr txBox="1"/>
          <p:nvPr/>
        </p:nvSpPr>
        <p:spPr>
          <a:xfrm>
            <a:off x="1023620" y="501650"/>
            <a:ext cx="6350000" cy="228600"/>
          </a:xfrm>
          <a:prstGeom prst="rect">
            <a:avLst/>
          </a:prstGeom>
          <a:noFill/>
          <a:ln/>
        </p:spPr>
        <p:txBody>
          <a:bodyPr wrap="square" lIns="0" tIns="0" rIns="0" bIns="0" rtlCol="0" anchor="t"/>
          <a:lstStyle/>
          <a:p>
            <a:pPr indent="0" marL="0">
              <a:buNone/>
            </a:pPr>
            <a:r>
              <a:rPr lang="en-US" sz="1150" b="1" spc="160" kern="0" dirty="0">
                <a:solidFill>
                  <a:srgbClr val="F36F20"/>
                </a:solidFill>
                <a:latin typeface="Segoe UI" pitchFamily="34" charset="0"/>
                <a:ea typeface="Segoe UI" pitchFamily="34" charset="-122"/>
                <a:cs typeface="Segoe UI" pitchFamily="34" charset="-120"/>
              </a:rPr>
              <a:t>THE EXCHANGE</a:t>
            </a:r>
            <a:endParaRPr lang="en-US" sz="1150" dirty="0"/>
          </a:p>
        </p:txBody>
      </p:sp>
      <p:sp>
        <p:nvSpPr>
          <p:cNvPr id="5" name="Text 1"/>
          <p:cNvSpPr txBox="1"/>
          <p:nvPr/>
        </p:nvSpPr>
        <p:spPr>
          <a:xfrm>
            <a:off x="657860" y="939800"/>
            <a:ext cx="10922000" cy="508000"/>
          </a:xfrm>
          <a:prstGeom prst="rect">
            <a:avLst/>
          </a:prstGeom>
          <a:noFill/>
          <a:ln/>
        </p:spPr>
        <p:txBody>
          <a:bodyPr wrap="square" lIns="0" tIns="0" rIns="0" bIns="0" rtlCol="0" anchor="t"/>
          <a:lstStyle/>
          <a:p>
            <a:pPr indent="0" marL="0">
              <a:buNone/>
            </a:pPr>
            <a:r>
              <a:rPr lang="en-US" sz="2500" b="1" dirty="0">
                <a:solidFill>
                  <a:srgbClr val="15224B"/>
                </a:solidFill>
                <a:latin typeface="Segoe UI" pitchFamily="34" charset="0"/>
                <a:ea typeface="Segoe UI" pitchFamily="34" charset="-122"/>
                <a:cs typeface="Segoe UI" pitchFamily="34" charset="-120"/>
              </a:rPr>
              <a:t>What the program funds, and what AWS gets back.</a:t>
            </a:r>
            <a:endParaRPr lang="en-US" sz="2500" dirty="0"/>
          </a:p>
        </p:txBody>
      </p:sp>
      <p:sp>
        <p:nvSpPr>
          <p:cNvPr id="6" name="Text 2"/>
          <p:cNvSpPr txBox="1"/>
          <p:nvPr/>
        </p:nvSpPr>
        <p:spPr>
          <a:xfrm>
            <a:off x="657860" y="1651000"/>
            <a:ext cx="10541000" cy="431800"/>
          </a:xfrm>
          <a:prstGeom prst="rect">
            <a:avLst/>
          </a:prstGeom>
          <a:noFill/>
          <a:ln/>
        </p:spPr>
        <p:txBody>
          <a:bodyPr wrap="square" lIns="0" tIns="0" rIns="0" bIns="0" rtlCol="0" anchor="t"/>
          <a:lstStyle/>
          <a:p>
            <a:pPr indent="0" marL="0">
              <a:buNone/>
            </a:pPr>
            <a:r>
              <a:rPr lang="en-US" sz="1250" dirty="0">
                <a:solidFill>
                  <a:srgbClr val="5B6378"/>
                </a:solidFill>
                <a:latin typeface="Segoe UI Semilight" pitchFamily="34" charset="0"/>
                <a:ea typeface="Segoe UI Semilight" pitchFamily="34" charset="-122"/>
                <a:cs typeface="Segoe UI Semilight" pitchFamily="34" charset="-120"/>
              </a:rPr>
              <a:t>Cash and credits are separate instruments, up to the amounts shown.</a:t>
            </a:r>
            <a:endParaRPr lang="en-US" sz="1250" dirty="0"/>
          </a:p>
        </p:txBody>
      </p:sp>
      <p:sp>
        <p:nvSpPr>
          <p:cNvPr id="7" name="Text 3"/>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8" name="Text 4"/>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19 / 22</a:t>
            </a:r>
            <a:endParaRPr lang="en-US" sz="900" dirty="0"/>
          </a:p>
        </p:txBody>
      </p:sp>
      <p:sp>
        <p:nvSpPr>
          <p:cNvPr id="9" name="Text 5"/>
          <p:cNvSpPr txBox="1"/>
          <p:nvPr/>
        </p:nvSpPr>
        <p:spPr>
          <a:xfrm>
            <a:off x="932180" y="2362200"/>
            <a:ext cx="2540000" cy="330200"/>
          </a:xfrm>
          <a:prstGeom prst="rect">
            <a:avLst/>
          </a:prstGeom>
          <a:noFill/>
          <a:ln/>
        </p:spPr>
        <p:txBody>
          <a:bodyPr wrap="square" lIns="0" tIns="0" rIns="0" bIns="0" rtlCol="0" anchor="t"/>
          <a:lstStyle/>
          <a:p>
            <a:pPr indent="0" marL="0">
              <a:buNone/>
            </a:pPr>
            <a:r>
              <a:rPr lang="en-US" sz="1600" b="1" dirty="0">
                <a:solidFill>
                  <a:srgbClr val="FFFFFF"/>
                </a:solidFill>
                <a:latin typeface="Segoe UI" pitchFamily="34" charset="0"/>
                <a:ea typeface="Segoe UI" pitchFamily="34" charset="-122"/>
                <a:cs typeface="Segoe UI" pitchFamily="34" charset="-120"/>
              </a:rPr>
              <a:t>$10,000 + $10,000</a:t>
            </a:r>
            <a:endParaRPr lang="en-US" sz="1600" dirty="0"/>
          </a:p>
        </p:txBody>
      </p:sp>
      <p:sp>
        <p:nvSpPr>
          <p:cNvPr id="10" name="Text 6"/>
          <p:cNvSpPr txBox="1"/>
          <p:nvPr/>
        </p:nvSpPr>
        <p:spPr>
          <a:xfrm>
            <a:off x="932180" y="2730500"/>
            <a:ext cx="2540000" cy="6350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Milestone 1, cash + credits</a:t>
            </a:r>
            <a:endParaRPr lang="en-US" sz="850" dirty="0"/>
          </a:p>
        </p:txBody>
      </p:sp>
      <p:sp>
        <p:nvSpPr>
          <p:cNvPr id="11" name="Text 7"/>
          <p:cNvSpPr txBox="1"/>
          <p:nvPr/>
        </p:nvSpPr>
        <p:spPr>
          <a:xfrm>
            <a:off x="3738880" y="2362200"/>
            <a:ext cx="2540000" cy="330200"/>
          </a:xfrm>
          <a:prstGeom prst="rect">
            <a:avLst/>
          </a:prstGeom>
          <a:noFill/>
          <a:ln/>
        </p:spPr>
        <p:txBody>
          <a:bodyPr wrap="square" lIns="0" tIns="0" rIns="0" bIns="0" rtlCol="0" anchor="t"/>
          <a:lstStyle/>
          <a:p>
            <a:pPr indent="0" marL="0">
              <a:buNone/>
            </a:pPr>
            <a:r>
              <a:rPr lang="en-US" sz="1600" b="1" dirty="0">
                <a:solidFill>
                  <a:srgbClr val="FFFFFF"/>
                </a:solidFill>
                <a:latin typeface="Segoe UI" pitchFamily="34" charset="0"/>
                <a:ea typeface="Segoe UI" pitchFamily="34" charset="-122"/>
                <a:cs typeface="Segoe UI" pitchFamily="34" charset="-120"/>
              </a:rPr>
              <a:t>$25,000 + $25,000</a:t>
            </a:r>
            <a:endParaRPr lang="en-US" sz="1600" dirty="0"/>
          </a:p>
        </p:txBody>
      </p:sp>
      <p:sp>
        <p:nvSpPr>
          <p:cNvPr id="12" name="Text 8"/>
          <p:cNvSpPr txBox="1"/>
          <p:nvPr/>
        </p:nvSpPr>
        <p:spPr>
          <a:xfrm>
            <a:off x="3738880" y="2730500"/>
            <a:ext cx="2540000" cy="6350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Milestone 2, cash + credits</a:t>
            </a:r>
            <a:endParaRPr lang="en-US" sz="850" dirty="0"/>
          </a:p>
        </p:txBody>
      </p:sp>
      <p:sp>
        <p:nvSpPr>
          <p:cNvPr id="13" name="Text 9"/>
          <p:cNvSpPr txBox="1"/>
          <p:nvPr/>
        </p:nvSpPr>
        <p:spPr>
          <a:xfrm>
            <a:off x="6545580" y="2362200"/>
            <a:ext cx="2540000" cy="330200"/>
          </a:xfrm>
          <a:prstGeom prst="rect">
            <a:avLst/>
          </a:prstGeom>
          <a:noFill/>
          <a:ln/>
        </p:spPr>
        <p:txBody>
          <a:bodyPr wrap="square" lIns="0" tIns="0" rIns="0" bIns="0" rtlCol="0" anchor="t"/>
          <a:lstStyle/>
          <a:p>
            <a:pPr indent="0" marL="0">
              <a:buNone/>
            </a:pPr>
            <a:r>
              <a:rPr lang="en-US" sz="1600" b="1" dirty="0">
                <a:solidFill>
                  <a:srgbClr val="FFFFFF"/>
                </a:solidFill>
                <a:latin typeface="Segoe UI" pitchFamily="34" charset="0"/>
                <a:ea typeface="Segoe UI" pitchFamily="34" charset="-122"/>
                <a:cs typeface="Segoe UI" pitchFamily="34" charset="-120"/>
              </a:rPr>
              <a:t>55</a:t>
            </a:r>
            <a:endParaRPr lang="en-US" sz="1600" dirty="0"/>
          </a:p>
        </p:txBody>
      </p:sp>
      <p:sp>
        <p:nvSpPr>
          <p:cNvPr id="14" name="Text 10"/>
          <p:cNvSpPr txBox="1"/>
          <p:nvPr/>
        </p:nvSpPr>
        <p:spPr>
          <a:xfrm>
            <a:off x="6545580" y="2730500"/>
            <a:ext cx="2540000" cy="6350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Confirmed project leads — Milestone 3, AWS-funded.</a:t>
            </a:r>
            <a:endParaRPr lang="en-US" sz="850" dirty="0"/>
          </a:p>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[Direction to confirm: owed by the partners, or flowing to them?]</a:t>
            </a:r>
            <a:endParaRPr lang="en-US" sz="850" dirty="0"/>
          </a:p>
        </p:txBody>
      </p:sp>
      <p:sp>
        <p:nvSpPr>
          <p:cNvPr id="15" name="Text 11"/>
          <p:cNvSpPr txBox="1"/>
          <p:nvPr/>
        </p:nvSpPr>
        <p:spPr>
          <a:xfrm>
            <a:off x="9352280" y="2362200"/>
            <a:ext cx="2540000" cy="330200"/>
          </a:xfrm>
          <a:prstGeom prst="rect">
            <a:avLst/>
          </a:prstGeom>
          <a:noFill/>
          <a:ln/>
        </p:spPr>
        <p:txBody>
          <a:bodyPr wrap="square" lIns="0" tIns="0" rIns="0" bIns="0" rtlCol="0" anchor="t"/>
          <a:lstStyle/>
          <a:p>
            <a:pPr indent="0" marL="0">
              <a:buNone/>
            </a:pPr>
            <a:r>
              <a:rPr lang="en-US" sz="1600" b="1" dirty="0">
                <a:solidFill>
                  <a:srgbClr val="FFFFFF"/>
                </a:solidFill>
                <a:latin typeface="Segoe UI" pitchFamily="34" charset="0"/>
                <a:ea typeface="Segoe UI" pitchFamily="34" charset="-122"/>
                <a:cs typeface="Segoe UI" pitchFamily="34" charset="-120"/>
              </a:rPr>
              <a:t>5 per solution</a:t>
            </a:r>
            <a:endParaRPr lang="en-US" sz="1600" dirty="0"/>
          </a:p>
        </p:txBody>
      </p:sp>
      <p:sp>
        <p:nvSpPr>
          <p:cNvPr id="16" name="Text 12"/>
          <p:cNvSpPr txBox="1"/>
          <p:nvPr/>
        </p:nvSpPr>
        <p:spPr>
          <a:xfrm>
            <a:off x="9352280" y="2730500"/>
            <a:ext cx="2540000" cy="635000"/>
          </a:xfrm>
          <a:prstGeom prst="rect">
            <a:avLst/>
          </a:prstGeom>
          <a:noFill/>
          <a:ln/>
        </p:spPr>
        <p:txBody>
          <a:bodyPr wrap="square" lIns="0" tIns="0" rIns="0" bIns="0" rtlCol="0" anchor="t"/>
          <a:lstStyle/>
          <a:p>
            <a:pPr indent="0" marL="0">
              <a:buNone/>
            </a:pPr>
            <a:r>
              <a:rPr lang="en-US" sz="850" dirty="0">
                <a:solidFill>
                  <a:srgbClr val="5B6378"/>
                </a:solidFill>
                <a:latin typeface="Segoe UI Semilight" pitchFamily="34" charset="0"/>
                <a:ea typeface="Segoe UI Semilight" pitchFamily="34" charset="-122"/>
                <a:cs typeface="Segoe UI Semilight" pitchFamily="34" charset="-120"/>
              </a:rPr>
              <a:t>ACE opportunity submissions — the programme’s obligation to AWS</a:t>
            </a:r>
            <a:endParaRPr lang="en-US" sz="850" dirty="0"/>
          </a:p>
        </p:txBody>
      </p:sp>
      <p:sp>
        <p:nvSpPr>
          <p:cNvPr id="17" name="Text 13"/>
          <p:cNvSpPr txBox="1"/>
          <p:nvPr/>
        </p:nvSpPr>
        <p:spPr>
          <a:xfrm>
            <a:off x="1023620" y="3759200"/>
            <a:ext cx="3411220" cy="584200"/>
          </a:xfrm>
          <a:prstGeom prst="rect">
            <a:avLst/>
          </a:prstGeom>
          <a:noFill/>
          <a:ln/>
        </p:spPr>
        <p:txBody>
          <a:bodyPr wrap="square" lIns="0" tIns="0" rIns="0" bIns="0" rtlCol="0" anchor="t"/>
          <a:lstStyle/>
          <a:p>
            <a:pPr indent="0" marL="0">
              <a:buNone/>
            </a:pPr>
            <a:r>
              <a:rPr lang="en-US" sz="1300" b="1" dirty="0">
                <a:solidFill>
                  <a:srgbClr val="15224B"/>
                </a:solidFill>
                <a:latin typeface="Segoe UI" pitchFamily="34" charset="0"/>
                <a:ea typeface="Segoe UI" pitchFamily="34" charset="-122"/>
                <a:cs typeface="Segoe UI" pitchFamily="34" charset="-120"/>
              </a:rPr>
              <a:t>Four transacting listings</a:t>
            </a:r>
            <a:endParaRPr lang="en-US" sz="1300" dirty="0"/>
          </a:p>
        </p:txBody>
      </p:sp>
      <p:sp>
        <p:nvSpPr>
          <p:cNvPr id="18" name="Text 14"/>
          <p:cNvSpPr txBox="1"/>
          <p:nvPr/>
        </p:nvSpPr>
        <p:spPr>
          <a:xfrm>
            <a:off x="1023620" y="4140200"/>
            <a:ext cx="3411220" cy="152400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Four solutions listed and transacting through AWS Marketplace on Automatum’s listing.</a:t>
            </a:r>
            <a:endParaRPr lang="en-US" sz="900" dirty="0"/>
          </a:p>
        </p:txBody>
      </p:sp>
      <p:sp>
        <p:nvSpPr>
          <p:cNvPr id="19" name="Text 15"/>
          <p:cNvSpPr txBox="1"/>
          <p:nvPr/>
        </p:nvSpPr>
        <p:spPr>
          <a:xfrm>
            <a:off x="4765040" y="3759200"/>
            <a:ext cx="3411220" cy="584200"/>
          </a:xfrm>
          <a:prstGeom prst="rect">
            <a:avLst/>
          </a:prstGeom>
          <a:noFill/>
          <a:ln/>
        </p:spPr>
        <p:txBody>
          <a:bodyPr wrap="square" lIns="0" tIns="0" rIns="0" bIns="0" rtlCol="0" anchor="t"/>
          <a:lstStyle/>
          <a:p>
            <a:pPr indent="0" marL="0">
              <a:buNone/>
            </a:pPr>
            <a:r>
              <a:rPr lang="en-US" sz="1300" b="1" dirty="0">
                <a:solidFill>
                  <a:srgbClr val="15224B"/>
                </a:solidFill>
                <a:latin typeface="Segoe UI" pitchFamily="34" charset="0"/>
                <a:ea typeface="Segoe UI" pitchFamily="34" charset="-122"/>
                <a:cs typeface="Segoe UI" pitchFamily="34" charset="-120"/>
              </a:rPr>
              <a:t>Twenty ACE submissions</a:t>
            </a:r>
            <a:endParaRPr lang="en-US" sz="1300" dirty="0"/>
          </a:p>
        </p:txBody>
      </p:sp>
      <p:sp>
        <p:nvSpPr>
          <p:cNvPr id="20" name="Text 16"/>
          <p:cNvSpPr txBox="1"/>
          <p:nvPr/>
        </p:nvSpPr>
        <p:spPr>
          <a:xfrm>
            <a:off x="4765040" y="4140200"/>
            <a:ext cx="3411220" cy="152400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Five per solution across the set. A customer’s own submissions follow their opportunity flow and are not an entitlement of five.</a:t>
            </a:r>
            <a:endParaRPr lang="en-US" sz="900" dirty="0"/>
          </a:p>
        </p:txBody>
      </p:sp>
      <p:sp>
        <p:nvSpPr>
          <p:cNvPr id="21" name="Text 17"/>
          <p:cNvSpPr txBox="1"/>
          <p:nvPr/>
        </p:nvSpPr>
        <p:spPr>
          <a:xfrm>
            <a:off x="8506460" y="3759200"/>
            <a:ext cx="3411220" cy="584200"/>
          </a:xfrm>
          <a:prstGeom prst="rect">
            <a:avLst/>
          </a:prstGeom>
          <a:noFill/>
          <a:ln/>
        </p:spPr>
        <p:txBody>
          <a:bodyPr wrap="square" lIns="0" tIns="0" rIns="0" bIns="0" rtlCol="0" anchor="t"/>
          <a:lstStyle/>
          <a:p>
            <a:pPr indent="0" marL="0">
              <a:buNone/>
            </a:pPr>
            <a:r>
              <a:rPr lang="en-US" sz="1300" b="1" dirty="0">
                <a:solidFill>
                  <a:srgbClr val="15224B"/>
                </a:solidFill>
                <a:latin typeface="Segoe UI" pitchFamily="34" charset="0"/>
                <a:ea typeface="Segoe UI" pitchFamily="34" charset="-122"/>
                <a:cs typeface="Segoe UI" pitchFamily="34" charset="-120"/>
              </a:rPr>
              <a:t>A named alliance owner</a:t>
            </a:r>
            <a:endParaRPr lang="en-US" sz="1300" dirty="0"/>
          </a:p>
        </p:txBody>
      </p:sp>
      <p:sp>
        <p:nvSpPr>
          <p:cNvPr id="22" name="Text 18"/>
          <p:cNvSpPr txBox="1"/>
          <p:nvPr/>
        </p:nvSpPr>
        <p:spPr>
          <a:xfrm>
            <a:off x="8506460" y="4140200"/>
            <a:ext cx="3411220" cy="152400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Co-sell and program progression run through a named owner on every engagement.</a:t>
            </a:r>
            <a:endParaRPr lang="en-US" sz="900" dirty="0"/>
          </a:p>
        </p:txBody>
      </p:sp>
      <p:sp>
        <p:nvSpPr>
          <p:cNvPr id="23" name="Shape 19"/>
          <p:cNvSpPr/>
          <p:nvPr/>
        </p:nvSpPr>
        <p:spPr>
          <a:xfrm>
            <a:off x="566420" y="5760720"/>
            <a:ext cx="11057890" cy="566420"/>
          </a:xfrm>
          <a:prstGeom prst="roundRect">
            <a:avLst>
              <a:gd name="adj" fmla="val 22601"/>
            </a:avLst>
          </a:prstGeom>
          <a:solidFill>
            <a:srgbClr val="15224B"/>
          </a:solidFill>
          <a:ln/>
        </p:spPr>
      </p:sp>
      <p:sp>
        <p:nvSpPr>
          <p:cNvPr id="24" name="Text 20"/>
          <p:cNvSpPr txBox="1"/>
          <p:nvPr/>
        </p:nvSpPr>
        <p:spPr>
          <a:xfrm>
            <a:off x="838200" y="5867400"/>
            <a:ext cx="10541000" cy="355600"/>
          </a:xfrm>
          <a:prstGeom prst="rect">
            <a:avLst/>
          </a:prstGeom>
          <a:noFill/>
          <a:ln/>
        </p:spPr>
        <p:txBody>
          <a:bodyPr wrap="square" lIns="0" tIns="0" rIns="0" bIns="0" rtlCol="0" anchor="ctr"/>
          <a:lstStyle/>
          <a:p>
            <a:pPr indent="0" marL="0">
              <a:buNone/>
            </a:pPr>
            <a:r>
              <a:rPr lang="en-US" sz="1050" b="1" spc="110" kern="0" dirty="0">
                <a:solidFill>
                  <a:srgbClr val="F36F20"/>
                </a:solidFill>
                <a:latin typeface="Segoe UI" pitchFamily="34" charset="0"/>
                <a:ea typeface="Segoe UI" pitchFamily="34" charset="-122"/>
                <a:cs typeface="Segoe UI" pitchFamily="34" charset="-120"/>
              </a:rPr>
              <a:t>THE RULE</a:t>
            </a:r>
            <a:pPr indent="0" marL="0">
              <a:buNone/>
            </a:pPr>
            <a:r>
              <a:rPr lang="en-US" sz="1050" dirty="0">
                <a:solidFill>
                  <a:srgbClr val="D7E1F5"/>
                </a:solidFill>
                <a:latin typeface="Segoe UI Semilight" pitchFamily="34" charset="0"/>
                <a:ea typeface="Segoe UI Semilight" pitchFamily="34" charset="-122"/>
                <a:cs typeface="Segoe UI Semilight" pitchFamily="34" charset="-120"/>
              </a:rPr>
              <a:t>    Each solution carries its own Solution ID and its own five ACE submissions; an opportunity belongs to one solution. Milestone apportionment is open — see partner economics.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home/user/barberbook/docs/deck/assets/bg_cont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eyebrow_p13.png">    </p:cNvPr>
          <p:cNvPicPr>
            <a:picLocks noChangeAspect="1"/>
          </p:cNvPicPr>
          <p:nvPr/>
        </p:nvPicPr>
        <p:blipFill>
          <a:blip r:embed="rId2"/>
          <a:stretch>
            <a:fillRect/>
          </a:stretch>
        </p:blipFill>
        <p:spPr>
          <a:xfrm>
            <a:off x="566420" y="474980"/>
            <a:ext cx="256540" cy="256540"/>
          </a:xfrm>
          <a:prstGeom prst="rect">
            <a:avLst/>
          </a:prstGeom>
        </p:spPr>
      </p:pic>
      <p:sp>
        <p:nvSpPr>
          <p:cNvPr id="4" name="Text 0"/>
          <p:cNvSpPr txBox="1"/>
          <p:nvPr/>
        </p:nvSpPr>
        <p:spPr>
          <a:xfrm>
            <a:off x="1023620" y="501650"/>
            <a:ext cx="6350000" cy="228600"/>
          </a:xfrm>
          <a:prstGeom prst="rect">
            <a:avLst/>
          </a:prstGeom>
          <a:noFill/>
          <a:ln/>
        </p:spPr>
        <p:txBody>
          <a:bodyPr wrap="square" lIns="0" tIns="0" rIns="0" bIns="0" rtlCol="0" anchor="t"/>
          <a:lstStyle/>
          <a:p>
            <a:pPr indent="0" marL="0">
              <a:buNone/>
            </a:pPr>
            <a:r>
              <a:rPr lang="en-US" sz="1150" b="1" spc="160" kern="0" dirty="0">
                <a:solidFill>
                  <a:srgbClr val="F36F20"/>
                </a:solidFill>
                <a:latin typeface="Segoe UI" pitchFamily="34" charset="0"/>
                <a:ea typeface="Segoe UI" pitchFamily="34" charset="-122"/>
                <a:cs typeface="Segoe UI" pitchFamily="34" charset="-120"/>
              </a:rPr>
              <a:t>THE SEQUENCE</a:t>
            </a:r>
            <a:endParaRPr lang="en-US" sz="1150" dirty="0"/>
          </a:p>
        </p:txBody>
      </p:sp>
      <p:sp>
        <p:nvSpPr>
          <p:cNvPr id="5" name="Text 1"/>
          <p:cNvSpPr txBox="1"/>
          <p:nvPr/>
        </p:nvSpPr>
        <p:spPr>
          <a:xfrm>
            <a:off x="657860" y="939800"/>
            <a:ext cx="10922000" cy="508000"/>
          </a:xfrm>
          <a:prstGeom prst="rect">
            <a:avLst/>
          </a:prstGeom>
          <a:noFill/>
          <a:ln/>
        </p:spPr>
        <p:txBody>
          <a:bodyPr wrap="square" lIns="0" tIns="0" rIns="0" bIns="0" rtlCol="0" anchor="t"/>
          <a:lstStyle/>
          <a:p>
            <a:pPr indent="0" marL="0">
              <a:buNone/>
            </a:pPr>
            <a:r>
              <a:rPr lang="en-US" sz="2500" b="1" dirty="0">
                <a:solidFill>
                  <a:srgbClr val="15224B"/>
                </a:solidFill>
                <a:latin typeface="Segoe UI" pitchFamily="34" charset="0"/>
                <a:ea typeface="Segoe UI" pitchFamily="34" charset="-122"/>
                <a:cs typeface="Segoe UI" pitchFamily="34" charset="-120"/>
              </a:rPr>
              <a:t>Two waves, along the value chain.</a:t>
            </a:r>
            <a:endParaRPr lang="en-US" sz="2500" dirty="0"/>
          </a:p>
        </p:txBody>
      </p:sp>
      <p:sp>
        <p:nvSpPr>
          <p:cNvPr id="6" name="Text 2"/>
          <p:cNvSpPr txBox="1"/>
          <p:nvPr/>
        </p:nvSpPr>
        <p:spPr>
          <a:xfrm>
            <a:off x="657860" y="1651000"/>
            <a:ext cx="10541000" cy="431800"/>
          </a:xfrm>
          <a:prstGeom prst="rect">
            <a:avLst/>
          </a:prstGeom>
          <a:noFill/>
          <a:ln/>
        </p:spPr>
        <p:txBody>
          <a:bodyPr wrap="square" lIns="0" tIns="0" rIns="0" bIns="0" rtlCol="0" anchor="t"/>
          <a:lstStyle/>
          <a:p>
            <a:pPr indent="0" marL="0">
              <a:buNone/>
            </a:pPr>
            <a:r>
              <a:rPr lang="en-US" sz="1250" dirty="0">
                <a:solidFill>
                  <a:srgbClr val="5B6378"/>
                </a:solidFill>
                <a:latin typeface="Segoe UI Semilight" pitchFamily="34" charset="0"/>
                <a:ea typeface="Segoe UI Semilight" pitchFamily="34" charset="-122"/>
                <a:cs typeface="Segoe UI Semilight" pitchFamily="34" charset="-120"/>
              </a:rPr>
              <a:t>Sequence, rather than four at once. The split is p10’s chain down the middle, and it pairs each retainer with the work that precedes it.</a:t>
            </a:r>
            <a:endParaRPr lang="en-US" sz="1250" dirty="0"/>
          </a:p>
        </p:txBody>
      </p:sp>
      <p:sp>
        <p:nvSpPr>
          <p:cNvPr id="7" name="Text 3"/>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8" name="Text 4"/>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20 / 22</a:t>
            </a:r>
            <a:endParaRPr lang="en-US" sz="900" dirty="0"/>
          </a:p>
        </p:txBody>
      </p:sp>
      <p:sp>
        <p:nvSpPr>
          <p:cNvPr id="9" name="Text 5"/>
          <p:cNvSpPr txBox="1"/>
          <p:nvPr/>
        </p:nvSpPr>
        <p:spPr>
          <a:xfrm>
            <a:off x="1023620" y="2413000"/>
            <a:ext cx="4953000" cy="203200"/>
          </a:xfrm>
          <a:prstGeom prst="rect">
            <a:avLst/>
          </a:prstGeom>
          <a:noFill/>
          <a:ln/>
        </p:spPr>
        <p:txBody>
          <a:bodyPr wrap="square" lIns="0" tIns="0" rIns="0" bIns="0" rtlCol="0" anchor="t"/>
          <a:lstStyle/>
          <a:p>
            <a:pPr indent="0" marL="0">
              <a:buNone/>
            </a:pPr>
            <a:r>
              <a:rPr lang="en-US" sz="1100" b="1" spc="140" kern="0" dirty="0">
                <a:solidFill>
                  <a:srgbClr val="F36F20"/>
                </a:solidFill>
                <a:latin typeface="Segoe UI" pitchFamily="34" charset="0"/>
                <a:ea typeface="Segoe UI" pitchFamily="34" charset="-122"/>
                <a:cs typeface="Segoe UI" pitchFamily="34" charset="-120"/>
              </a:rPr>
              <a:t>WAVE ONE</a:t>
            </a:r>
            <a:endParaRPr lang="en-US" sz="1100" dirty="0"/>
          </a:p>
        </p:txBody>
      </p:sp>
      <p:sp>
        <p:nvSpPr>
          <p:cNvPr id="10" name="Text 6"/>
          <p:cNvSpPr txBox="1"/>
          <p:nvPr/>
        </p:nvSpPr>
        <p:spPr>
          <a:xfrm>
            <a:off x="1023620" y="2667000"/>
            <a:ext cx="4953000" cy="431800"/>
          </a:xfrm>
          <a:prstGeom prst="rect">
            <a:avLst/>
          </a:prstGeom>
          <a:noFill/>
          <a:ln/>
        </p:spPr>
        <p:txBody>
          <a:bodyPr wrap="square" lIns="0" tIns="0" rIns="0" bIns="0" rtlCol="0" anchor="t"/>
          <a:lstStyle/>
          <a:p>
            <a:pPr indent="0" marL="0">
              <a:buNone/>
            </a:pPr>
            <a:r>
              <a:rPr lang="en-US" sz="1300" b="1" dirty="0">
                <a:solidFill>
                  <a:srgbClr val="FFFFFF"/>
                </a:solidFill>
                <a:latin typeface="Segoe UI" pitchFamily="34" charset="0"/>
                <a:ea typeface="Segoe UI" pitchFamily="34" charset="-122"/>
                <a:cs typeface="Segoe UI" pitchFamily="34" charset="-120"/>
              </a:rPr>
              <a:t>Marketplace Compliance Accelerator  +  Managed AWS Alliances</a:t>
            </a:r>
            <a:endParaRPr lang="en-US" sz="1300" dirty="0"/>
          </a:p>
        </p:txBody>
      </p:sp>
      <p:sp>
        <p:nvSpPr>
          <p:cNvPr id="11" name="Text 7"/>
          <p:cNvSpPr txBox="1"/>
          <p:nvPr/>
        </p:nvSpPr>
        <p:spPr>
          <a:xfrm>
            <a:off x="1023620" y="3175000"/>
            <a:ext cx="4953000" cy="203200"/>
          </a:xfrm>
          <a:prstGeom prst="rect">
            <a:avLst/>
          </a:prstGeom>
          <a:noFill/>
          <a:ln/>
        </p:spPr>
        <p:txBody>
          <a:bodyPr wrap="square" lIns="0" tIns="0" rIns="0" bIns="0" rtlCol="0" anchor="t"/>
          <a:lstStyle/>
          <a:p>
            <a:pPr indent="0" marL="0">
              <a:buNone/>
            </a:pPr>
            <a:r>
              <a:rPr lang="en-US" sz="950" dirty="0">
                <a:solidFill>
                  <a:srgbClr val="2E7CC4"/>
                </a:solidFill>
                <a:latin typeface="Segoe UI Semilight" pitchFamily="34" charset="0"/>
                <a:ea typeface="Segoe UI Semilight" pitchFamily="34" charset="-122"/>
                <a:cs typeface="Segoe UI Semilight" pitchFamily="34" charset="-120"/>
              </a:rPr>
              <a:t>Get listed  →  Run the partnership</a:t>
            </a:r>
            <a:endParaRPr lang="en-US" sz="950" dirty="0"/>
          </a:p>
        </p:txBody>
      </p:sp>
      <p:sp>
        <p:nvSpPr>
          <p:cNvPr id="12" name="Text 8"/>
          <p:cNvSpPr txBox="1"/>
          <p:nvPr/>
        </p:nvSpPr>
        <p:spPr>
          <a:xfrm>
            <a:off x="1023620" y="3479800"/>
            <a:ext cx="4953000" cy="6350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900" dirty="0">
                <a:solidFill>
                  <a:srgbClr val="5B6378"/>
                </a:solidFill>
                <a:latin typeface="Segoe UI Semilight" pitchFamily="34" charset="0"/>
                <a:ea typeface="Segoe UI Semilight" pitchFamily="34" charset="-122"/>
                <a:cs typeface="Segoe UI Semilight" pitchFamily="34" charset="-120"/>
              </a:rPr>
              <a:t>2 feasibility studies</a:t>
            </a:r>
            <a:endParaRPr lang="en-US" sz="900" dirty="0"/>
          </a:p>
          <a:p>
            <a:pPr marL="127000" indent="-127000">
              <a:lnSpc>
                <a:spcPct val="112000"/>
              </a:lnSpc>
              <a:spcAft>
                <a:spcPts val="300"/>
              </a:spcAft>
              <a:buSzPct val="100000"/>
              <a:buChar char="•"/>
            </a:pPr>
            <a:r>
              <a:rPr lang="en-US" sz="900" dirty="0">
                <a:solidFill>
                  <a:srgbClr val="5B6378"/>
                </a:solidFill>
                <a:latin typeface="Segoe UI Semilight" pitchFamily="34" charset="0"/>
                <a:ea typeface="Segoe UI Semilight" pitchFamily="34" charset="-122"/>
                <a:cs typeface="Segoe UI Semilight" pitchFamily="34" charset="-120"/>
              </a:rPr>
              <a:t>2 milestone plans</a:t>
            </a:r>
            <a:endParaRPr lang="en-US" sz="900" dirty="0"/>
          </a:p>
          <a:p>
            <a:pPr marL="127000" indent="-127000">
              <a:lnSpc>
                <a:spcPct val="112000"/>
              </a:lnSpc>
              <a:spcAft>
                <a:spcPts val="300"/>
              </a:spcAft>
              <a:buSzPct val="100000"/>
              <a:buChar char="•"/>
            </a:pPr>
            <a:r>
              <a:rPr lang="en-US" sz="900" dirty="0">
                <a:solidFill>
                  <a:srgbClr val="5B6378"/>
                </a:solidFill>
                <a:latin typeface="Segoe UI Semilight" pitchFamily="34" charset="0"/>
                <a:ea typeface="Segoe UI Semilight" pitchFamily="34" charset="-122"/>
                <a:cs typeface="Segoe UI Semilight" pitchFamily="34" charset="-120"/>
              </a:rPr>
              <a:t>10 ACE submissions</a:t>
            </a:r>
            <a:endParaRPr lang="en-US" sz="900" dirty="0"/>
          </a:p>
        </p:txBody>
      </p:sp>
      <p:sp>
        <p:nvSpPr>
          <p:cNvPr id="13" name="Text 9"/>
          <p:cNvSpPr txBox="1"/>
          <p:nvPr/>
        </p:nvSpPr>
        <p:spPr>
          <a:xfrm>
            <a:off x="1023620" y="4216400"/>
            <a:ext cx="4953000" cy="88900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The Accelerator is the only fixed, provable delivery in the portfolio — the cheapest feasibility study to write and the fastest route to Milestone 1 evidence. It also produces the listing Alliances runs the partnership around.</a:t>
            </a:r>
            <a:endParaRPr lang="en-US" sz="900" dirty="0"/>
          </a:p>
        </p:txBody>
      </p:sp>
      <p:sp>
        <p:nvSpPr>
          <p:cNvPr id="14" name="Text 10"/>
          <p:cNvSpPr txBox="1"/>
          <p:nvPr/>
        </p:nvSpPr>
        <p:spPr>
          <a:xfrm>
            <a:off x="6484620" y="2413000"/>
            <a:ext cx="4953000" cy="203200"/>
          </a:xfrm>
          <a:prstGeom prst="rect">
            <a:avLst/>
          </a:prstGeom>
          <a:noFill/>
          <a:ln/>
        </p:spPr>
        <p:txBody>
          <a:bodyPr wrap="square" lIns="0" tIns="0" rIns="0" bIns="0" rtlCol="0" anchor="t"/>
          <a:lstStyle/>
          <a:p>
            <a:pPr indent="0" marL="0">
              <a:buNone/>
            </a:pPr>
            <a:r>
              <a:rPr lang="en-US" sz="1100" b="1" spc="140" kern="0" dirty="0">
                <a:solidFill>
                  <a:srgbClr val="F36F20"/>
                </a:solidFill>
                <a:latin typeface="Segoe UI" pitchFamily="34" charset="0"/>
                <a:ea typeface="Segoe UI" pitchFamily="34" charset="-122"/>
                <a:cs typeface="Segoe UI" pitchFamily="34" charset="-120"/>
              </a:rPr>
              <a:t>WAVE TWO</a:t>
            </a:r>
            <a:endParaRPr lang="en-US" sz="1100" dirty="0"/>
          </a:p>
        </p:txBody>
      </p:sp>
      <p:sp>
        <p:nvSpPr>
          <p:cNvPr id="15" name="Text 11"/>
          <p:cNvSpPr txBox="1"/>
          <p:nvPr/>
        </p:nvSpPr>
        <p:spPr>
          <a:xfrm>
            <a:off x="6484620" y="2667000"/>
            <a:ext cx="4953000" cy="431800"/>
          </a:xfrm>
          <a:prstGeom prst="rect">
            <a:avLst/>
          </a:prstGeom>
          <a:noFill/>
          <a:ln/>
        </p:spPr>
        <p:txBody>
          <a:bodyPr wrap="square" lIns="0" tIns="0" rIns="0" bIns="0" rtlCol="0" anchor="t"/>
          <a:lstStyle/>
          <a:p>
            <a:pPr indent="0" marL="0">
              <a:buNone/>
            </a:pPr>
            <a:r>
              <a:rPr lang="en-US" sz="1300" b="1" dirty="0">
                <a:solidFill>
                  <a:srgbClr val="FFFFFF"/>
                </a:solidFill>
                <a:latin typeface="Segoe UI" pitchFamily="34" charset="0"/>
                <a:ea typeface="Segoe UI" pitchFamily="34" charset="-122"/>
                <a:cs typeface="Segoe UI" pitchFamily="34" charset="-120"/>
              </a:rPr>
              <a:t>Managed Marketplace Operations  +  Managed Partner Development</a:t>
            </a:r>
            <a:endParaRPr lang="en-US" sz="1300" dirty="0"/>
          </a:p>
        </p:txBody>
      </p:sp>
      <p:sp>
        <p:nvSpPr>
          <p:cNvPr id="16" name="Text 12"/>
          <p:cNvSpPr txBox="1"/>
          <p:nvPr/>
        </p:nvSpPr>
        <p:spPr>
          <a:xfrm>
            <a:off x="6484620" y="3175000"/>
            <a:ext cx="4953000" cy="203200"/>
          </a:xfrm>
          <a:prstGeom prst="rect">
            <a:avLst/>
          </a:prstGeom>
          <a:noFill/>
          <a:ln/>
        </p:spPr>
        <p:txBody>
          <a:bodyPr wrap="square" lIns="0" tIns="0" rIns="0" bIns="0" rtlCol="0" anchor="t"/>
          <a:lstStyle/>
          <a:p>
            <a:pPr indent="0" marL="0">
              <a:buNone/>
            </a:pPr>
            <a:r>
              <a:rPr lang="en-US" sz="950" dirty="0">
                <a:solidFill>
                  <a:srgbClr val="2E7CC4"/>
                </a:solidFill>
                <a:latin typeface="Segoe UI Semilight" pitchFamily="34" charset="0"/>
                <a:ea typeface="Segoe UI Semilight" pitchFamily="34" charset="-122"/>
                <a:cs typeface="Segoe UI Semilight" pitchFamily="34" charset="-120"/>
              </a:rPr>
              <a:t>Operate the Marketplace  →  Build the channel</a:t>
            </a:r>
            <a:endParaRPr lang="en-US" sz="950" dirty="0"/>
          </a:p>
        </p:txBody>
      </p:sp>
      <p:sp>
        <p:nvSpPr>
          <p:cNvPr id="17" name="Text 13"/>
          <p:cNvSpPr txBox="1"/>
          <p:nvPr/>
        </p:nvSpPr>
        <p:spPr>
          <a:xfrm>
            <a:off x="6484620" y="3479800"/>
            <a:ext cx="4953000" cy="6350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900" dirty="0">
                <a:solidFill>
                  <a:srgbClr val="5B6378"/>
                </a:solidFill>
                <a:latin typeface="Segoe UI Semilight" pitchFamily="34" charset="0"/>
                <a:ea typeface="Segoe UI Semilight" pitchFamily="34" charset="-122"/>
                <a:cs typeface="Segoe UI Semilight" pitchFamily="34" charset="-120"/>
              </a:rPr>
              <a:t>2 feasibility studies</a:t>
            </a:r>
            <a:endParaRPr lang="en-US" sz="900" dirty="0"/>
          </a:p>
          <a:p>
            <a:pPr marL="127000" indent="-127000">
              <a:lnSpc>
                <a:spcPct val="112000"/>
              </a:lnSpc>
              <a:spcAft>
                <a:spcPts val="300"/>
              </a:spcAft>
              <a:buSzPct val="100000"/>
              <a:buChar char="•"/>
            </a:pPr>
            <a:r>
              <a:rPr lang="en-US" sz="900" dirty="0">
                <a:solidFill>
                  <a:srgbClr val="5B6378"/>
                </a:solidFill>
                <a:latin typeface="Segoe UI Semilight" pitchFamily="34" charset="0"/>
                <a:ea typeface="Segoe UI Semilight" pitchFamily="34" charset="-122"/>
                <a:cs typeface="Segoe UI Semilight" pitchFamily="34" charset="-120"/>
              </a:rPr>
              <a:t>2 milestone plans</a:t>
            </a:r>
            <a:endParaRPr lang="en-US" sz="900" dirty="0"/>
          </a:p>
          <a:p>
            <a:pPr marL="127000" indent="-127000">
              <a:lnSpc>
                <a:spcPct val="112000"/>
              </a:lnSpc>
              <a:spcAft>
                <a:spcPts val="300"/>
              </a:spcAft>
              <a:buSzPct val="100000"/>
              <a:buChar char="•"/>
            </a:pPr>
            <a:r>
              <a:rPr lang="en-US" sz="900" dirty="0">
                <a:solidFill>
                  <a:srgbClr val="5B6378"/>
                </a:solidFill>
                <a:latin typeface="Segoe UI Semilight" pitchFamily="34" charset="0"/>
                <a:ea typeface="Segoe UI Semilight" pitchFamily="34" charset="-122"/>
                <a:cs typeface="Segoe UI Semilight" pitchFamily="34" charset="-120"/>
              </a:rPr>
              <a:t>10 ACE submissions</a:t>
            </a:r>
            <a:endParaRPr lang="en-US" sz="900" dirty="0"/>
          </a:p>
        </p:txBody>
      </p:sp>
      <p:sp>
        <p:nvSpPr>
          <p:cNvPr id="18" name="Text 14"/>
          <p:cNvSpPr txBox="1"/>
          <p:nvPr/>
        </p:nvSpPr>
        <p:spPr>
          <a:xfrm>
            <a:off x="6484620" y="4216400"/>
            <a:ext cx="4953000" cy="88900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Opens on wave one’s Milestone 1 approval — the only gate consistent with arriving with evidence. Both depend on a listing that is already live and transacting.</a:t>
            </a:r>
            <a:endParaRPr lang="en-US" sz="900" dirty="0"/>
          </a:p>
        </p:txBody>
      </p:sp>
      <p:sp>
        <p:nvSpPr>
          <p:cNvPr id="19" name="Text 15"/>
          <p:cNvSpPr txBox="1"/>
          <p:nvPr/>
        </p:nvSpPr>
        <p:spPr>
          <a:xfrm>
            <a:off x="1023620" y="5181600"/>
            <a:ext cx="5080000" cy="177800"/>
          </a:xfrm>
          <a:prstGeom prst="rect">
            <a:avLst/>
          </a:prstGeom>
          <a:noFill/>
          <a:ln/>
        </p:spPr>
        <p:txBody>
          <a:bodyPr wrap="square" lIns="0" tIns="0" rIns="0" bIns="0" rtlCol="0" anchor="t"/>
          <a:lstStyle/>
          <a:p>
            <a:pPr indent="0" marL="0">
              <a:buNone/>
            </a:pPr>
            <a:r>
              <a:rPr lang="en-US" sz="800" b="1" spc="100" kern="0" dirty="0">
                <a:solidFill>
                  <a:srgbClr val="F36F20"/>
                </a:solidFill>
                <a:latin typeface="Segoe UI" pitchFamily="34" charset="0"/>
                <a:ea typeface="Segoe UI" pitchFamily="34" charset="-122"/>
                <a:cs typeface="Segoe UI" pitchFamily="34" charset="-120"/>
              </a:rPr>
              <a:t>TWO CONDITIONS PRINTED ON THIS SLIDE</a:t>
            </a:r>
            <a:endParaRPr lang="en-US" sz="800" dirty="0"/>
          </a:p>
        </p:txBody>
      </p:sp>
      <p:sp>
        <p:nvSpPr>
          <p:cNvPr id="20" name="Text 16"/>
          <p:cNvSpPr txBox="1"/>
          <p:nvPr/>
        </p:nvSpPr>
        <p:spPr>
          <a:xfrm>
            <a:off x="1023620" y="5384800"/>
            <a:ext cx="10541000" cy="508000"/>
          </a:xfrm>
          <a:prstGeom prst="rect">
            <a:avLst/>
          </a:prstGeom>
          <a:noFill/>
          <a:ln/>
        </p:spPr>
        <p:txBody>
          <a:bodyPr wrap="square" lIns="0" tIns="0" rIns="0" bIns="0" rtlCol="0" anchor="t"/>
          <a:lstStyle/>
          <a:p>
            <a:pPr marL="127000" indent="-127000">
              <a:lnSpc>
                <a:spcPct val="112000"/>
              </a:lnSpc>
              <a:spcAft>
                <a:spcPts val="300"/>
              </a:spcAft>
              <a:buSzPct val="100000"/>
              <a:buChar char="•"/>
            </a:pPr>
            <a:r>
              <a:rPr lang="en-US" sz="850" dirty="0">
                <a:solidFill>
                  <a:srgbClr val="9AA2B5"/>
                </a:solidFill>
                <a:latin typeface="Segoe UI Semilight" pitchFamily="34" charset="0"/>
                <a:ea typeface="Segoe UI Semilight" pitchFamily="34" charset="-122"/>
                <a:cs typeface="Segoe UI Semilight" pitchFamily="34" charset="-120"/>
              </a:rPr>
              <a:t>Wave one assumes capacity to run two feasibility studies and two milestone plans concurrently. [Capacity to confirm — if it is genuinely one at a time, wave one splits.]</a:t>
            </a:r>
            <a:endParaRPr lang="en-US" sz="850" dirty="0"/>
          </a:p>
          <a:p>
            <a:pPr marL="127000" indent="-127000">
              <a:lnSpc>
                <a:spcPct val="112000"/>
              </a:lnSpc>
              <a:spcAft>
                <a:spcPts val="300"/>
              </a:spcAft>
              <a:buSzPct val="100000"/>
              <a:buChar char="•"/>
            </a:pPr>
            <a:r>
              <a:rPr lang="en-US" sz="850" dirty="0">
                <a:solidFill>
                  <a:srgbClr val="9AA2B5"/>
                </a:solidFill>
                <a:latin typeface="Segoe UI Semilight" pitchFamily="34" charset="0"/>
                <a:ea typeface="Segoe UI Semilight" pitchFamily="34" charset="-122"/>
                <a:cs typeface="Segoe UI Semilight" pitchFamily="34" charset="-120"/>
              </a:rPr>
              <a:t>The whole recommendation is contingent on the 12-month listing clock running per Solution ID from entry. If it runs programme-level, sequencing burns the clock rather than staggering it, and this slide is wrong.</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home/user/barberbook/docs/deck/assets/bg_cont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eyebrow_p13.png">    </p:cNvPr>
          <p:cNvPicPr>
            <a:picLocks noChangeAspect="1"/>
          </p:cNvPicPr>
          <p:nvPr/>
        </p:nvPicPr>
        <p:blipFill>
          <a:blip r:embed="rId2"/>
          <a:stretch>
            <a:fillRect/>
          </a:stretch>
        </p:blipFill>
        <p:spPr>
          <a:xfrm>
            <a:off x="566420" y="474980"/>
            <a:ext cx="256540" cy="256540"/>
          </a:xfrm>
          <a:prstGeom prst="rect">
            <a:avLst/>
          </a:prstGeom>
        </p:spPr>
      </p:pic>
      <p:sp>
        <p:nvSpPr>
          <p:cNvPr id="4" name="Text 0"/>
          <p:cNvSpPr txBox="1"/>
          <p:nvPr/>
        </p:nvSpPr>
        <p:spPr>
          <a:xfrm>
            <a:off x="1023620" y="501650"/>
            <a:ext cx="6350000" cy="228600"/>
          </a:xfrm>
          <a:prstGeom prst="rect">
            <a:avLst/>
          </a:prstGeom>
          <a:noFill/>
          <a:ln/>
        </p:spPr>
        <p:txBody>
          <a:bodyPr wrap="square" lIns="0" tIns="0" rIns="0" bIns="0" rtlCol="0" anchor="t"/>
          <a:lstStyle/>
          <a:p>
            <a:pPr indent="0" marL="0">
              <a:buNone/>
            </a:pPr>
            <a:r>
              <a:rPr lang="en-US" sz="1150" b="1" spc="160" kern="0" dirty="0">
                <a:solidFill>
                  <a:srgbClr val="F36F20"/>
                </a:solidFill>
                <a:latin typeface="Segoe UI" pitchFamily="34" charset="0"/>
                <a:ea typeface="Segoe UI" pitchFamily="34" charset="-122"/>
                <a:cs typeface="Segoe UI" pitchFamily="34" charset="-120"/>
              </a:rPr>
              <a:t>THE DECISION</a:t>
            </a:r>
            <a:endParaRPr lang="en-US" sz="1150" dirty="0"/>
          </a:p>
        </p:txBody>
      </p:sp>
      <p:sp>
        <p:nvSpPr>
          <p:cNvPr id="5" name="Text 1"/>
          <p:cNvSpPr txBox="1"/>
          <p:nvPr/>
        </p:nvSpPr>
        <p:spPr>
          <a:xfrm>
            <a:off x="657860" y="939800"/>
            <a:ext cx="10922000" cy="508000"/>
          </a:xfrm>
          <a:prstGeom prst="rect">
            <a:avLst/>
          </a:prstGeom>
          <a:noFill/>
          <a:ln/>
        </p:spPr>
        <p:txBody>
          <a:bodyPr wrap="square" lIns="0" tIns="0" rIns="0" bIns="0" rtlCol="0" anchor="t"/>
          <a:lstStyle/>
          <a:p>
            <a:pPr indent="0" marL="0">
              <a:buNone/>
            </a:pPr>
            <a:r>
              <a:rPr lang="en-US" sz="2500" b="1" dirty="0">
                <a:solidFill>
                  <a:srgbClr val="15224B"/>
                </a:solidFill>
                <a:latin typeface="Segoe UI" pitchFamily="34" charset="0"/>
                <a:ea typeface="Segoe UI" pitchFamily="34" charset="-122"/>
                <a:cs typeface="Segoe UI" pitchFamily="34" charset="-120"/>
              </a:rPr>
              <a:t>What we are asking today.</a:t>
            </a:r>
            <a:endParaRPr lang="en-US" sz="2500" dirty="0"/>
          </a:p>
        </p:txBody>
      </p:sp>
      <p:sp>
        <p:nvSpPr>
          <p:cNvPr id="6" name="Text 2"/>
          <p:cNvSpPr txBox="1"/>
          <p:nvPr/>
        </p:nvSpPr>
        <p:spPr>
          <a:xfrm>
            <a:off x="657860" y="1651000"/>
            <a:ext cx="10541000" cy="431800"/>
          </a:xfrm>
          <a:prstGeom prst="rect">
            <a:avLst/>
          </a:prstGeom>
          <a:noFill/>
          <a:ln/>
        </p:spPr>
        <p:txBody>
          <a:bodyPr wrap="square" lIns="0" tIns="0" rIns="0" bIns="0" rtlCol="0" anchor="t"/>
          <a:lstStyle/>
          <a:p>
            <a:pPr indent="0" marL="0">
              <a:buNone/>
            </a:pPr>
            <a:r>
              <a:rPr lang="en-US" sz="1250" dirty="0">
                <a:solidFill>
                  <a:srgbClr val="5B6378"/>
                </a:solidFill>
                <a:latin typeface="Segoe UI Semilight" pitchFamily="34" charset="0"/>
                <a:ea typeface="Segoe UI Semilight" pitchFamily="34" charset="-122"/>
                <a:cs typeface="Segoe UI Semilight" pitchFamily="34" charset="-120"/>
              </a:rPr>
              <a:t>Approve the sequence, confirm the lead partner of record, name the dates.</a:t>
            </a:r>
            <a:endParaRPr lang="en-US" sz="1250" dirty="0"/>
          </a:p>
        </p:txBody>
      </p:sp>
      <p:sp>
        <p:nvSpPr>
          <p:cNvPr id="7" name="Text 3"/>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8" name="Text 4"/>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21 / 22</a:t>
            </a:r>
            <a:endParaRPr lang="en-US" sz="900" dirty="0"/>
          </a:p>
        </p:txBody>
      </p:sp>
      <p:sp>
        <p:nvSpPr>
          <p:cNvPr id="9" name="Shape 5"/>
          <p:cNvSpPr/>
          <p:nvPr/>
        </p:nvSpPr>
        <p:spPr>
          <a:xfrm>
            <a:off x="566420" y="2292350"/>
            <a:ext cx="11055350" cy="317500"/>
          </a:xfrm>
          <a:prstGeom prst="rect">
            <a:avLst/>
          </a:prstGeom>
          <a:solidFill>
            <a:srgbClr val="15224B"/>
          </a:solidFill>
          <a:ln/>
        </p:spPr>
      </p:sp>
      <p:sp>
        <p:nvSpPr>
          <p:cNvPr id="10" name="Text 6"/>
          <p:cNvSpPr txBox="1"/>
          <p:nvPr/>
        </p:nvSpPr>
        <p:spPr>
          <a:xfrm>
            <a:off x="749300" y="2362200"/>
            <a:ext cx="4191000" cy="203200"/>
          </a:xfrm>
          <a:prstGeom prst="rect">
            <a:avLst/>
          </a:prstGeom>
          <a:noFill/>
          <a:ln/>
        </p:spPr>
        <p:txBody>
          <a:bodyPr wrap="square" lIns="0" tIns="0" rIns="0" bIns="0" rtlCol="0" anchor="t"/>
          <a:lstStyle/>
          <a:p>
            <a:pPr indent="0" marL="0">
              <a:buNone/>
            </a:pPr>
            <a:r>
              <a:rPr lang="en-US" sz="1000" b="1" dirty="0">
                <a:solidFill>
                  <a:srgbClr val="FFFFFF"/>
                </a:solidFill>
                <a:latin typeface="Segoe UI" pitchFamily="34" charset="0"/>
                <a:ea typeface="Segoe UI" pitchFamily="34" charset="-122"/>
                <a:cs typeface="Segoe UI" pitchFamily="34" charset="-120"/>
              </a:rPr>
              <a:t>Entry condition or item</a:t>
            </a:r>
            <a:endParaRPr lang="en-US" sz="1000" dirty="0"/>
          </a:p>
        </p:txBody>
      </p:sp>
      <p:sp>
        <p:nvSpPr>
          <p:cNvPr id="11" name="Text 7"/>
          <p:cNvSpPr txBox="1"/>
          <p:nvPr/>
        </p:nvSpPr>
        <p:spPr>
          <a:xfrm>
            <a:off x="5143500" y="2362200"/>
            <a:ext cx="1905000" cy="203200"/>
          </a:xfrm>
          <a:prstGeom prst="rect">
            <a:avLst/>
          </a:prstGeom>
          <a:noFill/>
          <a:ln/>
        </p:spPr>
        <p:txBody>
          <a:bodyPr wrap="square" lIns="0" tIns="0" rIns="0" bIns="0" rtlCol="0" anchor="t"/>
          <a:lstStyle/>
          <a:p>
            <a:pPr indent="0" marL="0">
              <a:buNone/>
            </a:pPr>
            <a:r>
              <a:rPr lang="en-US" sz="1000" b="1" dirty="0">
                <a:solidFill>
                  <a:srgbClr val="FFFFFF"/>
                </a:solidFill>
                <a:latin typeface="Segoe UI" pitchFamily="34" charset="0"/>
                <a:ea typeface="Segoe UI" pitchFamily="34" charset="-122"/>
                <a:cs typeface="Segoe UI" pitchFamily="34" charset="-120"/>
              </a:rPr>
              <a:t>Owner</a:t>
            </a:r>
            <a:endParaRPr lang="en-US" sz="1000" dirty="0"/>
          </a:p>
        </p:txBody>
      </p:sp>
      <p:sp>
        <p:nvSpPr>
          <p:cNvPr id="12" name="Text 8"/>
          <p:cNvSpPr txBox="1"/>
          <p:nvPr/>
        </p:nvSpPr>
        <p:spPr>
          <a:xfrm>
            <a:off x="7366000" y="2362200"/>
            <a:ext cx="2895600" cy="203200"/>
          </a:xfrm>
          <a:prstGeom prst="rect">
            <a:avLst/>
          </a:prstGeom>
          <a:noFill/>
          <a:ln/>
        </p:spPr>
        <p:txBody>
          <a:bodyPr wrap="square" lIns="0" tIns="0" rIns="0" bIns="0" rtlCol="0" anchor="t"/>
          <a:lstStyle/>
          <a:p>
            <a:pPr indent="0" marL="0">
              <a:buNone/>
            </a:pPr>
            <a:r>
              <a:rPr lang="en-US" sz="1000" b="1" dirty="0">
                <a:solidFill>
                  <a:srgbClr val="FFFFFF"/>
                </a:solidFill>
                <a:latin typeface="Segoe UI" pitchFamily="34" charset="0"/>
                <a:ea typeface="Segoe UI" pitchFamily="34" charset="-122"/>
                <a:cs typeface="Segoe UI" pitchFamily="34" charset="-120"/>
              </a:rPr>
              <a:t>Standing</a:t>
            </a:r>
            <a:endParaRPr lang="en-US" sz="1000" dirty="0"/>
          </a:p>
        </p:txBody>
      </p:sp>
      <p:sp>
        <p:nvSpPr>
          <p:cNvPr id="13" name="Text 9"/>
          <p:cNvSpPr txBox="1"/>
          <p:nvPr/>
        </p:nvSpPr>
        <p:spPr>
          <a:xfrm>
            <a:off x="749300" y="2730500"/>
            <a:ext cx="4191000" cy="317500"/>
          </a:xfrm>
          <a:prstGeom prst="rect">
            <a:avLst/>
          </a:prstGeom>
          <a:noFill/>
          <a:ln/>
        </p:spPr>
        <p:txBody>
          <a:bodyPr wrap="square" lIns="0" tIns="0" rIns="0" bIns="0" rtlCol="0" anchor="t"/>
          <a:lstStyle/>
          <a:p>
            <a:pPr indent="0" marL="0">
              <a:buNone/>
            </a:pPr>
            <a:r>
              <a:rPr lang="en-US" sz="1000" b="1" dirty="0">
                <a:solidFill>
                  <a:srgbClr val="15224B"/>
                </a:solidFill>
                <a:latin typeface="Segoe UI" pitchFamily="34" charset="0"/>
                <a:ea typeface="Segoe UI" pitchFamily="34" charset="-122"/>
                <a:cs typeface="Segoe UI" pitchFamily="34" charset="-120"/>
              </a:rPr>
              <a:t>Validated or Differentiated held by the lead partner</a:t>
            </a:r>
            <a:endParaRPr lang="en-US" sz="1000" dirty="0"/>
          </a:p>
        </p:txBody>
      </p:sp>
      <p:sp>
        <p:nvSpPr>
          <p:cNvPr id="14" name="Text 10"/>
          <p:cNvSpPr txBox="1"/>
          <p:nvPr/>
        </p:nvSpPr>
        <p:spPr>
          <a:xfrm>
            <a:off x="5143500" y="2730500"/>
            <a:ext cx="1905000" cy="3175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Automatum</a:t>
            </a:r>
            <a:endParaRPr lang="en-US" sz="1000" dirty="0"/>
          </a:p>
        </p:txBody>
      </p:sp>
      <p:sp>
        <p:nvSpPr>
          <p:cNvPr id="15" name="Text 11"/>
          <p:cNvSpPr txBox="1"/>
          <p:nvPr/>
        </p:nvSpPr>
        <p:spPr>
          <a:xfrm>
            <a:off x="7366000" y="2730500"/>
            <a:ext cx="2895600" cy="3175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Stated by Automatum (Aein, email) — evidence to attach</a:t>
            </a:r>
            <a:endParaRPr lang="en-US" sz="1000" dirty="0"/>
          </a:p>
        </p:txBody>
      </p:sp>
      <p:sp>
        <p:nvSpPr>
          <p:cNvPr id="16" name="Shape 12"/>
          <p:cNvSpPr/>
          <p:nvPr/>
        </p:nvSpPr>
        <p:spPr>
          <a:xfrm>
            <a:off x="566420" y="2978150"/>
            <a:ext cx="11055350" cy="317500"/>
          </a:xfrm>
          <a:prstGeom prst="rect">
            <a:avLst/>
          </a:prstGeom>
          <a:solidFill>
            <a:srgbClr val="F5F8FC"/>
          </a:solidFill>
          <a:ln/>
        </p:spPr>
      </p:sp>
      <p:sp>
        <p:nvSpPr>
          <p:cNvPr id="17" name="Text 13"/>
          <p:cNvSpPr txBox="1"/>
          <p:nvPr/>
        </p:nvSpPr>
        <p:spPr>
          <a:xfrm>
            <a:off x="749300" y="3048000"/>
            <a:ext cx="4191000" cy="317500"/>
          </a:xfrm>
          <a:prstGeom prst="rect">
            <a:avLst/>
          </a:prstGeom>
          <a:noFill/>
          <a:ln/>
        </p:spPr>
        <p:txBody>
          <a:bodyPr wrap="square" lIns="0" tIns="0" rIns="0" bIns="0" rtlCol="0" anchor="t"/>
          <a:lstStyle/>
          <a:p>
            <a:pPr indent="0" marL="0">
              <a:buNone/>
            </a:pPr>
            <a:r>
              <a:rPr lang="en-US" sz="1000" b="1" dirty="0">
                <a:solidFill>
                  <a:srgbClr val="15224B"/>
                </a:solidFill>
                <a:latin typeface="Segoe UI" pitchFamily="34" charset="0"/>
                <a:ea typeface="Segoe UI" pitchFamily="34" charset="-122"/>
                <a:cs typeface="Segoe UI" pitchFamily="34" charset="-120"/>
              </a:rPr>
              <a:t>Automatum is lead partner of record on all four Solution IDs</a:t>
            </a:r>
            <a:endParaRPr lang="en-US" sz="1000" dirty="0"/>
          </a:p>
        </p:txBody>
      </p:sp>
      <p:sp>
        <p:nvSpPr>
          <p:cNvPr id="18" name="Text 14"/>
          <p:cNvSpPr txBox="1"/>
          <p:nvPr/>
        </p:nvSpPr>
        <p:spPr>
          <a:xfrm>
            <a:off x="5143500" y="3048000"/>
            <a:ext cx="1905000" cy="3175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Automatum</a:t>
            </a:r>
            <a:endParaRPr lang="en-US" sz="1000" dirty="0"/>
          </a:p>
        </p:txBody>
      </p:sp>
      <p:sp>
        <p:nvSpPr>
          <p:cNvPr id="19" name="Text 15"/>
          <p:cNvSpPr txBox="1"/>
          <p:nvPr/>
        </p:nvSpPr>
        <p:spPr>
          <a:xfrm>
            <a:off x="7366000" y="3048000"/>
            <a:ext cx="2895600" cy="3175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To confirm</a:t>
            </a:r>
            <a:endParaRPr lang="en-US" sz="1000" dirty="0"/>
          </a:p>
        </p:txBody>
      </p:sp>
      <p:sp>
        <p:nvSpPr>
          <p:cNvPr id="20" name="Text 16"/>
          <p:cNvSpPr txBox="1"/>
          <p:nvPr/>
        </p:nvSpPr>
        <p:spPr>
          <a:xfrm>
            <a:off x="749300" y="3365500"/>
            <a:ext cx="4191000" cy="317500"/>
          </a:xfrm>
          <a:prstGeom prst="rect">
            <a:avLst/>
          </a:prstGeom>
          <a:noFill/>
          <a:ln/>
        </p:spPr>
        <p:txBody>
          <a:bodyPr wrap="square" lIns="0" tIns="0" rIns="0" bIns="0" rtlCol="0" anchor="t"/>
          <a:lstStyle/>
          <a:p>
            <a:pPr indent="0" marL="0">
              <a:buNone/>
            </a:pPr>
            <a:r>
              <a:rPr lang="en-US" sz="1000" b="1" dirty="0">
                <a:solidFill>
                  <a:srgbClr val="15224B"/>
                </a:solidFill>
                <a:latin typeface="Segoe UI" pitchFamily="34" charset="0"/>
                <a:ea typeface="Segoe UI" pitchFamily="34" charset="-122"/>
                <a:cs typeface="Segoe UI" pitchFamily="34" charset="-120"/>
              </a:rPr>
              <a:t>Solution listed within 12 months</a:t>
            </a:r>
            <a:endParaRPr lang="en-US" sz="1000" dirty="0"/>
          </a:p>
        </p:txBody>
      </p:sp>
      <p:sp>
        <p:nvSpPr>
          <p:cNvPr id="21" name="Text 17"/>
          <p:cNvSpPr txBox="1"/>
          <p:nvPr/>
        </p:nvSpPr>
        <p:spPr>
          <a:xfrm>
            <a:off x="5143500" y="3365500"/>
            <a:ext cx="1905000" cy="3175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Automatum + OBP</a:t>
            </a:r>
            <a:endParaRPr lang="en-US" sz="1000" dirty="0"/>
          </a:p>
        </p:txBody>
      </p:sp>
      <p:sp>
        <p:nvSpPr>
          <p:cNvPr id="22" name="Text 18"/>
          <p:cNvSpPr txBox="1"/>
          <p:nvPr/>
        </p:nvSpPr>
        <p:spPr>
          <a:xfrm>
            <a:off x="7366000" y="3365500"/>
            <a:ext cx="2895600" cy="3175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[Per-wave deadlines once the clock basis is confirmed]</a:t>
            </a:r>
            <a:endParaRPr lang="en-US" sz="1000" dirty="0"/>
          </a:p>
        </p:txBody>
      </p:sp>
      <p:sp>
        <p:nvSpPr>
          <p:cNvPr id="23" name="Shape 19"/>
          <p:cNvSpPr/>
          <p:nvPr/>
        </p:nvSpPr>
        <p:spPr>
          <a:xfrm>
            <a:off x="566420" y="3613150"/>
            <a:ext cx="11055350" cy="317500"/>
          </a:xfrm>
          <a:prstGeom prst="rect">
            <a:avLst/>
          </a:prstGeom>
          <a:solidFill>
            <a:srgbClr val="F5F8FC"/>
          </a:solidFill>
          <a:ln/>
        </p:spPr>
      </p:sp>
      <p:sp>
        <p:nvSpPr>
          <p:cNvPr id="24" name="Text 20"/>
          <p:cNvSpPr txBox="1"/>
          <p:nvPr/>
        </p:nvSpPr>
        <p:spPr>
          <a:xfrm>
            <a:off x="749300" y="3683000"/>
            <a:ext cx="4191000" cy="317500"/>
          </a:xfrm>
          <a:prstGeom prst="rect">
            <a:avLst/>
          </a:prstGeom>
          <a:noFill/>
          <a:ln/>
        </p:spPr>
        <p:txBody>
          <a:bodyPr wrap="square" lIns="0" tIns="0" rIns="0" bIns="0" rtlCol="0" anchor="t"/>
          <a:lstStyle/>
          <a:p>
            <a:pPr indent="0" marL="0">
              <a:buNone/>
            </a:pPr>
            <a:r>
              <a:rPr lang="en-US" sz="1000" b="1" dirty="0">
                <a:solidFill>
                  <a:srgbClr val="15224B"/>
                </a:solidFill>
                <a:latin typeface="Segoe UI" pitchFamily="34" charset="0"/>
                <a:ea typeface="Segoe UI" pitchFamily="34" charset="-122"/>
                <a:cs typeface="Segoe UI" pitchFamily="34" charset="-120"/>
              </a:rPr>
              <a:t>Five ACE opportunity submissions per solution</a:t>
            </a:r>
            <a:endParaRPr lang="en-US" sz="1000" dirty="0"/>
          </a:p>
        </p:txBody>
      </p:sp>
      <p:sp>
        <p:nvSpPr>
          <p:cNvPr id="25" name="Text 21"/>
          <p:cNvSpPr txBox="1"/>
          <p:nvPr/>
        </p:nvSpPr>
        <p:spPr>
          <a:xfrm>
            <a:off x="5143500" y="3683000"/>
            <a:ext cx="1905000" cy="3175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OBP</a:t>
            </a:r>
            <a:endParaRPr lang="en-US" sz="1000" dirty="0"/>
          </a:p>
        </p:txBody>
      </p:sp>
      <p:sp>
        <p:nvSpPr>
          <p:cNvPr id="26" name="Text 22"/>
          <p:cNvSpPr txBox="1"/>
          <p:nvPr/>
        </p:nvSpPr>
        <p:spPr>
          <a:xfrm>
            <a:off x="7366000" y="3683000"/>
            <a:ext cx="2895600" cy="3175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Built into each solution’s plan</a:t>
            </a:r>
            <a:endParaRPr lang="en-US" sz="1000" dirty="0"/>
          </a:p>
        </p:txBody>
      </p:sp>
      <p:sp>
        <p:nvSpPr>
          <p:cNvPr id="27" name="Text 23"/>
          <p:cNvSpPr txBox="1"/>
          <p:nvPr/>
        </p:nvSpPr>
        <p:spPr>
          <a:xfrm>
            <a:off x="749300" y="4000500"/>
            <a:ext cx="4191000" cy="317500"/>
          </a:xfrm>
          <a:prstGeom prst="rect">
            <a:avLst/>
          </a:prstGeom>
          <a:noFill/>
          <a:ln/>
        </p:spPr>
        <p:txBody>
          <a:bodyPr wrap="square" lIns="0" tIns="0" rIns="0" bIns="0" rtlCol="0" anchor="t"/>
          <a:lstStyle/>
          <a:p>
            <a:pPr indent="0" marL="0">
              <a:buNone/>
            </a:pPr>
            <a:r>
              <a:rPr lang="en-US" sz="1000" b="1" dirty="0">
                <a:solidFill>
                  <a:srgbClr val="15224B"/>
                </a:solidFill>
                <a:latin typeface="Segoe UI" pitchFamily="34" charset="0"/>
                <a:ea typeface="Segoe UI" pitchFamily="34" charset="-122"/>
                <a:cs typeface="Segoe UI" pitchFamily="34" charset="-120"/>
              </a:rPr>
              <a:t>Milestone 1 Feasibility Study per solution</a:t>
            </a:r>
            <a:endParaRPr lang="en-US" sz="1000" dirty="0"/>
          </a:p>
        </p:txBody>
      </p:sp>
      <p:sp>
        <p:nvSpPr>
          <p:cNvPr id="28" name="Text 24"/>
          <p:cNvSpPr txBox="1"/>
          <p:nvPr/>
        </p:nvSpPr>
        <p:spPr>
          <a:xfrm>
            <a:off x="5143500" y="4000500"/>
            <a:ext cx="1905000" cy="3175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OBP</a:t>
            </a:r>
            <a:endParaRPr lang="en-US" sz="1000" dirty="0"/>
          </a:p>
        </p:txBody>
      </p:sp>
      <p:sp>
        <p:nvSpPr>
          <p:cNvPr id="29" name="Text 25"/>
          <p:cNvSpPr txBox="1"/>
          <p:nvPr/>
        </p:nvSpPr>
        <p:spPr>
          <a:xfrm>
            <a:off x="7366000" y="4000500"/>
            <a:ext cx="2895600" cy="3175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Drafted from the overviews</a:t>
            </a:r>
            <a:endParaRPr lang="en-US" sz="1000" dirty="0"/>
          </a:p>
        </p:txBody>
      </p:sp>
      <p:sp>
        <p:nvSpPr>
          <p:cNvPr id="30" name="Shape 26"/>
          <p:cNvSpPr/>
          <p:nvPr/>
        </p:nvSpPr>
        <p:spPr>
          <a:xfrm>
            <a:off x="566420" y="4248150"/>
            <a:ext cx="11055350" cy="317500"/>
          </a:xfrm>
          <a:prstGeom prst="rect">
            <a:avLst/>
          </a:prstGeom>
          <a:solidFill>
            <a:srgbClr val="F5F8FC"/>
          </a:solidFill>
          <a:ln/>
        </p:spPr>
      </p:sp>
      <p:sp>
        <p:nvSpPr>
          <p:cNvPr id="31" name="Text 27"/>
          <p:cNvSpPr txBox="1"/>
          <p:nvPr/>
        </p:nvSpPr>
        <p:spPr>
          <a:xfrm>
            <a:off x="749300" y="4318000"/>
            <a:ext cx="4191000" cy="317500"/>
          </a:xfrm>
          <a:prstGeom prst="rect">
            <a:avLst/>
          </a:prstGeom>
          <a:noFill/>
          <a:ln/>
        </p:spPr>
        <p:txBody>
          <a:bodyPr wrap="square" lIns="0" tIns="0" rIns="0" bIns="0" rtlCol="0" anchor="t"/>
          <a:lstStyle/>
          <a:p>
            <a:pPr indent="0" marL="0">
              <a:buNone/>
            </a:pPr>
            <a:r>
              <a:rPr lang="en-US" sz="1000" b="1" dirty="0">
                <a:solidFill>
                  <a:srgbClr val="15224B"/>
                </a:solidFill>
                <a:latin typeface="Segoe UI" pitchFamily="34" charset="0"/>
                <a:ea typeface="Segoe UI" pitchFamily="34" charset="-122"/>
                <a:cs typeface="Segoe UI" pitchFamily="34" charset="-120"/>
              </a:rPr>
              <a:t>Commit / target set per retainer rung</a:t>
            </a:r>
            <a:endParaRPr lang="en-US" sz="1000" dirty="0"/>
          </a:p>
        </p:txBody>
      </p:sp>
      <p:sp>
        <p:nvSpPr>
          <p:cNvPr id="32" name="Text 28"/>
          <p:cNvSpPr txBox="1"/>
          <p:nvPr/>
        </p:nvSpPr>
        <p:spPr>
          <a:xfrm>
            <a:off x="5143500" y="4318000"/>
            <a:ext cx="1905000" cy="3175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OBP</a:t>
            </a:r>
            <a:endParaRPr lang="en-US" sz="1000" dirty="0"/>
          </a:p>
        </p:txBody>
      </p:sp>
      <p:sp>
        <p:nvSpPr>
          <p:cNvPr id="33" name="Text 29"/>
          <p:cNvSpPr txBox="1"/>
          <p:nvPr/>
        </p:nvSpPr>
        <p:spPr>
          <a:xfrm>
            <a:off x="7366000" y="4318000"/>
            <a:ext cx="2895600" cy="3175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In draft — placeholders to close by [date]</a:t>
            </a:r>
            <a:endParaRPr lang="en-US" sz="1000" dirty="0"/>
          </a:p>
        </p:txBody>
      </p:sp>
      <p:sp>
        <p:nvSpPr>
          <p:cNvPr id="34" name="Text 30"/>
          <p:cNvSpPr txBox="1"/>
          <p:nvPr/>
        </p:nvSpPr>
        <p:spPr>
          <a:xfrm>
            <a:off x="749300" y="4635500"/>
            <a:ext cx="4191000" cy="317500"/>
          </a:xfrm>
          <a:prstGeom prst="rect">
            <a:avLst/>
          </a:prstGeom>
          <a:noFill/>
          <a:ln/>
        </p:spPr>
        <p:txBody>
          <a:bodyPr wrap="square" lIns="0" tIns="0" rIns="0" bIns="0" rtlCol="0" anchor="t"/>
          <a:lstStyle/>
          <a:p>
            <a:pPr indent="0" marL="0">
              <a:buNone/>
            </a:pPr>
            <a:r>
              <a:rPr lang="en-US" sz="1000" b="1" dirty="0">
                <a:solidFill>
                  <a:srgbClr val="15224B"/>
                </a:solidFill>
                <a:latin typeface="Segoe UI" pitchFamily="34" charset="0"/>
                <a:ea typeface="Segoe UI" pitchFamily="34" charset="-122"/>
                <a:cs typeface="Segoe UI" pitchFamily="34" charset="-120"/>
              </a:rPr>
              <a:t>Included band and overflow rate per rung</a:t>
            </a:r>
            <a:endParaRPr lang="en-US" sz="1000" dirty="0"/>
          </a:p>
        </p:txBody>
      </p:sp>
      <p:sp>
        <p:nvSpPr>
          <p:cNvPr id="35" name="Text 31"/>
          <p:cNvSpPr txBox="1"/>
          <p:nvPr/>
        </p:nvSpPr>
        <p:spPr>
          <a:xfrm>
            <a:off x="5143500" y="4635500"/>
            <a:ext cx="1905000" cy="3175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OBP commercial</a:t>
            </a:r>
            <a:endParaRPr lang="en-US" sz="1000" dirty="0"/>
          </a:p>
        </p:txBody>
      </p:sp>
      <p:sp>
        <p:nvSpPr>
          <p:cNvPr id="36" name="Text 32"/>
          <p:cNvSpPr txBox="1"/>
          <p:nvPr/>
        </p:nvSpPr>
        <p:spPr>
          <a:xfrm>
            <a:off x="7366000" y="4635500"/>
            <a:ext cx="2895600" cy="3175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To decide</a:t>
            </a:r>
            <a:endParaRPr lang="en-US" sz="1000" dirty="0"/>
          </a:p>
        </p:txBody>
      </p:sp>
      <p:sp>
        <p:nvSpPr>
          <p:cNvPr id="37" name="Shape 33"/>
          <p:cNvSpPr/>
          <p:nvPr/>
        </p:nvSpPr>
        <p:spPr>
          <a:xfrm>
            <a:off x="566420" y="4883150"/>
            <a:ext cx="11055350" cy="317500"/>
          </a:xfrm>
          <a:prstGeom prst="rect">
            <a:avLst/>
          </a:prstGeom>
          <a:solidFill>
            <a:srgbClr val="F5F8FC"/>
          </a:solidFill>
          <a:ln/>
        </p:spPr>
      </p:sp>
      <p:sp>
        <p:nvSpPr>
          <p:cNvPr id="38" name="Text 34"/>
          <p:cNvSpPr txBox="1"/>
          <p:nvPr/>
        </p:nvSpPr>
        <p:spPr>
          <a:xfrm>
            <a:off x="749300" y="4953000"/>
            <a:ext cx="4191000" cy="317500"/>
          </a:xfrm>
          <a:prstGeom prst="rect">
            <a:avLst/>
          </a:prstGeom>
          <a:noFill/>
          <a:ln/>
        </p:spPr>
        <p:txBody>
          <a:bodyPr wrap="square" lIns="0" tIns="0" rIns="0" bIns="0" rtlCol="0" anchor="t"/>
          <a:lstStyle/>
          <a:p>
            <a:pPr indent="0" marL="0">
              <a:buNone/>
            </a:pPr>
            <a:r>
              <a:rPr lang="en-US" sz="1000" b="1" dirty="0">
                <a:solidFill>
                  <a:srgbClr val="15224B"/>
                </a:solidFill>
                <a:latin typeface="Segoe UI" pitchFamily="34" charset="0"/>
                <a:ea typeface="Segoe UI" pitchFamily="34" charset="-122"/>
                <a:cs typeface="Segoe UI" pitchFamily="34" charset="-120"/>
              </a:rPr>
              <a:t>Automatum back-to-back turnarounds</a:t>
            </a:r>
            <a:endParaRPr lang="en-US" sz="1000" dirty="0"/>
          </a:p>
        </p:txBody>
      </p:sp>
      <p:sp>
        <p:nvSpPr>
          <p:cNvPr id="39" name="Text 35"/>
          <p:cNvSpPr txBox="1"/>
          <p:nvPr/>
        </p:nvSpPr>
        <p:spPr>
          <a:xfrm>
            <a:off x="5143500" y="4953000"/>
            <a:ext cx="1905000" cy="3175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Automatum</a:t>
            </a:r>
            <a:endParaRPr lang="en-US" sz="1000" dirty="0"/>
          </a:p>
        </p:txBody>
      </p:sp>
      <p:sp>
        <p:nvSpPr>
          <p:cNvPr id="40" name="Text 36"/>
          <p:cNvSpPr txBox="1"/>
          <p:nvPr/>
        </p:nvSpPr>
        <p:spPr>
          <a:xfrm>
            <a:off x="7366000" y="4953000"/>
            <a:ext cx="2895600" cy="3175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To agree on the call</a:t>
            </a:r>
            <a:endParaRPr lang="en-US" sz="1000" dirty="0"/>
          </a:p>
        </p:txBody>
      </p:sp>
      <p:sp>
        <p:nvSpPr>
          <p:cNvPr id="41" name="Text 37"/>
          <p:cNvSpPr txBox="1"/>
          <p:nvPr/>
        </p:nvSpPr>
        <p:spPr>
          <a:xfrm>
            <a:off x="749300" y="5270500"/>
            <a:ext cx="4191000" cy="317500"/>
          </a:xfrm>
          <a:prstGeom prst="rect">
            <a:avLst/>
          </a:prstGeom>
          <a:noFill/>
          <a:ln/>
        </p:spPr>
        <p:txBody>
          <a:bodyPr wrap="square" lIns="0" tIns="0" rIns="0" bIns="0" rtlCol="0" anchor="t"/>
          <a:lstStyle/>
          <a:p>
            <a:pPr indent="0" marL="0">
              <a:buNone/>
            </a:pPr>
            <a:r>
              <a:rPr lang="en-US" sz="1000" b="1" dirty="0">
                <a:solidFill>
                  <a:srgbClr val="15224B"/>
                </a:solidFill>
                <a:latin typeface="Segoe UI" pitchFamily="34" charset="0"/>
                <a:ea typeface="Segoe UI" pitchFamily="34" charset="-122"/>
                <a:cs typeface="Segoe UI" pitchFamily="34" charset="-120"/>
              </a:rPr>
              <a:t>Commercial terms between OBP and Automatum</a:t>
            </a:r>
            <a:endParaRPr lang="en-US" sz="1000" dirty="0"/>
          </a:p>
        </p:txBody>
      </p:sp>
      <p:sp>
        <p:nvSpPr>
          <p:cNvPr id="42" name="Text 38"/>
          <p:cNvSpPr txBox="1"/>
          <p:nvPr/>
        </p:nvSpPr>
        <p:spPr>
          <a:xfrm>
            <a:off x="5143500" y="5270500"/>
            <a:ext cx="1905000" cy="3175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OBP + Automatum</a:t>
            </a:r>
            <a:endParaRPr lang="en-US" sz="1000" dirty="0"/>
          </a:p>
        </p:txBody>
      </p:sp>
      <p:sp>
        <p:nvSpPr>
          <p:cNvPr id="43" name="Text 39"/>
          <p:cNvSpPr txBox="1"/>
          <p:nvPr/>
        </p:nvSpPr>
        <p:spPr>
          <a:xfrm>
            <a:off x="7366000" y="5270500"/>
            <a:ext cx="2895600" cy="317500"/>
          </a:xfrm>
          <a:prstGeom prst="rect">
            <a:avLst/>
          </a:prstGeom>
          <a:noFill/>
          <a:ln/>
        </p:spPr>
        <p:txBody>
          <a:bodyPr wrap="square" lIns="0" tIns="0" rIns="0" bIns="0" rtlCol="0" anchor="t"/>
          <a:lstStyle/>
          <a:p>
            <a:pPr indent="0" marL="0">
              <a:buNone/>
            </a:pPr>
            <a:r>
              <a:rPr lang="en-US" sz="1000" dirty="0">
                <a:solidFill>
                  <a:srgbClr val="5B6378"/>
                </a:solidFill>
                <a:latin typeface="Segoe UI Semilight" pitchFamily="34" charset="0"/>
                <a:ea typeface="Segoe UI Semilight" pitchFamily="34" charset="-122"/>
                <a:cs typeface="Segoe UI Semilight" pitchFamily="34" charset="-120"/>
              </a:rPr>
              <a:t>On the agenda for [call date]</a:t>
            </a:r>
            <a:endParaRPr lang="en-US" sz="1000" dirty="0"/>
          </a:p>
        </p:txBody>
      </p:sp>
      <p:sp>
        <p:nvSpPr>
          <p:cNvPr id="44" name="Text 40"/>
          <p:cNvSpPr txBox="1"/>
          <p:nvPr/>
        </p:nvSpPr>
        <p:spPr>
          <a:xfrm>
            <a:off x="749300" y="5384800"/>
            <a:ext cx="10795000" cy="355600"/>
          </a:xfrm>
          <a:prstGeom prst="rect">
            <a:avLst/>
          </a:prstGeom>
          <a:noFill/>
          <a:ln/>
        </p:spPr>
        <p:txBody>
          <a:bodyPr wrap="square" lIns="0" tIns="0" rIns="0" bIns="0" rtlCol="0" anchor="t"/>
          <a:lstStyle/>
          <a:p>
            <a:pPr indent="0" marL="0">
              <a:buNone/>
            </a:pPr>
            <a:r>
              <a:rPr lang="en-US" sz="850" dirty="0">
                <a:solidFill>
                  <a:srgbClr val="9AA2B5"/>
                </a:solidFill>
                <a:latin typeface="Segoe UI Semilight" pitchFamily="34" charset="0"/>
                <a:ea typeface="Segoe UI Semilight" pitchFamily="34" charset="-122"/>
                <a:cs typeface="Segoe UI Semilight" pitchFamily="34" charset="-120"/>
              </a:rPr>
              <a:t>Stage and partner tier are separate axes. The gate the deck names is Validated or Differentiated, which Differentiated satisfies on its own — attach the stage and tier as shown on Partner Central, the Partner ID, the date checked, and any expiry.</a:t>
            </a:r>
            <a:endParaRPr lang="en-US" sz="850" dirty="0"/>
          </a:p>
        </p:txBody>
      </p:sp>
      <p:sp>
        <p:nvSpPr>
          <p:cNvPr id="45" name="Shape 41"/>
          <p:cNvSpPr/>
          <p:nvPr/>
        </p:nvSpPr>
        <p:spPr>
          <a:xfrm>
            <a:off x="566420" y="5760720"/>
            <a:ext cx="11057890" cy="566420"/>
          </a:xfrm>
          <a:prstGeom prst="roundRect">
            <a:avLst>
              <a:gd name="adj" fmla="val 22601"/>
            </a:avLst>
          </a:prstGeom>
          <a:solidFill>
            <a:srgbClr val="15224B"/>
          </a:solidFill>
          <a:ln/>
        </p:spPr>
      </p:sp>
      <p:sp>
        <p:nvSpPr>
          <p:cNvPr id="46" name="Text 42"/>
          <p:cNvSpPr txBox="1"/>
          <p:nvPr/>
        </p:nvSpPr>
        <p:spPr>
          <a:xfrm>
            <a:off x="838200" y="5867400"/>
            <a:ext cx="10541000" cy="355600"/>
          </a:xfrm>
          <a:prstGeom prst="rect">
            <a:avLst/>
          </a:prstGeom>
          <a:noFill/>
          <a:ln/>
        </p:spPr>
        <p:txBody>
          <a:bodyPr wrap="square" lIns="0" tIns="0" rIns="0" bIns="0" rtlCol="0" anchor="ctr"/>
          <a:lstStyle/>
          <a:p>
            <a:pPr indent="0" marL="0">
              <a:buNone/>
            </a:pPr>
            <a:r>
              <a:rPr lang="en-US" sz="1050" b="1" spc="110" kern="0" dirty="0">
                <a:solidFill>
                  <a:srgbClr val="F36F20"/>
                </a:solidFill>
                <a:latin typeface="Segoe UI" pitchFamily="34" charset="0"/>
                <a:ea typeface="Segoe UI" pitchFamily="34" charset="-122"/>
                <a:cs typeface="Segoe UI" pitchFamily="34" charset="-120"/>
              </a:rPr>
              <a:t>THE ASK</a:t>
            </a:r>
            <a:pPr indent="0" marL="0">
              <a:buNone/>
            </a:pPr>
            <a:r>
              <a:rPr lang="en-US" sz="1050" dirty="0">
                <a:solidFill>
                  <a:srgbClr val="D7E1F5"/>
                </a:solidFill>
                <a:latin typeface="Segoe UI Semilight" pitchFamily="34" charset="0"/>
                <a:ea typeface="Segoe UI Semilight" pitchFamily="34" charset="-122"/>
                <a:cs typeface="Segoe UI Semilight" pitchFamily="34" charset="-120"/>
              </a:rPr>
              <a:t>    Approve the two-wave sequence, confirm the lead partner of record, agree the back-to-back turnarounds, and calendar wave one’s Milestone 1 for [date].</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home/user/barberbook/docs/deck/assets/bg_cont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home/user/barberbook/docs/deck/assets/eyebrow_p14.png">    </p:cNvPr>
          <p:cNvPicPr>
            <a:picLocks noChangeAspect="1"/>
          </p:cNvPicPr>
          <p:nvPr/>
        </p:nvPicPr>
        <p:blipFill>
          <a:blip r:embed="rId2"/>
          <a:stretch>
            <a:fillRect/>
          </a:stretch>
        </p:blipFill>
        <p:spPr>
          <a:xfrm>
            <a:off x="566420" y="474980"/>
            <a:ext cx="256540" cy="256540"/>
          </a:xfrm>
          <a:prstGeom prst="rect">
            <a:avLst/>
          </a:prstGeom>
        </p:spPr>
      </p:pic>
      <p:sp>
        <p:nvSpPr>
          <p:cNvPr id="4" name="Text 0"/>
          <p:cNvSpPr txBox="1"/>
          <p:nvPr/>
        </p:nvSpPr>
        <p:spPr>
          <a:xfrm>
            <a:off x="1023620" y="501650"/>
            <a:ext cx="6350000" cy="228600"/>
          </a:xfrm>
          <a:prstGeom prst="rect">
            <a:avLst/>
          </a:prstGeom>
          <a:noFill/>
          <a:ln/>
        </p:spPr>
        <p:txBody>
          <a:bodyPr wrap="square" lIns="0" tIns="0" rIns="0" bIns="0" rtlCol="0" anchor="t"/>
          <a:lstStyle/>
          <a:p>
            <a:pPr indent="0" marL="0">
              <a:buNone/>
            </a:pPr>
            <a:r>
              <a:rPr lang="en-US" sz="1150" b="1" spc="160" kern="0" dirty="0">
                <a:solidFill>
                  <a:srgbClr val="F36F20"/>
                </a:solidFill>
                <a:latin typeface="Segoe UI" pitchFamily="34" charset="0"/>
                <a:ea typeface="Segoe UI" pitchFamily="34" charset="-122"/>
                <a:cs typeface="Segoe UI" pitchFamily="34" charset="-120"/>
              </a:rPr>
              <a:t>WHERE EVERYTHING LIVES</a:t>
            </a:r>
            <a:endParaRPr lang="en-US" sz="1150" dirty="0"/>
          </a:p>
        </p:txBody>
      </p:sp>
      <p:sp>
        <p:nvSpPr>
          <p:cNvPr id="5" name="Text 1"/>
          <p:cNvSpPr txBox="1"/>
          <p:nvPr/>
        </p:nvSpPr>
        <p:spPr>
          <a:xfrm>
            <a:off x="657860" y="939800"/>
            <a:ext cx="10922000" cy="508000"/>
          </a:xfrm>
          <a:prstGeom prst="rect">
            <a:avLst/>
          </a:prstGeom>
          <a:noFill/>
          <a:ln/>
        </p:spPr>
        <p:txBody>
          <a:bodyPr wrap="square" lIns="0" tIns="0" rIns="0" bIns="0" rtlCol="0" anchor="t"/>
          <a:lstStyle/>
          <a:p>
            <a:pPr indent="0" marL="0">
              <a:buNone/>
            </a:pPr>
            <a:r>
              <a:rPr lang="en-US" sz="2500" b="1" dirty="0">
                <a:solidFill>
                  <a:srgbClr val="15224B"/>
                </a:solidFill>
                <a:latin typeface="Segoe UI" pitchFamily="34" charset="0"/>
                <a:ea typeface="Segoe UI" pitchFamily="34" charset="-122"/>
                <a:cs typeface="Segoe UI" pitchFamily="34" charset="-120"/>
              </a:rPr>
              <a:t>The set, and how it travels.</a:t>
            </a:r>
            <a:endParaRPr lang="en-US" sz="2500" dirty="0"/>
          </a:p>
        </p:txBody>
      </p:sp>
      <p:sp>
        <p:nvSpPr>
          <p:cNvPr id="6" name="Text 2"/>
          <p:cNvSpPr txBox="1"/>
          <p:nvPr/>
        </p:nvSpPr>
        <p:spPr>
          <a:xfrm>
            <a:off x="657860" y="1651000"/>
            <a:ext cx="10541000" cy="431800"/>
          </a:xfrm>
          <a:prstGeom prst="rect">
            <a:avLst/>
          </a:prstGeom>
          <a:noFill/>
          <a:ln/>
        </p:spPr>
        <p:txBody>
          <a:bodyPr wrap="square" lIns="0" tIns="0" rIns="0" bIns="0" rtlCol="0" anchor="t"/>
          <a:lstStyle/>
          <a:p>
            <a:pPr indent="0" marL="0">
              <a:buNone/>
            </a:pPr>
            <a:r>
              <a:rPr lang="en-US" sz="1250" dirty="0">
                <a:solidFill>
                  <a:srgbClr val="5B6378"/>
                </a:solidFill>
                <a:latin typeface="Segoe UI Semilight" pitchFamily="34" charset="0"/>
                <a:ea typeface="Segoe UI Semilight" pitchFamily="34" charset="-122"/>
                <a:cs typeface="Segoe UI Semilight" pitchFamily="34" charset="-120"/>
              </a:rPr>
              <a:t>Each overview and deck stands alone and can go to a customer; this deck and the catalog page stay internal.</a:t>
            </a:r>
            <a:endParaRPr lang="en-US" sz="1250" dirty="0"/>
          </a:p>
        </p:txBody>
      </p:sp>
      <p:sp>
        <p:nvSpPr>
          <p:cNvPr id="7" name="Text 3"/>
          <p:cNvSpPr txBox="1"/>
          <p:nvPr/>
        </p:nvSpPr>
        <p:spPr>
          <a:xfrm>
            <a:off x="657860" y="6464300"/>
            <a:ext cx="3302000" cy="177800"/>
          </a:xfrm>
          <a:prstGeom prst="rect">
            <a:avLst/>
          </a:prstGeom>
          <a:noFill/>
          <a:ln/>
        </p:spPr>
        <p:txBody>
          <a:bodyPr wrap="square" lIns="0" tIns="0" rIns="0" bIns="0" rtlCol="0" anchor="ctr"/>
          <a:lstStyle/>
          <a:p>
            <a:pPr indent="0" marL="0">
              <a:buNone/>
            </a:pPr>
            <a:r>
              <a:rPr lang="en-US" sz="900" b="1" dirty="0">
                <a:solidFill>
                  <a:srgbClr val="121B47"/>
                </a:solidFill>
                <a:latin typeface="Segoe UI" pitchFamily="34" charset="0"/>
                <a:ea typeface="Segoe UI" pitchFamily="34" charset="-122"/>
                <a:cs typeface="Segoe UI" pitchFamily="34" charset="-120"/>
              </a:rPr>
              <a:t>Automatum</a:t>
            </a:r>
            <a:pPr indent="0" marL="0">
              <a:buNone/>
            </a:pPr>
            <a:r>
              <a:rPr lang="en-US" sz="900" dirty="0">
                <a:solidFill>
                  <a:srgbClr val="9AA2B5"/>
                </a:solidFill>
                <a:latin typeface="Segoe UI" pitchFamily="34" charset="0"/>
                <a:ea typeface="Segoe UI" pitchFamily="34" charset="-122"/>
                <a:cs typeface="Segoe UI" pitchFamily="34" charset="-120"/>
              </a:rPr>
              <a:t>  ·  with  ·  </a:t>
            </a:r>
            <a:pPr indent="0" marL="0">
              <a:buNone/>
            </a:pPr>
            <a:r>
              <a:rPr lang="en-US" sz="900" b="1" dirty="0">
                <a:solidFill>
                  <a:srgbClr val="1C4E9D"/>
                </a:solidFill>
                <a:latin typeface="Segoe UI" pitchFamily="34" charset="0"/>
                <a:ea typeface="Segoe UI" pitchFamily="34" charset="-122"/>
                <a:cs typeface="Segoe UI" pitchFamily="34" charset="-120"/>
              </a:rPr>
              <a:t>OBP</a:t>
            </a:r>
            <a:endParaRPr lang="en-US" sz="900" dirty="0"/>
          </a:p>
        </p:txBody>
      </p:sp>
      <p:sp>
        <p:nvSpPr>
          <p:cNvPr id="8" name="Text 4"/>
          <p:cNvSpPr txBox="1"/>
          <p:nvPr/>
        </p:nvSpPr>
        <p:spPr>
          <a:xfrm>
            <a:off x="7620000" y="6464300"/>
            <a:ext cx="3898900" cy="177800"/>
          </a:xfrm>
          <a:prstGeom prst="rect">
            <a:avLst/>
          </a:prstGeom>
          <a:noFill/>
          <a:ln/>
        </p:spPr>
        <p:txBody>
          <a:bodyPr wrap="square" lIns="0" tIns="0" rIns="0" bIns="0" rtlCol="0" anchor="t"/>
          <a:lstStyle/>
          <a:p>
            <a:pPr algn="r" indent="0" marL="0">
              <a:buNone/>
            </a:pPr>
            <a:r>
              <a:rPr lang="en-US" sz="900" dirty="0">
                <a:solidFill>
                  <a:srgbClr val="9AA2B5"/>
                </a:solidFill>
                <a:latin typeface="Segoe UI" pitchFamily="34" charset="0"/>
                <a:ea typeface="Segoe UI" pitchFamily="34" charset="-122"/>
                <a:cs typeface="Segoe UI" pitchFamily="34" charset="-120"/>
              </a:rPr>
              <a:t>INTERNAL  ·  BOX SOLUTIONS PORTFOLIO  ·  22 / 22</a:t>
            </a:r>
            <a:endParaRPr lang="en-US" sz="900" dirty="0"/>
          </a:p>
        </p:txBody>
      </p:sp>
      <p:pic>
        <p:nvPicPr>
          <p:cNvPr id="9" name="Image 2" descr="/home/user/barberbook/docs/deck/assets/panel.png">    </p:cNvPr>
          <p:cNvPicPr>
            <a:picLocks noChangeAspect="1"/>
          </p:cNvPicPr>
          <p:nvPr/>
        </p:nvPicPr>
        <p:blipFill>
          <a:blip r:embed="rId3"/>
          <a:stretch>
            <a:fillRect/>
          </a:stretch>
        </p:blipFill>
        <p:spPr>
          <a:xfrm>
            <a:off x="420370" y="2523490"/>
            <a:ext cx="2933700" cy="2908300"/>
          </a:xfrm>
          <a:prstGeom prst="rect">
            <a:avLst/>
          </a:prstGeom>
        </p:spPr>
      </p:pic>
      <p:sp>
        <p:nvSpPr>
          <p:cNvPr id="10" name="Text 5"/>
          <p:cNvSpPr txBox="1"/>
          <p:nvPr/>
        </p:nvSpPr>
        <p:spPr>
          <a:xfrm>
            <a:off x="1023620" y="2540000"/>
            <a:ext cx="3411220" cy="584200"/>
          </a:xfrm>
          <a:prstGeom prst="rect">
            <a:avLst/>
          </a:prstGeom>
          <a:noFill/>
          <a:ln/>
        </p:spPr>
        <p:txBody>
          <a:bodyPr wrap="square" lIns="0" tIns="0" rIns="0" bIns="0" rtlCol="0" anchor="t"/>
          <a:lstStyle/>
          <a:p>
            <a:pPr indent="0" marL="0">
              <a:buNone/>
            </a:pPr>
            <a:r>
              <a:rPr lang="en-US" sz="1500" b="1" dirty="0">
                <a:solidFill>
                  <a:srgbClr val="15224B"/>
                </a:solidFill>
                <a:latin typeface="Segoe UI" pitchFamily="34" charset="0"/>
                <a:ea typeface="Segoe UI" pitchFamily="34" charset="-122"/>
                <a:cs typeface="Segoe UI" pitchFamily="34" charset="-120"/>
              </a:rPr>
              <a:t>Customer-facing</a:t>
            </a:r>
            <a:endParaRPr lang="en-US" sz="1500" dirty="0"/>
          </a:p>
        </p:txBody>
      </p:sp>
      <p:sp>
        <p:nvSpPr>
          <p:cNvPr id="11" name="Text 6"/>
          <p:cNvSpPr txBox="1"/>
          <p:nvPr/>
        </p:nvSpPr>
        <p:spPr>
          <a:xfrm>
            <a:off x="1023620" y="2921000"/>
            <a:ext cx="3411220" cy="1524000"/>
          </a:xfrm>
          <a:prstGeom prst="rect">
            <a:avLst/>
          </a:prstGeom>
          <a:noFill/>
          <a:ln/>
        </p:spPr>
        <p:txBody>
          <a:bodyPr wrap="square" lIns="0" tIns="0" rIns="0" bIns="0" rtlCol="0" anchor="t"/>
          <a:lstStyle/>
          <a:p>
            <a:pPr indent="0" marL="0">
              <a:buNone/>
            </a:pPr>
            <a:r>
              <a:rPr lang="en-US" sz="950" dirty="0">
                <a:solidFill>
                  <a:srgbClr val="5B6378"/>
                </a:solidFill>
                <a:latin typeface="Segoe UI Semilight" pitchFamily="34" charset="0"/>
                <a:ea typeface="Segoe UI Semilight" pitchFamily="34" charset="-122"/>
                <a:cs typeface="Segoe UI Semilight" pitchFamily="34" charset="-120"/>
              </a:rPr>
              <a:t>Four overviews and four decks per partner — each names its own solution only, and ships only when its brackets are closed.</a:t>
            </a:r>
            <a:endParaRPr lang="en-US" sz="950" dirty="0"/>
          </a:p>
        </p:txBody>
      </p:sp>
      <p:pic>
        <p:nvPicPr>
          <p:cNvPr id="12" name="Image 3" descr="/home/user/barberbook/docs/deck/assets/panel.png">    </p:cNvPr>
          <p:cNvPicPr>
            <a:picLocks noChangeAspect="1"/>
          </p:cNvPicPr>
          <p:nvPr/>
        </p:nvPicPr>
        <p:blipFill>
          <a:blip r:embed="rId4"/>
          <a:stretch>
            <a:fillRect/>
          </a:stretch>
        </p:blipFill>
        <p:spPr>
          <a:xfrm>
            <a:off x="4161790" y="2523490"/>
            <a:ext cx="2933700" cy="2908300"/>
          </a:xfrm>
          <a:prstGeom prst="rect">
            <a:avLst/>
          </a:prstGeom>
        </p:spPr>
      </p:pic>
      <p:sp>
        <p:nvSpPr>
          <p:cNvPr id="13" name="Text 7"/>
          <p:cNvSpPr txBox="1"/>
          <p:nvPr/>
        </p:nvSpPr>
        <p:spPr>
          <a:xfrm>
            <a:off x="4765040" y="2540000"/>
            <a:ext cx="3411220" cy="584200"/>
          </a:xfrm>
          <a:prstGeom prst="rect">
            <a:avLst/>
          </a:prstGeom>
          <a:noFill/>
          <a:ln/>
        </p:spPr>
        <p:txBody>
          <a:bodyPr wrap="square" lIns="0" tIns="0" rIns="0" bIns="0" rtlCol="0" anchor="t"/>
          <a:lstStyle/>
          <a:p>
            <a:pPr indent="0" marL="0">
              <a:buNone/>
            </a:pPr>
            <a:r>
              <a:rPr lang="en-US" sz="1500" b="1" dirty="0">
                <a:solidFill>
                  <a:srgbClr val="15224B"/>
                </a:solidFill>
                <a:latin typeface="Segoe UI" pitchFamily="34" charset="0"/>
                <a:ea typeface="Segoe UI" pitchFamily="34" charset="-122"/>
                <a:cs typeface="Segoe UI" pitchFamily="34" charset="-120"/>
              </a:rPr>
              <a:t>Internal</a:t>
            </a:r>
            <a:endParaRPr lang="en-US" sz="1500" dirty="0"/>
          </a:p>
        </p:txBody>
      </p:sp>
      <p:sp>
        <p:nvSpPr>
          <p:cNvPr id="14" name="Text 8"/>
          <p:cNvSpPr txBox="1"/>
          <p:nvPr/>
        </p:nvSpPr>
        <p:spPr>
          <a:xfrm>
            <a:off x="4765040" y="2921000"/>
            <a:ext cx="3411220" cy="1524000"/>
          </a:xfrm>
          <a:prstGeom prst="rect">
            <a:avLst/>
          </a:prstGeom>
          <a:noFill/>
          <a:ln/>
        </p:spPr>
        <p:txBody>
          <a:bodyPr wrap="square" lIns="0" tIns="0" rIns="0" bIns="0" rtlCol="0" anchor="t"/>
          <a:lstStyle/>
          <a:p>
            <a:pPr indent="0" marL="0">
              <a:buNone/>
            </a:pPr>
            <a:r>
              <a:rPr lang="en-US" sz="950" dirty="0">
                <a:solidFill>
                  <a:srgbClr val="5B6378"/>
                </a:solidFill>
                <a:latin typeface="Segoe UI Semilight" pitchFamily="34" charset="0"/>
                <a:ea typeface="Segoe UI Semilight" pitchFamily="34" charset="-122"/>
                <a:cs typeface="Segoe UI Semilight" pitchFamily="34" charset="-120"/>
              </a:rPr>
              <a:t>The catalog page and this deck: the side-by-side view, the four-buyers page, the commit / target sets, the components register, partner economics, the sequence and the BOX figures.</a:t>
            </a:r>
            <a:endParaRPr lang="en-US" sz="950" dirty="0"/>
          </a:p>
        </p:txBody>
      </p:sp>
      <p:pic>
        <p:nvPicPr>
          <p:cNvPr id="15" name="Image 4" descr="/home/user/barberbook/docs/deck/assets/panel.png">    </p:cNvPr>
          <p:cNvPicPr>
            <a:picLocks noChangeAspect="1"/>
          </p:cNvPicPr>
          <p:nvPr/>
        </p:nvPicPr>
        <p:blipFill>
          <a:blip r:embed="rId5"/>
          <a:stretch>
            <a:fillRect/>
          </a:stretch>
        </p:blipFill>
        <p:spPr>
          <a:xfrm>
            <a:off x="7903210" y="2523490"/>
            <a:ext cx="2933700" cy="2908300"/>
          </a:xfrm>
          <a:prstGeom prst="rect">
            <a:avLst/>
          </a:prstGeom>
        </p:spPr>
      </p:pic>
      <p:sp>
        <p:nvSpPr>
          <p:cNvPr id="16" name="Text 9"/>
          <p:cNvSpPr txBox="1"/>
          <p:nvPr/>
        </p:nvSpPr>
        <p:spPr>
          <a:xfrm>
            <a:off x="8506460" y="2540000"/>
            <a:ext cx="3411220" cy="584200"/>
          </a:xfrm>
          <a:prstGeom prst="rect">
            <a:avLst/>
          </a:prstGeom>
          <a:noFill/>
          <a:ln/>
        </p:spPr>
        <p:txBody>
          <a:bodyPr wrap="square" lIns="0" tIns="0" rIns="0" bIns="0" rtlCol="0" anchor="t"/>
          <a:lstStyle/>
          <a:p>
            <a:pPr indent="0" marL="0">
              <a:buNone/>
            </a:pPr>
            <a:r>
              <a:rPr lang="en-US" sz="1500" b="1" dirty="0">
                <a:solidFill>
                  <a:srgbClr val="15224B"/>
                </a:solidFill>
                <a:latin typeface="Segoe UI" pitchFamily="34" charset="0"/>
                <a:ea typeface="Segoe UI" pitchFamily="34" charset="-122"/>
                <a:cs typeface="Segoe UI" pitchFamily="34" charset="-120"/>
              </a:rPr>
              <a:t>The mirror</a:t>
            </a:r>
            <a:endParaRPr lang="en-US" sz="1500" dirty="0"/>
          </a:p>
        </p:txBody>
      </p:sp>
      <p:sp>
        <p:nvSpPr>
          <p:cNvPr id="17" name="Text 10"/>
          <p:cNvSpPr txBox="1"/>
          <p:nvPr/>
        </p:nvSpPr>
        <p:spPr>
          <a:xfrm>
            <a:off x="8506460" y="2921000"/>
            <a:ext cx="3411220" cy="1524000"/>
          </a:xfrm>
          <a:prstGeom prst="rect">
            <a:avLst/>
          </a:prstGeom>
          <a:noFill/>
          <a:ln/>
        </p:spPr>
        <p:txBody>
          <a:bodyPr wrap="square" lIns="0" tIns="0" rIns="0" bIns="0" rtlCol="0" anchor="t"/>
          <a:lstStyle/>
          <a:p>
            <a:pPr indent="0" marL="0">
              <a:buNone/>
            </a:pPr>
            <a:r>
              <a:rPr lang="en-US" sz="950" dirty="0">
                <a:solidFill>
                  <a:srgbClr val="5B6378"/>
                </a:solidFill>
                <a:latin typeface="Segoe UI Semilight" pitchFamily="34" charset="0"/>
                <a:ea typeface="Segoe UI Semilight" pitchFamily="34" charset="-122"/>
                <a:cs typeface="Segoe UI Semilight" pitchFamily="34" charset="-120"/>
              </a:rPr>
              <a:t>The two partner sets match exactly, name aside, and the sweep asserts it on every run.</a:t>
            </a:r>
            <a:endParaRPr lang="en-US" sz="950" dirty="0"/>
          </a:p>
        </p:txBody>
      </p:sp>
      <p:sp>
        <p:nvSpPr>
          <p:cNvPr id="18" name="Text 11"/>
          <p:cNvSpPr txBox="1"/>
          <p:nvPr/>
        </p:nvSpPr>
        <p:spPr>
          <a:xfrm>
            <a:off x="657860" y="4800600"/>
            <a:ext cx="6350000" cy="177800"/>
          </a:xfrm>
          <a:prstGeom prst="rect">
            <a:avLst/>
          </a:prstGeom>
          <a:noFill/>
          <a:ln/>
        </p:spPr>
        <p:txBody>
          <a:bodyPr wrap="square" lIns="0" tIns="0" rIns="0" bIns="0" rtlCol="0" anchor="t"/>
          <a:lstStyle/>
          <a:p>
            <a:pPr indent="0" marL="0">
              <a:buNone/>
            </a:pPr>
            <a:r>
              <a:rPr lang="en-US" sz="800" b="1" spc="100" kern="0" dirty="0">
                <a:solidFill>
                  <a:srgbClr val="F36F20"/>
                </a:solidFill>
                <a:latin typeface="Segoe UI" pitchFamily="34" charset="0"/>
                <a:ea typeface="Segoe UI" pitchFamily="34" charset="-122"/>
                <a:cs typeface="Segoe UI" pitchFamily="34" charset="-120"/>
              </a:rPr>
              <a:t>THE RENAME CASCADE — NOBODY HAS PRICED THIS</a:t>
            </a:r>
            <a:endParaRPr lang="en-US" sz="800" dirty="0"/>
          </a:p>
        </p:txBody>
      </p:sp>
      <p:sp>
        <p:nvSpPr>
          <p:cNvPr id="19" name="Text 12"/>
          <p:cNvSpPr txBox="1"/>
          <p:nvPr/>
        </p:nvSpPr>
        <p:spPr>
          <a:xfrm>
            <a:off x="657860" y="5003800"/>
            <a:ext cx="10871200" cy="406400"/>
          </a:xfrm>
          <a:prstGeom prst="rect">
            <a:avLst/>
          </a:prstGeom>
          <a:noFill/>
          <a:ln/>
        </p:spPr>
        <p:txBody>
          <a:bodyPr wrap="square" lIns="0" tIns="0" rIns="0" bIns="0" rtlCol="0" anchor="t"/>
          <a:lstStyle/>
          <a:p>
            <a:pPr indent="0" marL="0">
              <a:buNone/>
            </a:pPr>
            <a:r>
              <a:rPr lang="en-US" sz="900" dirty="0">
                <a:solidFill>
                  <a:srgbClr val="5B6378"/>
                </a:solidFill>
                <a:latin typeface="Segoe UI Semilight" pitchFamily="34" charset="0"/>
                <a:ea typeface="Segoe UI Semilight" pitchFamily="34" charset="-122"/>
                <a:cs typeface="Segoe UI Semilight" pitchFamily="34" charset="-120"/>
              </a:rPr>
              <a:t>The mirror rule means any rung rename — Expand to Activate, say — re-cuts up to four overviews and four decks per partner: sixteen artifacts, plus anything already drafted for a Solution ID or milestone submission. Weigh that before approving the renames, not after.</a:t>
            </a:r>
            <a:endParaRPr lang="en-US" sz="900" dirty="0"/>
          </a:p>
        </p:txBody>
      </p:sp>
      <p:sp>
        <p:nvSpPr>
          <p:cNvPr id="20" name="Shape 13"/>
          <p:cNvSpPr/>
          <p:nvPr/>
        </p:nvSpPr>
        <p:spPr>
          <a:xfrm>
            <a:off x="566420" y="5760720"/>
            <a:ext cx="11057890" cy="566420"/>
          </a:xfrm>
          <a:prstGeom prst="roundRect">
            <a:avLst>
              <a:gd name="adj" fmla="val 22601"/>
            </a:avLst>
          </a:prstGeom>
          <a:solidFill>
            <a:srgbClr val="15224B"/>
          </a:solidFill>
          <a:ln/>
        </p:spPr>
      </p:sp>
      <p:sp>
        <p:nvSpPr>
          <p:cNvPr id="21" name="Text 14"/>
          <p:cNvSpPr txBox="1"/>
          <p:nvPr/>
        </p:nvSpPr>
        <p:spPr>
          <a:xfrm>
            <a:off x="838200" y="5867400"/>
            <a:ext cx="10541000" cy="355600"/>
          </a:xfrm>
          <a:prstGeom prst="rect">
            <a:avLst/>
          </a:prstGeom>
          <a:noFill/>
          <a:ln/>
        </p:spPr>
        <p:txBody>
          <a:bodyPr wrap="square" lIns="0" tIns="0" rIns="0" bIns="0" rtlCol="0" anchor="ctr"/>
          <a:lstStyle/>
          <a:p>
            <a:pPr indent="0" marL="0">
              <a:buNone/>
            </a:pPr>
            <a:r>
              <a:rPr lang="en-US" sz="1050" b="1" spc="110" kern="0" dirty="0">
                <a:solidFill>
                  <a:srgbClr val="F36F20"/>
                </a:solidFill>
                <a:latin typeface="Segoe UI" pitchFamily="34" charset="0"/>
                <a:ea typeface="Segoe UI" pitchFamily="34" charset="-122"/>
                <a:cs typeface="Segoe UI" pitchFamily="34" charset="-120"/>
              </a:rPr>
              <a:t>PUBLISHING RULE</a:t>
            </a:r>
            <a:pPr indent="0" marL="0">
              <a:buNone/>
            </a:pPr>
            <a:r>
              <a:rPr lang="en-US" sz="1050" dirty="0">
                <a:solidFill>
                  <a:srgbClr val="D7E1F5"/>
                </a:solidFill>
                <a:latin typeface="Segoe UI Semilight" pitchFamily="34" charset="0"/>
                <a:ea typeface="Segoe UI Semilight" pitchFamily="34" charset="-122"/>
                <a:cs typeface="Segoe UI Semilight" pitchFamily="34" charset="-120"/>
              </a:rPr>
              <a:t>    Bracketed placeholders live in the internal deck and never appear in a customer overview or deck.</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BOX Solutions — Automatum x OBP (internal)</dc:title>
  <dc:subject>PptxGenJS Presentation</dc:subject>
  <dc:creator>OBP</dc:creator>
  <cp:lastModifiedBy>OBP</cp:lastModifiedBy>
  <cp:revision>1</cp:revision>
  <dcterms:created xsi:type="dcterms:W3CDTF">2026-09-02T03:16:58Z</dcterms:created>
  <dcterms:modified xsi:type="dcterms:W3CDTF">2026-09-02T03:16:58Z</dcterms:modified>
</cp:coreProperties>
</file>