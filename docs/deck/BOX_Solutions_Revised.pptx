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5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3.png"/><Relationship Id="rId5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3.png"/><Relationship Id="rId6" Type="http://schemas.openxmlformats.org/officeDocument/2006/relationships/image" Target="../media/image-4-6.png"/><Relationship Id="rId7" Type="http://schemas.openxmlformats.org/officeDocument/2006/relationships/image" Target="../media/image-4-3.png"/><Relationship Id="rId8" Type="http://schemas.openxmlformats.org/officeDocument/2006/relationships/image" Target="../media/image-4-8.png"/><Relationship Id="rId9" Type="http://schemas.openxmlformats.org/officeDocument/2006/relationships/image" Target="../media/image-4-3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3.png"/><Relationship Id="rId5" Type="http://schemas.openxmlformats.org/officeDocument/2006/relationships/image" Target="../media/image-2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logo_automatu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" y="657860"/>
            <a:ext cx="1779270" cy="42037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054350" y="800100"/>
            <a:ext cx="38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with</a:t>
            </a:r>
            <a:endParaRPr lang="en-US" sz="1100" dirty="0"/>
          </a:p>
        </p:txBody>
      </p:sp>
      <p:pic>
        <p:nvPicPr>
          <p:cNvPr id="5" name="Image 2" descr="/home/user/barberbook/docs/deck/assets/logo_ob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6940" y="664210"/>
            <a:ext cx="1828800" cy="41021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8077200" y="694690"/>
            <a:ext cx="3547110" cy="347980"/>
          </a:xfrm>
          <a:prstGeom prst="roundRect">
            <a:avLst>
              <a:gd name="adj" fmla="val 49927"/>
            </a:avLst>
          </a:prstGeom>
          <a:solidFill>
            <a:srgbClr val="B4432F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8077200" y="787400"/>
            <a:ext cx="354711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9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OBP AND AUTOMATUM ONLY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57860" y="2260600"/>
            <a:ext cx="508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spc="3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AUTOMATUM X OBP</a:t>
            </a:r>
            <a:endParaRPr lang="en-US" sz="1250" dirty="0"/>
          </a:p>
        </p:txBody>
      </p:sp>
      <p:sp>
        <p:nvSpPr>
          <p:cNvPr id="9" name="Text 4"/>
          <p:cNvSpPr txBox="1"/>
          <p:nvPr/>
        </p:nvSpPr>
        <p:spPr>
          <a:xfrm>
            <a:off x="657860" y="2768600"/>
            <a:ext cx="8890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jobs an ISV’s AWS</a:t>
            </a:r>
            <a:endParaRPr lang="en-US" sz="44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needs staffed.</a:t>
            </a:r>
            <a:endParaRPr lang="en-US" sz="4400" dirty="0"/>
          </a:p>
        </p:txBody>
      </p:sp>
      <p:sp>
        <p:nvSpPr>
          <p:cNvPr id="10" name="Text 5"/>
          <p:cNvSpPr txBox="1"/>
          <p:nvPr/>
        </p:nvSpPr>
        <p:spPr>
          <a:xfrm>
            <a:off x="657860" y="4140200"/>
            <a:ext cx="1016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fixed-fee project and three twelve-month retainers. This is the internal side-by-side view,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for OBP and Automatum.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657860" y="4851400"/>
            <a:ext cx="1054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leads the solution and owns the listed software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 delivers the engagement</a:t>
            </a:r>
            <a:pPr indent="0" marL="0">
              <a:buNone/>
            </a:pPr>
            <a:r>
              <a:rPr lang="en-US" sz="1050" b="1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·   </a:t>
            </a:r>
            <a:pPr indent="0" marL="0">
              <a:buNone/>
            </a:pPr>
            <a:r>
              <a:rPr lang="en-US" sz="105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seller of record</a:t>
            </a:r>
            <a:endParaRPr lang="en-US" sz="1050" dirty="0"/>
          </a:p>
        </p:txBody>
      </p:sp>
      <p:pic>
        <p:nvPicPr>
          <p:cNvPr id="12" name="Image 3" descr="/home/user/barberbook/docs/deck/assets/tile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420" y="5232400"/>
            <a:ext cx="603250" cy="603250"/>
          </a:xfrm>
          <a:prstGeom prst="rect">
            <a:avLst/>
          </a:prstGeom>
        </p:spPr>
      </p:pic>
      <p:pic>
        <p:nvPicPr>
          <p:cNvPr id="13" name="Image 4" descr="/home/user/barberbook/docs/deck/assets/tile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200" y="5377180"/>
            <a:ext cx="313690" cy="31369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664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solutions</a:t>
            </a:r>
            <a:endParaRPr lang="en-US" sz="1000" dirty="0"/>
          </a:p>
        </p:txBody>
      </p:sp>
      <p:pic>
        <p:nvPicPr>
          <p:cNvPr id="15" name="Image 5" descr="/home/user/barberbook/docs/deck/assets/tile_c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11020" y="5232400"/>
            <a:ext cx="603250" cy="603250"/>
          </a:xfrm>
          <a:prstGeom prst="rect">
            <a:avLst/>
          </a:prstGeom>
        </p:spPr>
      </p:pic>
      <p:pic>
        <p:nvPicPr>
          <p:cNvPr id="16" name="Image 6" descr="/home/user/barberbook/docs/deck/assets/tile_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55800" y="5377180"/>
            <a:ext cx="313690" cy="31369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8110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platform</a:t>
            </a:r>
            <a:endParaRPr lang="en-US" sz="1000" dirty="0"/>
          </a:p>
        </p:txBody>
      </p:sp>
      <p:pic>
        <p:nvPicPr>
          <p:cNvPr id="18" name="Image 7" descr="/home/user/barberbook/docs/deck/assets/tile_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55620" y="5232400"/>
            <a:ext cx="603250" cy="603250"/>
          </a:xfrm>
          <a:prstGeom prst="rect">
            <a:avLst/>
          </a:prstGeom>
        </p:spPr>
      </p:pic>
      <p:pic>
        <p:nvPicPr>
          <p:cNvPr id="19" name="Image 8" descr="/home/user/barberbook/docs/deck/assets/tile_glyph2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00400" y="5377180"/>
            <a:ext cx="313690" cy="313690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3055620" y="5943600"/>
            <a:ext cx="114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</a:t>
            </a: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operator</a:t>
            </a:r>
            <a:endParaRPr lang="en-US" sz="1000" dirty="0"/>
          </a:p>
        </p:txBody>
      </p:sp>
      <p:sp>
        <p:nvSpPr>
          <p:cNvPr id="21" name="Text 10"/>
          <p:cNvSpPr txBox="1"/>
          <p:nvPr/>
        </p:nvSpPr>
        <p:spPr>
          <a:xfrm>
            <a:off x="5461000" y="60706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FA0C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pricing ladder — a convention, not a product.</a:t>
            </a:r>
            <a:endParaRPr lang="en-US" sz="950" dirty="0"/>
          </a:p>
        </p:txBody>
      </p:sp>
      <p:sp>
        <p:nvSpPr>
          <p:cNvPr id="22" name="Text 11"/>
          <p:cNvSpPr txBox="1"/>
          <p:nvPr/>
        </p:nvSpPr>
        <p:spPr>
          <a:xfrm>
            <a:off x="5461000" y="6273800"/>
            <a:ext cx="4191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C7BA6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Bracketed figures are unset. No bracket reaches a customer artifact.</a:t>
            </a:r>
            <a:endParaRPr lang="en-US" sz="850" dirty="0"/>
          </a:p>
        </p:txBody>
      </p:sp>
      <p:sp>
        <p:nvSpPr>
          <p:cNvPr id="23" name="Text 12"/>
          <p:cNvSpPr txBox="1"/>
          <p:nvPr/>
        </p:nvSpPr>
        <p:spPr>
          <a:xfrm>
            <a:off x="8890000" y="6464300"/>
            <a:ext cx="262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 Solutions   ·   revised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parts.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7" name="Text 3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02 / 22</a:t>
            </a:r>
            <a:endParaRPr lang="en-US" sz="900" dirty="0"/>
          </a:p>
        </p:txBody>
      </p:sp>
      <p:pic>
        <p:nvPicPr>
          <p:cNvPr id="8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523490"/>
            <a:ext cx="3644900" cy="29083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1700" dirty="0"/>
          </a:p>
        </p:txBody>
      </p:sp>
      <p:sp>
        <p:nvSpPr>
          <p:cNvPr id="10" name="Text 5"/>
          <p:cNvSpPr txBox="1"/>
          <p:nvPr/>
        </p:nvSpPr>
        <p:spPr>
          <a:xfrm>
            <a:off x="102362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jobs, four buyers, one platform.</a:t>
            </a:r>
            <a:endParaRPr lang="en-US" sz="1100" dirty="0"/>
          </a:p>
        </p:txBody>
      </p:sp>
      <p:pic>
        <p:nvPicPr>
          <p:cNvPr id="12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40" y="2523490"/>
            <a:ext cx="3644900" cy="29083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1700" dirty="0"/>
          </a:p>
        </p:txBody>
      </p:sp>
      <p:sp>
        <p:nvSpPr>
          <p:cNvPr id="14" name="Text 8"/>
          <p:cNvSpPr txBox="1"/>
          <p:nvPr/>
        </p:nvSpPr>
        <p:spPr>
          <a:xfrm>
            <a:off x="476504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76504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project and the three retainers — each on its own page, each with what we commit and what we target.</a:t>
            </a:r>
            <a:endParaRPr lang="en-US" sz="1100" dirty="0"/>
          </a:p>
        </p:txBody>
      </p:sp>
      <p:pic>
        <p:nvPicPr>
          <p:cNvPr id="16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460" y="2523490"/>
            <a:ext cx="3644900" cy="29083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1700" dirty="0"/>
          </a:p>
        </p:txBody>
      </p:sp>
      <p:sp>
        <p:nvSpPr>
          <p:cNvPr id="18" name="Text 11"/>
          <p:cNvSpPr txBox="1"/>
          <p:nvPr/>
        </p:nvSpPr>
        <p:spPr>
          <a:xfrm>
            <a:off x="8506460" y="3175000"/>
            <a:ext cx="273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2"/>
          <p:cNvSpPr txBox="1"/>
          <p:nvPr/>
        </p:nvSpPr>
        <p:spPr>
          <a:xfrm>
            <a:off x="8506460" y="3390900"/>
            <a:ext cx="27305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chain, components, partner economics, the exchange, the sequence, the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ONE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portfolio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jobs an ISV’s AWS business needs staffed.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Portfolio</a:t>
            </a:r>
            <a:endParaRPr lang="en-US" sz="1000" dirty="0"/>
          </a:p>
        </p:txBody>
      </p:sp>
      <p:pic>
        <p:nvPicPr>
          <p:cNvPr id="8" name="Image 2" descr="/home/user/barberbook/docs/deck/assets/tile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Buyers</a:t>
            </a:r>
            <a:endParaRPr lang="en-US" sz="1000" dirty="0"/>
          </a:p>
        </p:txBody>
      </p:sp>
      <p:pic>
        <p:nvPicPr>
          <p:cNvPr id="10" name="Image 3" descr="/home/user/barberbook/docs/deck/assets/tile_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Ladder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3" name="Text 7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03 / 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THESIS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jobs an ISV’s AWS business needs staffed.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Getting the product listed, running the AWS partnership, operating the Marketplace, and building the reseller channel — covered between the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04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472690"/>
            <a:ext cx="2819400" cy="2908300"/>
          </a:xfrm>
          <a:prstGeom prst="rect">
            <a:avLst/>
          </a:prstGeom>
        </p:spPr>
      </p:pic>
      <p:pic>
        <p:nvPicPr>
          <p:cNvPr id="10" name="Image 3" descr="/home/user/barberbook/docs/deck/assets/icon_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4720" y="273050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0236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product qualified and listed on AWS Marketplace.</a:t>
            </a:r>
            <a:endParaRPr lang="en-US" sz="1200" dirty="0"/>
          </a:p>
        </p:txBody>
      </p:sp>
      <p:sp>
        <p:nvSpPr>
          <p:cNvPr id="12" name="Text 6"/>
          <p:cNvSpPr txBox="1"/>
          <p:nvPr/>
        </p:nvSpPr>
        <p:spPr>
          <a:xfrm>
            <a:off x="10236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fixed-fee project: from unassessed to a published, transacting listing in 14 to 18 business days of delivery.</a:t>
            </a:r>
            <a:endParaRPr lang="en-US" sz="900" dirty="0"/>
          </a:p>
        </p:txBody>
      </p:sp>
      <p:pic>
        <p:nvPicPr>
          <p:cNvPr id="13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22320" y="2472690"/>
            <a:ext cx="2819400" cy="2908300"/>
          </a:xfrm>
          <a:prstGeom prst="rect">
            <a:avLst/>
          </a:prstGeom>
        </p:spPr>
      </p:pic>
      <p:pic>
        <p:nvPicPr>
          <p:cNvPr id="14" name="Image 5" descr="/home/user/barberbook/docs/deck/assets/icon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1420" y="2730500"/>
            <a:ext cx="274320" cy="274320"/>
          </a:xfrm>
          <a:prstGeom prst="rect">
            <a:avLst/>
          </a:prstGeom>
        </p:spPr>
      </p:pic>
      <p:sp>
        <p:nvSpPr>
          <p:cNvPr id="15" name="Text 7"/>
          <p:cNvSpPr txBox="1"/>
          <p:nvPr/>
        </p:nvSpPr>
        <p:spPr>
          <a:xfrm>
            <a:off x="38303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 a named owner on the AWS partnership.</a:t>
            </a:r>
            <a:endParaRPr lang="en-US" sz="1200" dirty="0"/>
          </a:p>
        </p:txBody>
      </p:sp>
      <p:sp>
        <p:nvSpPr>
          <p:cNvPr id="16" name="Text 8"/>
          <p:cNvSpPr txBox="1"/>
          <p:nvPr/>
        </p:nvSpPr>
        <p:spPr>
          <a:xfrm>
            <a:off x="38303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as the ISV’s Director of Alliances for twelve months — a named owner at [N] hours a month, [N] partnership reviews and [N] quarterly AWS plans across the term — across three strictly additive tiers.</a:t>
            </a:r>
            <a:endParaRPr lang="en-US" sz="900" dirty="0"/>
          </a:p>
        </p:txBody>
      </p:sp>
      <p:pic>
        <p:nvPicPr>
          <p:cNvPr id="17" name="Image 6" descr="/home/user/barberbook/docs/deck/assets/pan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9020" y="2472690"/>
            <a:ext cx="2819400" cy="2908300"/>
          </a:xfrm>
          <a:prstGeom prst="rect">
            <a:avLst/>
          </a:prstGeom>
        </p:spPr>
      </p:pic>
      <p:pic>
        <p:nvPicPr>
          <p:cNvPr id="18" name="Image 7" descr="/home/user/barberbook/docs/deck/assets/icon_c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8120" y="2730500"/>
            <a:ext cx="274320" cy="274320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66370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a live listing at volume.</a:t>
            </a:r>
            <a:endParaRPr lang="en-US" sz="1200" dirty="0"/>
          </a:p>
        </p:txBody>
      </p:sp>
      <p:sp>
        <p:nvSpPr>
          <p:cNvPr id="20" name="Text 10"/>
          <p:cNvSpPr txBox="1"/>
          <p:nvPr/>
        </p:nvSpPr>
        <p:spPr>
          <a:xfrm>
            <a:off x="66370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Nine services in three groups — [listing engineering / the offer desk / reporting and integrations — proposed, confirm with Automatum] — at every tier. Volume, response time and reporting cadence set the rung.</a:t>
            </a:r>
            <a:endParaRPr lang="en-US" sz="900" dirty="0"/>
          </a:p>
        </p:txBody>
      </p:sp>
      <p:pic>
        <p:nvPicPr>
          <p:cNvPr id="21" name="Image 8" descr="/home/user/barberbook/docs/deck/assets/pan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35720" y="2472690"/>
            <a:ext cx="2819400" cy="2908300"/>
          </a:xfrm>
          <a:prstGeom prst="rect">
            <a:avLst/>
          </a:prstGeom>
        </p:spPr>
      </p:pic>
      <p:pic>
        <p:nvPicPr>
          <p:cNvPr id="22" name="Image 9" descr="/home/user/barberbook/docs/deck/assets/icon_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54820" y="2730500"/>
            <a:ext cx="274320" cy="274320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9443720" y="3149600"/>
            <a:ext cx="1905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and run a reseller channel.</a:t>
            </a:r>
            <a:endParaRPr lang="en-US" sz="1200" dirty="0"/>
          </a:p>
        </p:txBody>
      </p:sp>
      <p:sp>
        <p:nvSpPr>
          <p:cNvPr id="24" name="Text 12"/>
          <p:cNvSpPr txBox="1"/>
          <p:nvPr/>
        </p:nvSpPr>
        <p:spPr>
          <a:xfrm>
            <a:off x="9443720" y="3708400"/>
            <a:ext cx="1905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Partners recruited, enabled and operated — measured by partners issuing offers, not roster size; no cap on roster size. Partner types set the tiers.</a:t>
            </a:r>
            <a:endParaRPr lang="en-US" sz="900" dirty="0"/>
          </a:p>
        </p:txBody>
      </p:sp>
      <p:sp>
        <p:nvSpPr>
          <p:cNvPr id="25" name="Shape 13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6" name="Text 14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LADDER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three retainers price on the same $2,500 / $5,000 / $7,500 ladder — a pricing convention, not a product.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FOUR, NOT ONE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buyers, four boundaries.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Same ladder, different job, different buyer, different cost base, different Solution ID.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05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2006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419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32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245600" y="2286000"/>
            <a:ext cx="22352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SIGNS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006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[CTO / VP Engineering]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4419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832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 or COO]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9245600" y="2667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048000"/>
            <a:ext cx="1219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REPLACES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2006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engineer-weeks on Well-Architected, FTR and seller registration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419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Director of Alliances hire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6832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Marketplace ops / offer-desk hire plus compliance engineering hours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9245600" y="3048000"/>
            <a:ext cx="2235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channel manager plus a PRM subscription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683000"/>
            <a:ext cx="121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LISTING BOUNDARY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2006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one-time path to a published, transacting listing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4419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 around a listing — not the listing work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6832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Running a listing that already exists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9245600" y="3683000"/>
            <a:ext cx="2235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Third-party sellers — not the customer’s own listing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445000"/>
            <a:ext cx="1219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2006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4419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in the deck — confirm]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6832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[none named in the deck — confirm]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9245600" y="4445000"/>
            <a:ext cx="2235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Kiflo, resold inside the fee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57860" y="49530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ID</a:t>
            </a:r>
            <a:endParaRPr lang="en-US" sz="800" dirty="0"/>
          </a:p>
        </p:txBody>
      </p:sp>
      <p:sp>
        <p:nvSpPr>
          <p:cNvPr id="34" name="Text 30"/>
          <p:cNvSpPr txBox="1"/>
          <p:nvPr/>
        </p:nvSpPr>
        <p:spPr>
          <a:xfrm>
            <a:off x="2006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own, with its own milestone submission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4419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832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9245600" y="4953000"/>
            <a:ext cx="223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657860" y="54356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Buyer profiles to be validated against OBP’s closed and in-flight deals.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customer overview and deck names its own solution only.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THE BOX FRAMING WORKS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structure across all four.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leads the solution and owns the listed software; OBP delivers the engagement. Automatum is seller of record.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06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523490"/>
            <a:ext cx="3644900" cy="29083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agreement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Standalone sale. One agreement per Solution ID, no bundle SKU, list price per solution. [Multi-solution discount policy — to decide.] The customer transacts through AWS Marketplace on Automatum’s listing — software on one line, professional services on the other.</a:t>
            </a:r>
            <a:endParaRPr lang="en-US" sz="950" dirty="0"/>
          </a:p>
        </p:txBody>
      </p:sp>
      <p:pic>
        <p:nvPicPr>
          <p:cNvPr id="12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40" y="2523490"/>
            <a:ext cx="3644900" cy="29083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software line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476504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solution puts Automatum software on the software line. [Automatum software component — to name, per solution.] Load-bearing for both the four-solutions defence and the revenue split.</a:t>
            </a:r>
            <a:endParaRPr lang="en-US" sz="950" dirty="0"/>
          </a:p>
        </p:txBody>
      </p:sp>
      <p:pic>
        <p:nvPicPr>
          <p:cNvPr id="15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460" y="2523490"/>
            <a:ext cx="3644900" cy="29083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conditions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8506460" y="3175000"/>
            <a:ext cx="2730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Validated or Differentiated held by the lead partner — stated by Automatum, evidence to attach. Solution lists within 12 months. [Clock basis — per Solution ID from entry, or programme-level — to confirm.]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RULE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 rung is.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structure for every rung of every retainer, so the three solutions do not each argue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07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Only what OBP controls alone: named staffing and hours, cadence, artifacts issued, response times from a stated trigger. Attendance-dependent items are written as OBP’s act.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28422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8422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28422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Results that depend on the customer’s product, market or sales team, or on AWS. Shown against actuals from month one.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50266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band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0266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50266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rung carries an included volume and an overflow rate, modelled on the Accelerator’s own convention. No uncapped commitment at a fixed fee.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72110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customer supplies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211060" y="30988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211060" y="3314700"/>
            <a:ext cx="1930400" cy="214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counterpart, data, access, approvals, input turnaround. OBP’s clocks run from these being met.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9395460" y="2540000"/>
            <a:ext cx="19304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and remedy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9395460" y="29210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9395460" y="3136900"/>
            <a:ext cx="1930400" cy="2324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commit names the artifact that proves it. [Remedy — service credit / make-good / termination right — to decide.] Targets carry no fee adjustment.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 commitment OBP cannot honour alone is worse than none.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TWO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four solutions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stands alone in front of a customer.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</a:t>
            </a:r>
            <a:endParaRPr lang="en-US" sz="1000" dirty="0"/>
          </a:p>
        </p:txBody>
      </p:sp>
      <p:pic>
        <p:nvPicPr>
          <p:cNvPr id="8" name="Image 2" descr="/home/user/barberbook/docs/deck/assets/tile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</a:t>
            </a:r>
            <a:endParaRPr lang="en-US" sz="1000" dirty="0"/>
          </a:p>
        </p:txBody>
      </p:sp>
      <p:pic>
        <p:nvPicPr>
          <p:cNvPr id="10" name="Image 3" descr="/home/user/barberbook/docs/deck/assets/tile_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</a:t>
            </a:r>
            <a:endParaRPr lang="en-US" sz="1000" dirty="0"/>
          </a:p>
        </p:txBody>
      </p:sp>
      <p:pic>
        <p:nvPicPr>
          <p:cNvPr id="12" name="Image 4" descr="/home/user/barberbook/docs/deck/assets/tile_g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08 / 22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FIXED-FEE PROJECT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a product qualified and listed on AWS Marketplace.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09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engagement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From unassessed to a published, transacting listing in 14 to 18 business days of delivery.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635750" y="2235200"/>
            <a:ext cx="381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635750" y="24892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Its own overview, its own deck, its own Solution ID and milestone submission.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66420" y="3054350"/>
            <a:ext cx="11055350" cy="3556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49300" y="3124200"/>
            <a:ext cx="1930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2857500" y="3124200"/>
            <a:ext cx="8509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it covers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66420" y="3816350"/>
            <a:ext cx="11055350" cy="3556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4527550"/>
            <a:ext cx="11055350" cy="3556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Shape 14"/>
          <p:cNvSpPr/>
          <p:nvPr/>
        </p:nvSpPr>
        <p:spPr>
          <a:xfrm>
            <a:off x="566420" y="5238750"/>
            <a:ext cx="11055350" cy="3556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749300" y="35306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2857500" y="35306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$10,000 fixed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38862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2857500" y="38862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50% on signature, 50% on completion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749300" y="42418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Remediation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2857500" y="42418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20 hours included; further blocks of 10 hours at $1,000 each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300" y="45974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2857500" y="45974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14 to 18 business days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49530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supplies / clock start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2857500" y="49530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[What starts the clock]; engineering availability for remediation, tax, bank and legal data for seller registration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749300" y="53086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target, not commit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2857500" y="53086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Publication date — AWS’s review queue and the customer’s product govern it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49300" y="5664200"/>
            <a:ext cx="19304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included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2857500" y="5664200"/>
            <a:ext cx="8509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Ongoing operation of the listing — that is Managed Marketplace Operations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RETAINERS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retainers, one ladder.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ladder is a pricing convention, not a product. Every rung carries what we commit, what we target, an included band and an overflow rate.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404241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$2,500 / month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63067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 / month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218930" y="2489200"/>
            <a:ext cx="241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$7,500 / month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49300" y="29464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2131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[CEO or CRO] · no component named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404241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04241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63067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663067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run the co-sell desk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9218930" y="29464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9218930" y="31623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run the deal desk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749300" y="38862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41529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[RevOps / deal desk] · no component named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404241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04241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it transacting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663067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663067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run it on a tighter cadence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9218930" y="38862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9218930" y="41021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run it at volume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826000"/>
            <a:ext cx="317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749300" y="5092700"/>
            <a:ext cx="317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[CRO / VP Channel] · Kiflo, resold inside the fee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04241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404241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channel up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663067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[Expand or Activate]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663067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widen the transacting roster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9218930" y="482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9218930" y="5041900"/>
            <a:ext cx="2413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channel end to end</a:t>
            </a:r>
            <a:endParaRPr lang="en-US" sz="850" dirty="0"/>
          </a:p>
        </p:txBody>
      </p:sp>
      <p:sp>
        <p:nvSpPr>
          <p:cNvPr id="36" name="Shape 32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STANDS ALONE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Each solution keeps its own overview, deck, Solution ID and milestone submission. The price ladder is the one number they share.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AWS Alliances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Put a named owner on the AWS partnership, and drive the ISV’s own AWS program progression. Three strictly additive tiers.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11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the ISV holds the partner stage each program requires. [Marketplace listing as a prerequisite — to confirm.]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Director of Alliances at [N] hours a month with a named backup, [N] partnership reviews and [N] quarterly AWS plans delivered, and every application, event, check and artifact below prepared, filed or run.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035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Acceptance into ISV Accelerate and the Competency programs, MDF availability, BOX Program listings approved, and AWS-sourced leads — every one of these is AWS’s decision, not OBP’s.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Essentials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partnership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alliance lead at [N] hours a month, with a named backup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partnership review held and minuted; action log within [N] business days, and a quarterly AWS partnership plan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 Accelerate, Competency and MDF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 BOX Program listing submission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AWS-facing marketing support produced: 1-pagers, solution decks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 — unlocking up to 25k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Competency acceptance — unlocking up to 50k in MDF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BOX Program listing — unlocking 35k in AWS credits, 35k in cash and 55 leads via a sponsored AWS marketing campaign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Growth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Essentials — scale the programs.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events organised and run: Lunch &amp; Learn, Immersion Day, Meet-Up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Weekly ACE hygiene checks, with exceptions written back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Funding applications prepared and filed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Competency and (3) BOX Program listing submissions prepared and filed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ISV-A acceptance, and up to (3) Competency acceptances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Up to (3) BOX Program listings approved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55+ leads via sponsored AWS marketing campaigns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Professional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Growth — open the AWS field.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Applications prepared and filed across all applicable Competency programs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BOX Program listing submissions filed with no cap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(4) Account Executive and (2) Partner Sales Manager introductions made and logged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(1) Segment Leader introduction made and logged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Acceptance across all applicable Competency programs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Listings uncapped, subject to AWS approval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Meetings held and opportunities sourced from the introductions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ISV’s OWN BOX Program benefits, which this retainer drives them toward — separate from the four Automatum × OBP solutions and their milestones. [“BOX Program listing” to be defined; it is not the Accelerator’s Marketplace listing.]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a live listing at volume. All nine services at every rung — volume, response time and reporting cadence set the rung.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12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ENTRY CONDITION — requires a published AWS Marketplace listing, delivered by the Accelerator or already in place.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operations owner running the listing to a written service level issued at onboarding, twelve monthly operating packs, and an annual state-of-the-listing review.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035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Transacting subscriptions, renewal rate, and Marketplace-transacted revenue.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it transacting.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operations owner with a named backup; desk open [coverage hours, time zone]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Offers drafted and submitted to Automatum for issue within [N] business days of a complete request; up to [N] a month, further at [$X]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Listing configuration changes submitted to AWS within [N] business days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 operating report on a fixed date, reconciled against AWS statements as published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First offer issued and accepted within [N] days of onboarding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transacting subscriptions by month twelve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Reconciliation complete with no open exception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depth — run it on a tighter cadence.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Higher band: up to [N] offers a month; integration exceptions listed monthly and cleared within [N] business days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Weekly offer-desk stand-up with the customer’s named sales lead, with written actions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Expiry watch: every agreement flagged [N] days out with a renewal offer drafted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AWS-mandated changes assessed within [N] business days of notice, with an implementation plan issued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offers issued per quarter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[X]% of expiring agreements renewed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Changes landed before AWS’s stated deadline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depth — run it at volume.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Top band: up to [N] offers a month; same-day drafting and submission for standard offers received before [cut-off time]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Coverage extended to [window, time zone] — this rung’s increment is coverage and response band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Weekly reporting; monthly reconciliation with every variance explained in writing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listing engineering review delivered as a written change plan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desk running at [N]+ offers a month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[$X] Marketplace-transacted revenue over the term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[X]% of revenue reconciled with no open exception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Offer issue turnaround is committed only where Automatum’s matching internal turnaround is in place. Selling authorizations and partner-issued offers sit in Managed Partner Development.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RETAINER · TWELVE MONTHS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Partner Development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Build and run a reseller channel. The headline number is partners issuing offers — not roster size.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13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657860" y="2019300"/>
            <a:ext cx="108712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[CONFIRM WITH AUTOMATUM — can a third-party reseller issue offers against Automatum’s listing under its seller-of-record position, and by what mechanism? The scoreboard below rests on it.]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657860" y="2247900"/>
            <a:ext cx="108712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   </a:t>
            </a:r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named channel manager, an agreement pack issued for signature, a live Kiflo portal, recruitment and enablement on a named cadence, and a monthly report whose headline number is partners issuing offers.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657860" y="26035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   </a:t>
            </a:r>
            <a:pPr indent="0" marL="0">
              <a:buNone/>
            </a:pPr>
            <a:r>
              <a:rPr lang="en-US" sz="9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[X] partners issuing offers and [$Y] partner-sourced Marketplace revenue by month twelve.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6578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$2,500 / mo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Stand the channel up.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578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6578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channel manager at [N] hours, with a named backup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Agreement pack — partner agreement, margin schedule, registration rules — drafted and issued for signature within [N] business days of kickoff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portal live within [N] business days of [named customer inputs]; resold by OBP inside the fee, [N] seats included, further at [$Z]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Registration recommendation within [N] business days, plus the customer’s decision logged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6578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partners signed by month [6]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First partner-issued offer by month [N]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partners issuing offers by month twelve</a:t>
            </a:r>
            <a:endParaRPr lang="en-US" sz="780" dirty="0"/>
          </a:p>
        </p:txBody>
      </p:sp>
      <p:sp>
        <p:nvSpPr>
          <p:cNvPr id="18" name="Text 14"/>
          <p:cNvSpPr txBox="1"/>
          <p:nvPr/>
        </p:nvSpPr>
        <p:spPr>
          <a:xfrm>
            <a:off x="43916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[Expand or Activate]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$5,000 / mo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3916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Establish — widen the transacting roster.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43916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43916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 second partner type in scope; [N] targeted approaches a month across both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Enablement built and run — [N] sessions scheduled and held; attendance not guaranteed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Written activation plan for up to [N] partners, reviewed monthly until first offer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Selling authorization and offer requests submitted to Automatum within [N] business days</a:t>
            </a:r>
            <a:endParaRPr lang="en-US" sz="750" dirty="0"/>
          </a:p>
        </p:txBody>
      </p:sp>
      <p:sp>
        <p:nvSpPr>
          <p:cNvPr id="22" name="Text 18"/>
          <p:cNvSpPr txBox="1"/>
          <p:nvPr/>
        </p:nvSpPr>
        <p:spPr>
          <a:xfrm>
            <a:off x="43916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43916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partners issuing offers by month twelve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partner-registered deals a quarter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[$X] partner-sourced pipeline standing in Kiflo</a:t>
            </a:r>
            <a:endParaRPr lang="en-US" sz="780" dirty="0"/>
          </a:p>
        </p:txBody>
      </p:sp>
      <p:sp>
        <p:nvSpPr>
          <p:cNvPr id="24" name="Text 20"/>
          <p:cNvSpPr txBox="1"/>
          <p:nvPr/>
        </p:nvSpPr>
        <p:spPr>
          <a:xfrm>
            <a:off x="8125460" y="2895600"/>
            <a:ext cx="34798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Accelerate</a:t>
            </a:r>
            <a:pPr indent="0" marL="0">
              <a:buNone/>
            </a:pPr>
            <a:r>
              <a:rPr lang="en-US" sz="1200" b="1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$7,500 / mo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8125460" y="3136900"/>
            <a:ext cx="34798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Adds to the middle rung — operate the channel end to end.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125460" y="33528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COMMIT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8125460" y="3530600"/>
            <a:ext cx="34798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Named deal-desk owner with a stated coverage window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Performance reviews offered monthly to up to [N] issuing partners, with written recovery plans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eligible partner-sourced deal filed within [N] business days of registration</a:t>
            </a:r>
            <a:endParaRPr lang="en-US" sz="7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Quarterly channel pack reporting margin paid, commission accrued and revenue attributed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8125460" y="4851400"/>
            <a:ext cx="3479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TARGET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8125460" y="5029200"/>
            <a:ext cx="34798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[N] partners issuing offers, sustained per quarter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[$Y] partner-sourced revenue; conversion and attribution rates</a:t>
            </a:r>
            <a:endParaRPr lang="en-US" sz="78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78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Partner-sourced ACE count — separate from the programme’s five per Solution ID</a:t>
            </a:r>
            <a:endParaRPr lang="en-US" sz="780" dirty="0"/>
          </a:p>
        </p:txBody>
      </p:sp>
      <p:sp>
        <p:nvSpPr>
          <p:cNvPr id="30" name="Shape 26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Execution of an agreement needs the customer’s legal function and the partner’s countersignature — a target, not a commit. Rung names and partner types [P] / [P+1] / [P+2] to confirm.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SCOREBOARD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every number is settled.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Every target is settled from data that sits on Automatum’s side of the chain. Agree the source before the first report, not after.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14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343150"/>
            <a:ext cx="11055350" cy="3302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13000"/>
            <a:ext cx="3238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metric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4191000" y="24130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source, and who draws it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8763000" y="2413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Cadence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66420" y="30543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7147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4375150"/>
            <a:ext cx="11055350" cy="3302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49300" y="2794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 opportunities accepted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191000" y="2794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Partner Central — [whose instance, to confirm]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614410" y="2794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49300" y="3124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AWS-attributed pipeline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191000" y="3124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Central / ACE export, drawn by OBP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8614410" y="3124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49300" y="34544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offers issued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191000" y="34544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Automatum’s seller account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8614410" y="34544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749300" y="37846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revenue and disbursements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191000" y="37846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seller reporting, reconciled by OBP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8614410" y="37846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Monthly, against AWS statements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749300" y="41148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Partners issuing offers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4191000" y="41148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 — system of record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8614410" y="41148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749300" y="44450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Partner-registered deals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4191000" y="44450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Kiflo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8614410" y="44450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Monthly</a:t>
            </a:r>
            <a:endParaRPr lang="en-US" sz="1000" dirty="0"/>
          </a:p>
        </p:txBody>
      </p:sp>
      <p:sp>
        <p:nvSpPr>
          <p:cNvPr id="34" name="Text 30"/>
          <p:cNvSpPr txBox="1"/>
          <p:nvPr/>
        </p:nvSpPr>
        <p:spPr>
          <a:xfrm>
            <a:off x="749300" y="4775200"/>
            <a:ext cx="32385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for each commitment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4191000" y="4775200"/>
            <a:ext cx="4191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Dated pack, action log, Kiflo activity log, monthly report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8614410" y="47752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Per commitment</a:t>
            </a:r>
            <a:endParaRPr lang="en-US" sz="1000" dirty="0"/>
          </a:p>
        </p:txBody>
      </p:sp>
      <p:sp>
        <p:nvSpPr>
          <p:cNvPr id="37" name="Text 33"/>
          <p:cNvSpPr txBox="1"/>
          <p:nvPr/>
        </p:nvSpPr>
        <p:spPr>
          <a:xfrm>
            <a:off x="749300" y="5232400"/>
            <a:ext cx="1079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Targets. Not guaranteed. Set from the customer’s baseline at onboarding, shown against actuals from month one.  </a:t>
            </a:r>
            <a:pPr indent="0" marL="0">
              <a:buNone/>
            </a:pPr>
            <a:r>
              <a:rPr lang="en-US" sz="900" dirty="0">
                <a:solidFill>
                  <a:srgbClr val="F36F20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[Remedy] applies to commitments only.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EVERY ARTIFACT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Both lines above appear on every customer overview and deck, or the commit column silently acquires a number nobody set.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divider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57860" y="1905000"/>
            <a:ext cx="508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32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THREE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657860" y="2349500"/>
            <a:ext cx="889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machinery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57860" y="3111500"/>
            <a:ext cx="812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D2EA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What sits behind the four, for us and for AWS.</a:t>
            </a:r>
            <a:endParaRPr lang="en-US" sz="1300" dirty="0"/>
          </a:p>
        </p:txBody>
      </p:sp>
      <p:pic>
        <p:nvPicPr>
          <p:cNvPr id="6" name="Image 1" descr="/home/user/barberbook/docs/deck/assets/tile_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60" y="3810000"/>
            <a:ext cx="431800" cy="431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78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Value chain</a:t>
            </a:r>
            <a:endParaRPr lang="en-US" sz="1000" dirty="0"/>
          </a:p>
        </p:txBody>
      </p:sp>
      <p:pic>
        <p:nvPicPr>
          <p:cNvPr id="8" name="Image 2" descr="/home/user/barberbook/docs/deck/assets/tile_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7260" y="3810000"/>
            <a:ext cx="431800" cy="4318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22072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Components</a:t>
            </a:r>
            <a:endParaRPr lang="en-US" sz="1000" dirty="0"/>
          </a:p>
        </p:txBody>
      </p:sp>
      <p:pic>
        <p:nvPicPr>
          <p:cNvPr id="10" name="Image 3" descr="/home/user/barberbook/docs/deck/assets/tile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6660" y="3810000"/>
            <a:ext cx="431800" cy="43180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37566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Economics</a:t>
            </a:r>
            <a:endParaRPr lang="en-US" sz="1000" dirty="0"/>
          </a:p>
        </p:txBody>
      </p:sp>
      <p:pic>
        <p:nvPicPr>
          <p:cNvPr id="12" name="Image 4" descr="/home/user/barberbook/docs/deck/assets/tile_i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6060" y="3810000"/>
            <a:ext cx="431800" cy="43180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306060" y="4368800"/>
            <a:ext cx="1422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D3DCEF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14" name="Text 7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6D2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6C7B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9FD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15" name="Text 8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FA0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15 / 22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PLATFORM, FOUR STAGES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the common thread.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solution puts OBP on a different stage of the same chain — and the boundary row is what keeps them four.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16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9050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listed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43942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partnership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834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Operate the Marketplace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9372600" y="2286000"/>
            <a:ext cx="23114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channel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657860" y="2667000"/>
            <a:ext cx="11176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19050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 the product publishes to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43942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Marketplace platform compliance and co-sell work transacts on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68834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listing, the private offers, and the CRM and Partner Central integrations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9372600" y="2667000"/>
            <a:ext cx="23114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selling authorizations, the private offers and the AWS attribution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657860" y="3454400"/>
            <a:ext cx="1117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19050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 on every transaction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43942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Seller of record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68834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every private offer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9372600" y="3454400"/>
            <a:ext cx="231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Issues partner offers and selling authorizations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657860" y="3962400"/>
            <a:ext cx="11176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19050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review, the remediation, the FTR and the seller registration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3942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Program management, compliance, marketing, events, ACE and co-sell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68834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Compliance engineering, the offer desk, reporting and listing configuration</a:t>
            </a:r>
            <a:endParaRPr lang="en-US" sz="800" dirty="0"/>
          </a:p>
        </p:txBody>
      </p:sp>
      <p:sp>
        <p:nvSpPr>
          <p:cNvPr id="27" name="Text 23"/>
          <p:cNvSpPr txBox="1"/>
          <p:nvPr/>
        </p:nvSpPr>
        <p:spPr>
          <a:xfrm>
            <a:off x="9372600" y="3962400"/>
            <a:ext cx="23114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Recruitment, agreements, enablement, training, the desk and the reviews</a:t>
            </a:r>
            <a:endParaRPr lang="en-US" sz="800" dirty="0"/>
          </a:p>
        </p:txBody>
      </p:sp>
      <p:sp>
        <p:nvSpPr>
          <p:cNvPr id="28" name="Text 24"/>
          <p:cNvSpPr txBox="1"/>
          <p:nvPr/>
        </p:nvSpPr>
        <p:spPr>
          <a:xfrm>
            <a:off x="657860" y="4800600"/>
            <a:ext cx="11176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BOUNDARY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19050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One-time production of the AWS Marketplace listing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43942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AWS partnership programme, and the ISV’s own BOX Program listings — not the Marketplace listing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68834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customer’s own Marketplace listing, offers and reconciliation</a:t>
            </a:r>
            <a:endParaRPr lang="en-US" sz="800" dirty="0"/>
          </a:p>
        </p:txBody>
      </p:sp>
      <p:sp>
        <p:nvSpPr>
          <p:cNvPr id="32" name="Text 28"/>
          <p:cNvSpPr txBox="1"/>
          <p:nvPr/>
        </p:nvSpPr>
        <p:spPr>
          <a:xfrm>
            <a:off x="9372600" y="4800600"/>
            <a:ext cx="23114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Third-party sellers and partner-issued offers</a:t>
            </a:r>
            <a:endParaRPr lang="en-US" sz="800" dirty="0"/>
          </a:p>
        </p:txBody>
      </p:sp>
      <p:sp>
        <p:nvSpPr>
          <p:cNvPr id="33" name="Shape 29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Where a customer buys two, the higher solution’s commit column governs the overlap, and the same work is not billed twice.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E7CC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COMPONENTS BEHIND THE LISTING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Licensed and operated inside the fee.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Costs live in the models and in this register alone — a percentage discloses an amount as surely as the amount does.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17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3308350"/>
            <a:ext cx="11055350" cy="9398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4384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ASecureCloud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2286000" y="24384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Automates data collection for a Well-Architected review, suggests answers, and generates CloudFormation and AWS CLI templates that resolve findings.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6477000" y="24384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Licensed and operated by OBP. Premium required for Well-Architected reviews; licences reassign between accounts and are held as a pool.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749300" y="33782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Kiflo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2286000" y="33782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Partner system of record: portal, onboarding, deal registration, commission tracking. Core carries HubSpot and Salesforce sync.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6477000" y="33782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Resold by OBP inside Managed Partner Development, at every tier. System of record behind the partners-issuing-offers count. [Pricing basis, seats per rung, edition per rung — to confirm.]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749300" y="4318000"/>
            <a:ext cx="1397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Archera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2286000" y="4318000"/>
            <a:ext cx="38100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Commitment management for AWS spend — insured reservations and savings plans.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77000" y="4318000"/>
            <a:ext cx="2895600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Carried under OBP’s own agreement and sold on its own motion. It appears in no artifact of these four solutions, and must not leak into the revenue share.</a:t>
            </a:r>
            <a:endParaRPr lang="en-US" sz="900" dirty="0"/>
          </a:p>
        </p:txBody>
      </p:sp>
      <p:sp>
        <p:nvSpPr>
          <p:cNvPr id="19" name="Shape 15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YET NAMED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No component is named for Alliances or Operations, and no Automatum software for the software line of any of the four listings. Name them, or mark them confirmed-empty.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ECONOMICS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terms to agree between us.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is seller of record and owns the listed software in all four. No numbers here before the call — this is the agenda for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18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216150"/>
            <a:ext cx="11055350" cy="2794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86000"/>
            <a:ext cx="241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Term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327400" y="2286000"/>
            <a:ext cx="5270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has to be settled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8890000" y="2286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 and status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566420" y="28257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3845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39433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5021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Shape 13"/>
          <p:cNvSpPr/>
          <p:nvPr/>
        </p:nvSpPr>
        <p:spPr>
          <a:xfrm>
            <a:off x="566420" y="5060950"/>
            <a:ext cx="11055350" cy="2794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49300" y="2616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of funds and payment trigger</a:t>
            </a:r>
            <a:endParaRPr lang="en-US" sz="850" dirty="0"/>
          </a:p>
        </p:txBody>
      </p:sp>
      <p:sp>
        <p:nvSpPr>
          <p:cNvPr id="19" name="Text 15"/>
          <p:cNvSpPr txBox="1"/>
          <p:nvPr/>
        </p:nvSpPr>
        <p:spPr>
          <a:xfrm>
            <a:off x="3327400" y="2616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AWS disbursement to Automatum vs invoice at [N] days; who carries the float, including the Accelerator’s 50/50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8890000" y="2616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1" name="Text 17"/>
          <p:cNvSpPr txBox="1"/>
          <p:nvPr/>
        </p:nvSpPr>
        <p:spPr>
          <a:xfrm>
            <a:off x="749300" y="2895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software line</a:t>
            </a:r>
            <a:endParaRPr lang="en-US" sz="850" dirty="0"/>
          </a:p>
        </p:txBody>
      </p:sp>
      <p:sp>
        <p:nvSpPr>
          <p:cNvPr id="22" name="Text 18"/>
          <p:cNvSpPr txBox="1"/>
          <p:nvPr/>
        </p:nvSpPr>
        <p:spPr>
          <a:xfrm>
            <a:off x="3327400" y="2895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licensor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8890000" y="2895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49300" y="3175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split, professional services line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3327400" y="3175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Follows the delivering party</a:t>
            </a:r>
            <a:endParaRPr lang="en-US" sz="850" dirty="0"/>
          </a:p>
        </p:txBody>
      </p:sp>
      <p:sp>
        <p:nvSpPr>
          <p:cNvPr id="26" name="Text 22"/>
          <p:cNvSpPr txBox="1"/>
          <p:nvPr/>
        </p:nvSpPr>
        <p:spPr>
          <a:xfrm>
            <a:off x="8890000" y="3175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27" name="Text 23"/>
          <p:cNvSpPr txBox="1"/>
          <p:nvPr/>
        </p:nvSpPr>
        <p:spPr>
          <a:xfrm>
            <a:off x="749300" y="3454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listing fee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3327400" y="3454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Rates, mechanics and how it is netted</a:t>
            </a:r>
            <a:endParaRPr lang="en-US" sz="850" dirty="0"/>
          </a:p>
        </p:txBody>
      </p:sp>
      <p:sp>
        <p:nvSpPr>
          <p:cNvPr id="29" name="Text 25"/>
          <p:cNvSpPr txBox="1"/>
          <p:nvPr/>
        </p:nvSpPr>
        <p:spPr>
          <a:xfrm>
            <a:off x="8890000" y="3454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to confirm</a:t>
            </a:r>
            <a:endParaRPr lang="en-US" sz="850" dirty="0"/>
          </a:p>
        </p:txBody>
      </p:sp>
      <p:sp>
        <p:nvSpPr>
          <p:cNvPr id="30" name="Text 26"/>
          <p:cNvSpPr txBox="1"/>
          <p:nvPr/>
        </p:nvSpPr>
        <p:spPr>
          <a:xfrm>
            <a:off x="749300" y="3733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cash and credits</a:t>
            </a:r>
            <a:endParaRPr lang="en-US" sz="850" dirty="0"/>
          </a:p>
        </p:txBody>
      </p:sp>
      <p:sp>
        <p:nvSpPr>
          <p:cNvPr id="31" name="Text 27"/>
          <p:cNvSpPr txBox="1"/>
          <p:nvPr/>
        </p:nvSpPr>
        <p:spPr>
          <a:xfrm>
            <a:off x="3327400" y="3733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Figures are established; the division is not. Credits are worth face value only to the party with spend to offset</a:t>
            </a:r>
            <a:endParaRPr lang="en-US" sz="850" dirty="0"/>
          </a:p>
        </p:txBody>
      </p:sp>
      <p:sp>
        <p:nvSpPr>
          <p:cNvPr id="32" name="Text 28"/>
          <p:cNvSpPr txBox="1"/>
          <p:nvPr/>
        </p:nvSpPr>
        <p:spPr>
          <a:xfrm>
            <a:off x="8890000" y="3733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749300" y="40132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3 — the 55 leads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3327400" y="40132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Confirm the direction before agreeing who owns them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8890000" y="40132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confirm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49300" y="42926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Component cost recovery</a:t>
            </a:r>
            <a:endParaRPr lang="en-US" sz="850" dirty="0"/>
          </a:p>
        </p:txBody>
      </p:sp>
      <p:sp>
        <p:nvSpPr>
          <p:cNvPr id="37" name="Text 33"/>
          <p:cNvSpPr txBox="1"/>
          <p:nvPr/>
        </p:nvSpPr>
        <p:spPr>
          <a:xfrm>
            <a:off x="3327400" y="42926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ASecureCloud and Kiflo, stress-tested against the $2,500 rung</a:t>
            </a:r>
            <a:endParaRPr lang="en-US" sz="850" dirty="0"/>
          </a:p>
        </p:txBody>
      </p:sp>
      <p:sp>
        <p:nvSpPr>
          <p:cNvPr id="38" name="Text 34"/>
          <p:cNvSpPr txBox="1"/>
          <p:nvPr/>
        </p:nvSpPr>
        <p:spPr>
          <a:xfrm>
            <a:off x="8890000" y="42926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· to model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749300" y="45720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Back-to-back internal SLAs</a:t>
            </a:r>
            <a:endParaRPr lang="en-US" sz="850" dirty="0"/>
          </a:p>
        </p:txBody>
      </p:sp>
      <p:sp>
        <p:nvSpPr>
          <p:cNvPr id="40" name="Text 36"/>
          <p:cNvSpPr txBox="1"/>
          <p:nvPr/>
        </p:nvSpPr>
        <p:spPr>
          <a:xfrm>
            <a:off x="3327400" y="45720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Offer issue, listing configuration, selling authorizations, ACE instance, reporting feed</a:t>
            </a:r>
            <a:endParaRPr lang="en-US" sz="850" dirty="0"/>
          </a:p>
        </p:txBody>
      </p:sp>
      <p:sp>
        <p:nvSpPr>
          <p:cNvPr id="41" name="Text 37"/>
          <p:cNvSpPr txBox="1"/>
          <p:nvPr/>
        </p:nvSpPr>
        <p:spPr>
          <a:xfrm>
            <a:off x="8890000" y="45720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· BLOCKING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749300" y="48514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Renewal, churn and exit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3327400" y="48514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Ownership of partner agreements and Kiflo channel data at end of term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8890000" y="48514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749300" y="5130800"/>
            <a:ext cx="2413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Exclusivity and reporting access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3327400" y="5130800"/>
            <a:ext cx="5270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Scope boundary, and OBP’s access to Marketplace seller reporting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8890000" y="5130800"/>
            <a:ext cx="2895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Both · to agree</a:t>
            </a:r>
            <a:endParaRPr lang="en-US" sz="850" dirty="0"/>
          </a:p>
        </p:txBody>
      </p:sp>
      <p:sp>
        <p:nvSpPr>
          <p:cNvPr id="48" name="Shape 44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CUSTOMER-FACING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 $10,000 fee and the ladder cannot be validated until OBP knows its share. A split below OBP’s walk-away means the prices are wrong, not the split.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EXCHANGE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funds, and what AWS gets back.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four Automatum × OBP solutions’ own milestones. Cash and credits are separate instruments, up to the amounts shown.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19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9321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 + $10,000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9321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1, cash + credits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37388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$25,000 + $25,000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37388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Milestone 2, cash + credits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65455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65455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Project leads generated for the participant via a sponsored AWS marketing campaign — Milestone 3, AWS-funded.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9352280" y="2362200"/>
            <a:ext cx="254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per solution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9352280" y="2730500"/>
            <a:ext cx="2540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ACE opportunity submissions — the programme’s obligation to AWS</a:t>
            </a:r>
            <a:endParaRPr lang="en-US" sz="850" dirty="0"/>
          </a:p>
        </p:txBody>
      </p:sp>
      <p:sp>
        <p:nvSpPr>
          <p:cNvPr id="17" name="Text 13"/>
          <p:cNvSpPr txBox="1"/>
          <p:nvPr/>
        </p:nvSpPr>
        <p:spPr>
          <a:xfrm>
            <a:off x="657860" y="3479800"/>
            <a:ext cx="10871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RULE — each solution carries its own Solution ID and its own five ACE submissions; an opportunity belongs to one solution. Milestone apportionment between OBP and Automatum is open — see partner economics.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1023620" y="37592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transacting listings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4140200"/>
            <a:ext cx="2730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solutions listed and transacting through AWS Marketplace on Automatum’s listing.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4765040" y="37592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Twenty ACE submissions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765040" y="4140200"/>
            <a:ext cx="2730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Five per solution across the set. A customer’s own submissions follow their opportunity flow and are not an entitlement of five.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8506460" y="37592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named alliance owner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8506460" y="4140200"/>
            <a:ext cx="2730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Co-sell and program progression run through a named owner on every engagement.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PARTICIPATIONS, ONE SCHEDULE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These are OUR four solutions’ milestones. An ISV pursuing its own BOX Program listings earns the same schedule separately — see Managed AWS Alliances. Same figures, different participant, not the same money.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SEQUENCE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waves, along the value chain.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Sequence, rather than four at once. The split is p10’s chain down the middle, and it pairs each retainer with the work that precedes it.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20 / 22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1023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ONE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1023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Marketplace Compliance Accelerator  +  Managed AWS Alliances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23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Get listed  →  Run the partnership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1023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023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Accelerator is the only fixed, provable delivery in the portfolio — the cheapest feasibility study to write and the fastest route to Milestone 1 evidence. It also produces the listing Alliances runs the partnership around.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6484620" y="2413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WAVE TWO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6484620" y="2667000"/>
            <a:ext cx="4953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Managed Marketplace Operations  +  Managed Partner Development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484620" y="3175000"/>
            <a:ext cx="4953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E7CC4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Operate the Marketplace  →  Build the channel</a:t>
            </a:r>
            <a:endParaRPr lang="en-US" sz="950" dirty="0"/>
          </a:p>
        </p:txBody>
      </p:sp>
      <p:sp>
        <p:nvSpPr>
          <p:cNvPr id="17" name="Text 13"/>
          <p:cNvSpPr txBox="1"/>
          <p:nvPr/>
        </p:nvSpPr>
        <p:spPr>
          <a:xfrm>
            <a:off x="6484620" y="34798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feasibility studies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2 milestone plans</a:t>
            </a:r>
            <a:endParaRPr lang="en-US" sz="90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10 ACE submissions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6484620" y="4216400"/>
            <a:ext cx="4953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Opens on wave one’s Milestone 1 approval — the only gate consistent with arriving with evidence. Both depend on a listing that is already live and transacting.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1023620" y="51816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CONDITIONS PRINTED ON THIS SLIDE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1023620" y="5384800"/>
            <a:ext cx="10541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Wave one assumes capacity to run two feasibility studies and two milestone plans concurrently. [Capacity to confirm — if it is genuinely one at a time, wave one splits.]</a:t>
            </a:r>
            <a:endParaRPr lang="en-US" sz="850" dirty="0"/>
          </a:p>
          <a:p>
            <a:pPr marL="127000" indent="-127000">
              <a:lnSpc>
                <a:spcPct val="112000"/>
              </a:lnSpc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whole recommendation is contingent on the 12-month listing clock running per Solution ID from entry. If it runs programme-level, sequencing burns the clock rather than staggering it, and this slide is wrong.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DECISION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are asking today.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Approve the sequence, confirm the lead partner of record, name the dates.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21 / 22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566420" y="2216150"/>
            <a:ext cx="11055350" cy="292100"/>
          </a:xfrm>
          <a:prstGeom prst="rect">
            <a:avLst/>
          </a:prstGeom>
          <a:solidFill>
            <a:srgbClr val="15224B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49300" y="2286000"/>
            <a:ext cx="419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condition or item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143500" y="22860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7366000" y="2286000"/>
            <a:ext cx="28956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Standing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66420" y="2851150"/>
            <a:ext cx="11055350" cy="2921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420" y="3435350"/>
            <a:ext cx="11055350" cy="2921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420" y="4019550"/>
            <a:ext cx="11055350" cy="2921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6" name="Shape 12"/>
          <p:cNvSpPr/>
          <p:nvPr/>
        </p:nvSpPr>
        <p:spPr>
          <a:xfrm>
            <a:off x="566420" y="4603750"/>
            <a:ext cx="11055350" cy="292100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749300" y="26289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Validated or Differentiated held by the lead partner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5143500" y="26289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7366000" y="26289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Stated by Automatum (Aein, email) — evidence to attach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749300" y="29210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is lead partner of record on all four Solution IDs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5143500" y="29210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7366000" y="29210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confirm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749300" y="32131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Solution listed within 12 months</a:t>
            </a:r>
            <a:endParaRPr lang="en-US" sz="950" dirty="0"/>
          </a:p>
        </p:txBody>
      </p:sp>
      <p:sp>
        <p:nvSpPr>
          <p:cNvPr id="24" name="Text 20"/>
          <p:cNvSpPr txBox="1"/>
          <p:nvPr/>
        </p:nvSpPr>
        <p:spPr>
          <a:xfrm>
            <a:off x="5143500" y="32131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 + OBP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7366000" y="32131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[Per-wave deadlines once the clock basis is confirmed]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49300" y="35052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ACE opportunity submissions per solution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5143500" y="35052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366000" y="35052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Built into each solution’s plan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749300" y="37973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Milestone 1 Feasibility Study per solution</a:t>
            </a:r>
            <a:endParaRPr lang="en-US" sz="950" dirty="0"/>
          </a:p>
        </p:txBody>
      </p:sp>
      <p:sp>
        <p:nvSpPr>
          <p:cNvPr id="30" name="Text 26"/>
          <p:cNvSpPr txBox="1"/>
          <p:nvPr/>
        </p:nvSpPr>
        <p:spPr>
          <a:xfrm>
            <a:off x="5143500" y="37973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50" dirty="0"/>
          </a:p>
        </p:txBody>
      </p:sp>
      <p:sp>
        <p:nvSpPr>
          <p:cNvPr id="31" name="Text 27"/>
          <p:cNvSpPr txBox="1"/>
          <p:nvPr/>
        </p:nvSpPr>
        <p:spPr>
          <a:xfrm>
            <a:off x="7366000" y="37973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Drafted from the overviews</a:t>
            </a:r>
            <a:endParaRPr lang="en-US" sz="950" dirty="0"/>
          </a:p>
        </p:txBody>
      </p:sp>
      <p:sp>
        <p:nvSpPr>
          <p:cNvPr id="32" name="Text 28"/>
          <p:cNvSpPr txBox="1"/>
          <p:nvPr/>
        </p:nvSpPr>
        <p:spPr>
          <a:xfrm>
            <a:off x="749300" y="40894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Commit / target set per retainer rung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5143500" y="40894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7366000" y="40894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In draft — placeholders to close by [date]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749300" y="43815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Included band and overflow rate per rung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5143500" y="43815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commercial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7366000" y="43815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decide</a:t>
            </a:r>
            <a:endParaRPr lang="en-US" sz="950" dirty="0"/>
          </a:p>
        </p:txBody>
      </p:sp>
      <p:sp>
        <p:nvSpPr>
          <p:cNvPr id="38" name="Text 34"/>
          <p:cNvSpPr txBox="1"/>
          <p:nvPr/>
        </p:nvSpPr>
        <p:spPr>
          <a:xfrm>
            <a:off x="749300" y="46736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 back-to-back turnarounds</a:t>
            </a:r>
            <a:endParaRPr lang="en-US" sz="950" dirty="0"/>
          </a:p>
        </p:txBody>
      </p:sp>
      <p:sp>
        <p:nvSpPr>
          <p:cNvPr id="39" name="Text 35"/>
          <p:cNvSpPr txBox="1"/>
          <p:nvPr/>
        </p:nvSpPr>
        <p:spPr>
          <a:xfrm>
            <a:off x="5143500" y="46736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Automatum</a:t>
            </a:r>
            <a:endParaRPr lang="en-US" sz="950" dirty="0"/>
          </a:p>
        </p:txBody>
      </p:sp>
      <p:sp>
        <p:nvSpPr>
          <p:cNvPr id="40" name="Text 36"/>
          <p:cNvSpPr txBox="1"/>
          <p:nvPr/>
        </p:nvSpPr>
        <p:spPr>
          <a:xfrm>
            <a:off x="7366000" y="46736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To agree on the call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749300" y="4965700"/>
            <a:ext cx="419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terms between OBP and Automatum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5143500" y="4965700"/>
            <a:ext cx="1905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OBP + Automatum</a:t>
            </a:r>
            <a:endParaRPr lang="en-US" sz="950" dirty="0"/>
          </a:p>
        </p:txBody>
      </p:sp>
      <p:sp>
        <p:nvSpPr>
          <p:cNvPr id="43" name="Text 39"/>
          <p:cNvSpPr txBox="1"/>
          <p:nvPr/>
        </p:nvSpPr>
        <p:spPr>
          <a:xfrm>
            <a:off x="7366000" y="4965700"/>
            <a:ext cx="28956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On the agenda for [call date]</a:t>
            </a:r>
            <a:endParaRPr lang="en-US" sz="950" dirty="0"/>
          </a:p>
        </p:txBody>
      </p:sp>
      <p:sp>
        <p:nvSpPr>
          <p:cNvPr id="44" name="Text 40"/>
          <p:cNvSpPr txBox="1"/>
          <p:nvPr/>
        </p:nvSpPr>
        <p:spPr>
          <a:xfrm>
            <a:off x="749300" y="5334000"/>
            <a:ext cx="10795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AA2B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Stage and partner tier are separate axes. The gate the deck names is Validated or Differentiated, which Differentiated satisfies on its own — attach the stage and tier as shown on Partner Central, the Partner ID, the date checked, and any expiry.</a:t>
            </a:r>
            <a:endParaRPr lang="en-US" sz="850" dirty="0"/>
          </a:p>
        </p:txBody>
      </p:sp>
      <p:sp>
        <p:nvSpPr>
          <p:cNvPr id="45" name="Shape 41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46" name="Text 42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Approve the two-wave sequence, confirm the lead partner of record, agree the back-to-back turnarounds, and calendar wave one’s Milestone 1 for [date].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rberbook/docs/deck/assets/bg_cont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/home/user/barberbook/docs/deck/assets/eyebrow_p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420" y="474980"/>
            <a:ext cx="256540" cy="2565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023620" y="501650"/>
            <a:ext cx="635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EVERYTHING LIVES</a:t>
            </a:r>
            <a:endParaRPr lang="en-US" sz="1150" dirty="0"/>
          </a:p>
        </p:txBody>
      </p:sp>
      <p:sp>
        <p:nvSpPr>
          <p:cNvPr id="5" name="Text 1"/>
          <p:cNvSpPr txBox="1"/>
          <p:nvPr/>
        </p:nvSpPr>
        <p:spPr>
          <a:xfrm>
            <a:off x="657860" y="939800"/>
            <a:ext cx="1092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set, and how it travels.</a:t>
            </a:r>
            <a:endParaRPr lang="en-US" sz="2500" dirty="0"/>
          </a:p>
        </p:txBody>
      </p:sp>
      <p:sp>
        <p:nvSpPr>
          <p:cNvPr id="6" name="Text 2"/>
          <p:cNvSpPr txBox="1"/>
          <p:nvPr/>
        </p:nvSpPr>
        <p:spPr>
          <a:xfrm>
            <a:off x="657860" y="1651000"/>
            <a:ext cx="10541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Each overview and deck stands alone and can go to a customer; this deck and the catalog page stay internal.</a:t>
            </a:r>
            <a:endParaRPr lang="en-US" sz="1250" dirty="0"/>
          </a:p>
        </p:txBody>
      </p:sp>
      <p:sp>
        <p:nvSpPr>
          <p:cNvPr id="7" name="Text 3"/>
          <p:cNvSpPr txBox="1"/>
          <p:nvPr/>
        </p:nvSpPr>
        <p:spPr>
          <a:xfrm>
            <a:off x="657860" y="646430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1B4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Automatum</a:t>
            </a:r>
            <a:pPr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with  ·  </a:t>
            </a:r>
            <a:pPr indent="0" marL="0">
              <a:buNone/>
            </a:pPr>
            <a:r>
              <a:rPr lang="en-US" sz="900" b="1" dirty="0">
                <a:solidFill>
                  <a:srgbClr val="1C4E9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OBP</a:t>
            </a:r>
            <a:endParaRPr lang="en-US" sz="900" dirty="0"/>
          </a:p>
        </p:txBody>
      </p:sp>
      <p:sp>
        <p:nvSpPr>
          <p:cNvPr id="8" name="Text 4"/>
          <p:cNvSpPr txBox="1"/>
          <p:nvPr/>
        </p:nvSpPr>
        <p:spPr>
          <a:xfrm>
            <a:off x="7620000" y="6464300"/>
            <a:ext cx="38989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A2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 ·  BOX SOLUTIONS PORTFOLIO  ·  22 / 22</a:t>
            </a:r>
            <a:endParaRPr lang="en-US" sz="900" dirty="0"/>
          </a:p>
        </p:txBody>
      </p:sp>
      <p:pic>
        <p:nvPicPr>
          <p:cNvPr id="9" name="Image 2" descr="/home/user/barberbook/docs/deck/assets/pan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" y="2523490"/>
            <a:ext cx="3644900" cy="23368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2362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Customer-facing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02362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Four overviews and four decks per partner — each names its own solution only, and ships only when its brackets are closed.</a:t>
            </a:r>
            <a:endParaRPr lang="en-US" sz="950" dirty="0"/>
          </a:p>
        </p:txBody>
      </p:sp>
      <p:pic>
        <p:nvPicPr>
          <p:cNvPr id="12" name="Image 3" descr="/home/user/barberbook/docs/deck/assets/pan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7040" y="2523490"/>
            <a:ext cx="3644900" cy="23368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76504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476504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catalog page and this deck: the side-by-side view, the four-buyers page, the commit / target sets, the components register, partner economics, the sequence and the BOX figures.</a:t>
            </a:r>
            <a:endParaRPr lang="en-US" sz="950" dirty="0"/>
          </a:p>
        </p:txBody>
      </p:sp>
      <p:pic>
        <p:nvPicPr>
          <p:cNvPr id="15" name="Image 4" descr="/home/user/barberbook/docs/deck/assets/pan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98460" y="2523490"/>
            <a:ext cx="3644900" cy="23368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506460" y="2794000"/>
            <a:ext cx="27305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224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mirror</a:t>
            </a:r>
            <a:endParaRPr lang="en-US" sz="1500" dirty="0"/>
          </a:p>
        </p:txBody>
      </p:sp>
      <p:sp>
        <p:nvSpPr>
          <p:cNvPr id="17" name="Text 10"/>
          <p:cNvSpPr txBox="1"/>
          <p:nvPr/>
        </p:nvSpPr>
        <p:spPr>
          <a:xfrm>
            <a:off x="8506460" y="3175000"/>
            <a:ext cx="27305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two partner sets match exactly, name aside, and the sweep asserts it on every run.</a:t>
            </a:r>
            <a:endParaRPr lang="en-US" sz="950" dirty="0"/>
          </a:p>
        </p:txBody>
      </p:sp>
      <p:sp>
        <p:nvSpPr>
          <p:cNvPr id="18" name="Text 11"/>
          <p:cNvSpPr txBox="1"/>
          <p:nvPr/>
        </p:nvSpPr>
        <p:spPr>
          <a:xfrm>
            <a:off x="657860" y="4978400"/>
            <a:ext cx="635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RENAME CASCADE — NOBODY HAS PRICED THIS</a:t>
            </a:r>
            <a:endParaRPr lang="en-US" sz="800" dirty="0"/>
          </a:p>
        </p:txBody>
      </p:sp>
      <p:sp>
        <p:nvSpPr>
          <p:cNvPr id="19" name="Text 12"/>
          <p:cNvSpPr txBox="1"/>
          <p:nvPr/>
        </p:nvSpPr>
        <p:spPr>
          <a:xfrm>
            <a:off x="657860" y="5181600"/>
            <a:ext cx="108712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378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The mirror rule means any rung rename — Expand to Activate, say — re-cuts up to four overviews and four decks per partner: sixteen artifacts, plus anything already drafted for a Solution ID or milestone submission. Weigh that before approving the renames, not after.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566420" y="5760720"/>
            <a:ext cx="11057890" cy="566420"/>
          </a:xfrm>
          <a:prstGeom prst="roundRect">
            <a:avLst>
              <a:gd name="adj" fmla="val 22601"/>
            </a:avLst>
          </a:prstGeom>
          <a:solidFill>
            <a:srgbClr val="15224B"/>
          </a:solidFill>
          <a:ln/>
        </p:spPr>
      </p:sp>
      <p:sp>
        <p:nvSpPr>
          <p:cNvPr id="21" name="Text 14"/>
          <p:cNvSpPr txBox="1"/>
          <p:nvPr/>
        </p:nvSpPr>
        <p:spPr>
          <a:xfrm>
            <a:off x="838200" y="5867400"/>
            <a:ext cx="10541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10" kern="0" dirty="0">
                <a:solidFill>
                  <a:srgbClr val="F36F2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PUBLISHING RULE</a:t>
            </a:r>
            <a:pPr indent="0" marL="0">
              <a:buNone/>
            </a:pPr>
            <a:r>
              <a:rPr lang="en-US" sz="1050" dirty="0">
                <a:solidFill>
                  <a:srgbClr val="D7E1F5"/>
                </a:solidFill>
                <a:latin typeface="Segoe UI Semilight" pitchFamily="34" charset="0"/>
                <a:ea typeface="Segoe UI Semilight" pitchFamily="34" charset="-122"/>
                <a:cs typeface="Segoe UI Semilight" pitchFamily="34" charset="-120"/>
              </a:rPr>
              <a:t>    Bracketed placeholders live in the internal deck and never appear in a customer overview or deck.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BOX Solutions — Automatum x OBP (internal)</dc:title>
  <dc:subject>PptxGenJS Presentation</dc:subject>
  <dc:creator>OBP</dc:creator>
  <cp:lastModifiedBy>OBP</cp:lastModifiedBy>
  <cp:revision>1</cp:revision>
  <dcterms:created xsi:type="dcterms:W3CDTF">2026-09-02T03:37:29Z</dcterms:created>
  <dcterms:modified xsi:type="dcterms:W3CDTF">2026-09-02T03:37:29Z</dcterms:modified>
</cp:coreProperties>
</file>