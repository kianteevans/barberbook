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needs staffed.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fixed-fee project and three twelve-month retainers. This is the internal side-by-side view,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pricing ladder — a convention, not a product.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7BA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items are open for decision. None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 2026-09-02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6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2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an ISV’s AWS business needs staffed.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8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0" name="Image 3" descr="/home/user/barberbook/docs/deck/assets/tile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 business needs staffed.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the product listed, running the AWS partnership, operating the Marketplace, and building the reseller channel — covered between the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472690"/>
            <a:ext cx="2819400" cy="2908300"/>
          </a:xfrm>
          <a:prstGeom prst="rect">
            <a:avLst/>
          </a:prstGeom>
        </p:spPr>
      </p:pic>
      <p:pic>
        <p:nvPicPr>
          <p:cNvPr id="10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3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2320" y="2472690"/>
            <a:ext cx="2819400" cy="2908300"/>
          </a:xfrm>
          <a:prstGeom prst="rect">
            <a:avLst/>
          </a:prstGeom>
        </p:spPr>
      </p:pic>
      <p:pic>
        <p:nvPicPr>
          <p:cNvPr id="14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6" name="Text 8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7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9020" y="2472690"/>
            <a:ext cx="2819400" cy="2908300"/>
          </a:xfrm>
          <a:prstGeom prst="rect">
            <a:avLst/>
          </a:prstGeom>
        </p:spPr>
      </p:pic>
      <p:pic>
        <p:nvPicPr>
          <p:cNvPr id="18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0" name="Text 10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compliance engineering, listing engineering, the offer desk and reporting — at every tier. Volume, turnaround and review cadence set the rung. Launch includes the listing work itself.</a:t>
            </a:r>
            <a:endParaRPr lang="en-US" sz="900" dirty="0"/>
          </a:p>
        </p:txBody>
      </p:sp>
      <p:pic>
        <p:nvPicPr>
          <p:cNvPr id="21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5720" y="2472690"/>
            <a:ext cx="2819400" cy="2908300"/>
          </a:xfrm>
          <a:prstGeom prst="rect">
            <a:avLst/>
          </a:prstGeom>
        </p:spPr>
      </p:pic>
      <p:pic>
        <p:nvPicPr>
          <p:cNvPr id="22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4" name="Text 12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 and managed to a committed roster — up to (6), up to (12), or uncapped. Partners issuing offers is the number we report; roster under management is the number we commit.</a:t>
            </a:r>
            <a:endParaRPr lang="en-US" sz="900" dirty="0"/>
          </a:p>
        </p:txBody>
      </p:sp>
      <p:sp>
        <p:nvSpPr>
          <p:cNvPr id="25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6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LADDER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three retainers price on the same $2,500 / $5,000 / $7,500 ladder — a pricing convention, not a product.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buyers, four boundaries.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ladder, different job, different buyer, different cost base, different Solution ID.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[CTO / VP Engineering]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 or COO]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engineer-weeks on Well-Architected, FTR and seller registration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fixed-fee route to a published listing in 14 to 18 business days, with nothing ongoing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and the ISV’s own BOX Program listings — not the Marketplace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Builds the listing AND operates it for twelve months — Launch includes WAFR, FTR and publication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rung is.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0" name="Image 3" descr="/home/user/barberbook/docs/deck/assets/tile_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2" name="Image 4" descr="/home/user/barberbook/docs/deck/assets/tile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9527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0226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0226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6420" y="36639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32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498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Shape 15"/>
          <p:cNvSpPr/>
          <p:nvPr/>
        </p:nvSpPr>
        <p:spPr>
          <a:xfrm>
            <a:off x="566420" y="564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49300" y="3403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2857500" y="3403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733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2857500" y="3733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064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2857500" y="4064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43942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2857500" y="43942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7244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2857500" y="47244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5054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2857500" y="5054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5384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2857500" y="5384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5715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buy it standalone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2857500" y="5715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Managed Marketplace Operations Launch covers the same listing work inside a twelve-month retainer. This is the route to a published listing in 14 to 18 business days with no ongoing commitment.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one ladder.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ladder is a pricing convention, not a product. Every rung carries what we commit, what we target, an included band and an overflow rate.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month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month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month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946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2131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no component named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63067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scale the programs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921893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21893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 the AWS field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3886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41529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desk] · no component named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04241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04241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build, publish and transact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663067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63067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921893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21893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 · Kiflo Core, inside the fee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04241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4241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partners managed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663067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63067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partners managed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921893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21893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roster uncapped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The price ladder is the one number they share.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partnership, and drive the ISV’s own AWS program progression.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the ISV holds the partner stage each program requires. [Marketplace listing as a prerequisite — to confirm.]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and every application, event, check and artifact below prepared, filed or run.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into ISV Accelerate and the Competency programs, MDF availability, BOX Program listings approved, and AWS-sourced leads — every one of these is AWS’s decision, not OBP’s.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held and minuted; action log within [N] business days, and a quarterly AWS partnership plan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Accelerate, Competency and MDF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BOX Program listing submission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AWS-facing marketing support produced: 1-pagers, solution decks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 — unlocking up to 25k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Competency acceptance — unlocking up to 50k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BOX Program listing — unlocking 35k in AWS credits, 35k in cash and 55 leads via a sponsored AWS marketing campaign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scale the programs.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events organised and run: Lunch &amp; Learn, Immersion Day, Meet-Up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ACE hygiene checks, with exceptions written back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Funding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Competency and (3) BOX Program listing submissions prepared and filed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acceptance, and up to (3) Competency acceptances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BOX Program listings approved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55+ leads via sponsored AWS marketing campaigns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open the AWS field.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Applications prepared and filed across all applicable Competency programs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BOX Program listing submissions filed with no cap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Account Executive and (2) Partner Sales Manager introductions made and logged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Segment Leader introduction made and logged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across all applicable Competency programs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Listings uncapped, subject to AWS approval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Meetings held and opportunities sourced from the introductions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ISV’s OWN BOX Program benefits, which this retainer drives them toward — separate from the four Automatum × OBP solutions and their milestones. [“BOX Program listing” to be defined; it is not the Accelerator’s Marketplace listing.]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listing live and operate it at volume. All nine services at every rung — volume, turnaround and review cadence set the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none. Launch includes the listing work; the Accelerator remains the fixed-fee route to the same listing in 14 to 18 business days.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who takes the product through Well-Architected review, FTR and publication, then runs the offer desk to the band bought, with listing changes inside the rung’s turnaround and a monthly report on offers, Marketplace revenue and listing health.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acceptance, the publication date, offers accepted and Marketplace revenue — AWS’s review queue and the customer’s deal flow govern every one.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built, published and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WAFR conducted, findings remediated — the FTR takes a completed WAFR as its input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prepared and submitted; listing built, configured and taken through publication, with AMMP diagrams maintained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CRM integration configured; private offer desk — up to (50) offers a year, direct and CPPO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changes in 5 business days; monthly reporting on offers, revenue and listing health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— AWS decides; it grants AWS Qualified Software status and Solutions Finder placement, valid 2 years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governs it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(2)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(100)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3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(200)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1 business day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Nine services in three groups: compliance engineering · listing engineering · the offer desk and reporting. [Grouping proposed — confirm. CPPO also appears in Partner Development: originated there, executed here.]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Roster under management is what we commit; partners issuing offers is what we report.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WHY TWELVE MONTHS — ramp from first outreach to first partner transaction models at 8 months, which is what sets the term.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 recruiting and managing the roster at the rung’s cap, a CPPO deal desk at the rung’s turnaround with selling authorizations drafted, issued and tracked, training on cadence, channel reviews with sourced-pipeline and attribution reporting, and Kiflo Core operated inside the fee.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the headline number — plus partner-sourced pipeline and revenue. Each partner clears its own AWS gate, which is the partner’s act, not OBP’s.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Twice-yearly partner training and enablement sessions held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1 business day turnaround; recurring selling authorizations drafted, issued and tracked in AWS Marketplace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inside the fee; PRM attribution configured for the channel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monthly, the number to hold us to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gate: seller registration, tax interview, disbursement, service-linked role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roster under management.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8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No cap on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4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Fortnightly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AWS permits only one partner identifier per resource, so partner attribution runs on user agent string rather than competing tags. [CPPO boundary with Managed Marketplace Operations — originated here, executed on the listing there — to confirm.]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every number is settled.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so no target is ever mistaken for a commitment.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0" name="Image 3" descr="/home/user/barberbook/docs/deck/assets/tile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2" name="Image 4" descr="/home/user/barberbook/docs/deck/assets/tile_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as a fixed-fee project, nothing ongoing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programme, and the ISV’s own BOX Program listings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AND twelve months of operation; CPPO executed on the listing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recruitment and management; CPPO originated with partners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by OBP inside Managed Partner Development at every tier, included in the engagement fee. System of record behind the partners-issuing-offers count, and carries PRM attribution across the roster. [Seats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terms to agree between us.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$2,500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needed first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fee and the ladder are only validated once the split is known — so these terms come before any repricing.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four Automatum × OBP solutions’ own milestones. 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Project leads generated for the participant via a sponsored AWS marketing campaign — Milestone 3, AWS-funded.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34798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RULE — each solution carries its own Solution ID and its own five ACE submissions; an opportunity belongs to one solution. Milestone apportionment between OBP and Automatum is open — see partner economics.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6504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50646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PARTICIPATIONS, ONE SCHEDULE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These are OUR four solutions’ milestones. An ISV pursuing its own BOX Program listings earns the same schedule separately — see Managed AWS Alliances. Same figures, different participant, not the same money.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waves, along the value chain.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p10’s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the sequence changes.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Approve the sequence, confirm the lead partner of record, name the dates.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165350"/>
            <a:ext cx="11055350" cy="2667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352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352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352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66420" y="27495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2829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8163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3497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8831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5527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5143500" y="25527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7366000" y="2552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— Partner Central evidence to attach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194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143500" y="28194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7366000" y="28194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0861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143500" y="30861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7366000" y="30861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3528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5143500" y="33528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7366000" y="33528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6195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5143500" y="36195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7366000" y="36195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38862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outcomes per rung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5143500" y="38862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7366000" y="38862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Set — all three retainers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1529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Staffing, bands and overflow rates behind every rung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143500" y="41529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7366000" y="41529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capacity-test and price before any customer artifact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4196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5143500" y="44196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7366000" y="44196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Needed before any turnaround is published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6863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CPPO boundary — Operations vs Partner Development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5143500" y="46863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366000" y="46863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49530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5143500" y="4953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366000" y="49530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749300" y="53086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9" name="Shape 4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 and the CPPO boundary,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336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336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336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18" name="Text 11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PRICE IT BEFORE APPROVING</a:t>
            </a:r>
            <a:endParaRPr lang="en-US" sz="800" dirty="0"/>
          </a:p>
        </p:txBody>
      </p:sp>
      <p:sp>
        <p:nvSpPr>
          <p:cNvPr id="19" name="Text 12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2026-09-02T05:57:16Z</dcterms:created>
  <dcterms:modified xsi:type="dcterms:W3CDTF">2026-09-02T05:57:16Z</dcterms:modified>
</cp:coreProperties>
</file>