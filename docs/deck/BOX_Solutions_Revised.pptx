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5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3.png"/><Relationship Id="rId5" Type="http://schemas.openxmlformats.org/officeDocument/2006/relationships/image" Target="../media/image-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3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3.png"/><Relationship Id="rId6" Type="http://schemas.openxmlformats.org/officeDocument/2006/relationships/image" Target="../media/image-4-6.png"/><Relationship Id="rId7" Type="http://schemas.openxmlformats.org/officeDocument/2006/relationships/image" Target="../media/image-4-3.png"/><Relationship Id="rId8" Type="http://schemas.openxmlformats.org/officeDocument/2006/relationships/image" Target="../media/image-4-8.png"/><Relationship Id="rId9" Type="http://schemas.openxmlformats.org/officeDocument/2006/relationships/image" Target="../media/image-4-3.png"/><Relationship Id="rId10" Type="http://schemas.openxmlformats.org/officeDocument/2006/relationships/image" Target="../media/image-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3.png"/><Relationship Id="rId5" Type="http://schemas.openxmlformats.org/officeDocument/2006/relationships/image" Target="../media/image-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2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2.png"/><Relationship Id="rId9" Type="http://schemas.openxmlformats.org/officeDocument/2006/relationships/image" Target="../media/image-15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3.png"/><Relationship Id="rId5" Type="http://schemas.openxmlformats.org/officeDocument/2006/relationships/image" Target="../media/image-2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logo_automatu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420" y="657860"/>
            <a:ext cx="1779270" cy="42037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054350" y="800100"/>
            <a:ext cx="381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A0C6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with</a:t>
            </a:r>
            <a:endParaRPr lang="en-US" sz="1100" dirty="0"/>
          </a:p>
        </p:txBody>
      </p:sp>
      <p:pic>
        <p:nvPicPr>
          <p:cNvPr id="5" name="Image 2" descr="/home/user/barberbook/docs/deck/assets/logo_ob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6940" y="664210"/>
            <a:ext cx="1828800" cy="410210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8077200" y="694690"/>
            <a:ext cx="3547110" cy="347980"/>
          </a:xfrm>
          <a:prstGeom prst="roundRect">
            <a:avLst>
              <a:gd name="adj" fmla="val 49927"/>
            </a:avLst>
          </a:prstGeom>
          <a:solidFill>
            <a:srgbClr val="B4432F"/>
          </a:solidFill>
          <a:ln/>
        </p:spPr>
      </p:sp>
      <p:sp>
        <p:nvSpPr>
          <p:cNvPr id="7" name="Text 2"/>
          <p:cNvSpPr txBox="1"/>
          <p:nvPr/>
        </p:nvSpPr>
        <p:spPr>
          <a:xfrm>
            <a:off x="8077200" y="787400"/>
            <a:ext cx="354711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9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OBP AND AUTOMATUM ONLY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57860" y="22606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4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AUTOMATUM X OBP</a:t>
            </a:r>
            <a:endParaRPr lang="en-US" sz="1250" dirty="0"/>
          </a:p>
        </p:txBody>
      </p:sp>
      <p:sp>
        <p:nvSpPr>
          <p:cNvPr id="9" name="Text 4"/>
          <p:cNvSpPr txBox="1"/>
          <p:nvPr/>
        </p:nvSpPr>
        <p:spPr>
          <a:xfrm>
            <a:off x="657860" y="2768600"/>
            <a:ext cx="8890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AWS listing is not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AWS business.</a:t>
            </a:r>
            <a:endParaRPr lang="en-US" sz="4400" dirty="0"/>
          </a:p>
        </p:txBody>
      </p:sp>
      <p:sp>
        <p:nvSpPr>
          <p:cNvPr id="10" name="Text 5"/>
          <p:cNvSpPr txBox="1"/>
          <p:nvPr/>
        </p:nvSpPr>
        <p:spPr>
          <a:xfrm>
            <a:off x="657860" y="4140200"/>
            <a:ext cx="1016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6D2EA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Four jobs stand between the two. One fixed-fee project and three twelve-month retainers —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6D2EA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internal side-by-side view, for OBP and Automatum.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657860" y="4851400"/>
            <a:ext cx="1054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 leads the solution and owns the listed software</a:t>
            </a:r>
            <a:pPr indent="0" marL="0">
              <a:buNone/>
            </a:pPr>
            <a:r>
              <a:rPr lang="en-US" sz="1050" b="1" dirty="0">
                <a:solidFill>
                  <a:srgbClr val="6C7B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</a:t>
            </a:r>
            <a:pPr indent="0" marL="0">
              <a:buNone/>
            </a:pPr>
            <a:r>
              <a:rPr lang="en-US" sz="105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 delivers the engagement</a:t>
            </a:r>
            <a:pPr indent="0" marL="0">
              <a:buNone/>
            </a:pPr>
            <a:r>
              <a:rPr lang="en-US" sz="1050" b="1" dirty="0">
                <a:solidFill>
                  <a:srgbClr val="6C7B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</a:t>
            </a:r>
            <a:pPr indent="0" marL="0">
              <a:buNone/>
            </a:pPr>
            <a:r>
              <a:rPr lang="en-US" sz="105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 is seller of record</a:t>
            </a:r>
            <a:endParaRPr lang="en-US" sz="1050" dirty="0"/>
          </a:p>
        </p:txBody>
      </p:sp>
      <p:pic>
        <p:nvPicPr>
          <p:cNvPr id="12" name="Image 3" descr="/home/user/barberbook/docs/deck/assets/tile_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420" y="5232400"/>
            <a:ext cx="603250" cy="603250"/>
          </a:xfrm>
          <a:prstGeom prst="rect">
            <a:avLst/>
          </a:prstGeom>
        </p:spPr>
      </p:pic>
      <p:pic>
        <p:nvPicPr>
          <p:cNvPr id="13" name="Image 4" descr="/home/user/barberbook/docs/deck/assets/tile_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200" y="5377180"/>
            <a:ext cx="313690" cy="31369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566420" y="5943600"/>
            <a:ext cx="114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Four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solutions</a:t>
            </a:r>
            <a:endParaRPr lang="en-US" sz="1000" dirty="0"/>
          </a:p>
        </p:txBody>
      </p:sp>
      <p:pic>
        <p:nvPicPr>
          <p:cNvPr id="15" name="Image 5" descr="/home/user/barberbook/docs/deck/assets/tile_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11020" y="5232400"/>
            <a:ext cx="603250" cy="603250"/>
          </a:xfrm>
          <a:prstGeom prst="rect">
            <a:avLst/>
          </a:prstGeom>
        </p:spPr>
      </p:pic>
      <p:pic>
        <p:nvPicPr>
          <p:cNvPr id="16" name="Image 6" descr="/home/user/barberbook/docs/deck/assets/tile_b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55800" y="5377180"/>
            <a:ext cx="313690" cy="313690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1811020" y="5943600"/>
            <a:ext cx="114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platform</a:t>
            </a:r>
            <a:endParaRPr lang="en-US" sz="1000" dirty="0"/>
          </a:p>
        </p:txBody>
      </p:sp>
      <p:pic>
        <p:nvPicPr>
          <p:cNvPr id="18" name="Image 7" descr="/home/user/barberbook/docs/deck/assets/tile_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55620" y="5232400"/>
            <a:ext cx="603250" cy="603250"/>
          </a:xfrm>
          <a:prstGeom prst="rect">
            <a:avLst/>
          </a:prstGeom>
        </p:spPr>
      </p:pic>
      <p:pic>
        <p:nvPicPr>
          <p:cNvPr id="19" name="Image 8" descr="/home/user/barberbook/docs/deck/assets/tile_glyph2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00400" y="5377180"/>
            <a:ext cx="313690" cy="313690"/>
          </a:xfrm>
          <a:prstGeom prst="rect">
            <a:avLst/>
          </a:prstGeom>
        </p:spPr>
      </p:pic>
      <p:sp>
        <p:nvSpPr>
          <p:cNvPr id="20" name="Text 9"/>
          <p:cNvSpPr txBox="1"/>
          <p:nvPr/>
        </p:nvSpPr>
        <p:spPr>
          <a:xfrm>
            <a:off x="3055620" y="5943600"/>
            <a:ext cx="114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operator</a:t>
            </a:r>
            <a:endParaRPr lang="en-US" sz="1000" dirty="0"/>
          </a:p>
        </p:txBody>
      </p:sp>
      <p:sp>
        <p:nvSpPr>
          <p:cNvPr id="21" name="Text 10"/>
          <p:cNvSpPr txBox="1"/>
          <p:nvPr/>
        </p:nvSpPr>
        <p:spPr>
          <a:xfrm>
            <a:off x="5461000" y="6070600"/>
            <a:ext cx="4191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FA0C6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Two pricing logics — seniority, and throughput.</a:t>
            </a:r>
            <a:endParaRPr lang="en-US" sz="950" dirty="0"/>
          </a:p>
        </p:txBody>
      </p:sp>
      <p:sp>
        <p:nvSpPr>
          <p:cNvPr id="22" name="Text 11"/>
          <p:cNvSpPr txBox="1"/>
          <p:nvPr/>
        </p:nvSpPr>
        <p:spPr>
          <a:xfrm>
            <a:off x="5461000" y="6273800"/>
            <a:ext cx="4191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FA0C6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Bracketed items are open for decision. None reaches a customer artifact.</a:t>
            </a:r>
            <a:endParaRPr lang="en-US" sz="850" dirty="0"/>
          </a:p>
        </p:txBody>
      </p:sp>
      <p:sp>
        <p:nvSpPr>
          <p:cNvPr id="23" name="Text 12"/>
          <p:cNvSpPr txBox="1"/>
          <p:nvPr/>
        </p:nvSpPr>
        <p:spPr>
          <a:xfrm>
            <a:off x="8890000" y="6464300"/>
            <a:ext cx="262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 Solutions   ·   revised 2026-09-02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AGENDA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parts.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7" name="Text 3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02 / 22</a:t>
            </a:r>
            <a:endParaRPr lang="en-US" sz="900" dirty="0"/>
          </a:p>
        </p:txBody>
      </p:sp>
      <p:pic>
        <p:nvPicPr>
          <p:cNvPr id="8" name="Image 2" descr="/home/user/barberbook/docs/deck/assets/pan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370" y="2477770"/>
            <a:ext cx="3868420" cy="290830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66420" y="2523490"/>
            <a:ext cx="3576320" cy="2651760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102362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portfolio</a:t>
            </a:r>
            <a:endParaRPr lang="en-US" sz="1700" dirty="0"/>
          </a:p>
        </p:txBody>
      </p:sp>
      <p:sp>
        <p:nvSpPr>
          <p:cNvPr id="11" name="Text 6"/>
          <p:cNvSpPr txBox="1"/>
          <p:nvPr/>
        </p:nvSpPr>
        <p:spPr>
          <a:xfrm>
            <a:off x="1023620" y="3175000"/>
            <a:ext cx="2730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850" dirty="0"/>
          </a:p>
        </p:txBody>
      </p:sp>
      <p:sp>
        <p:nvSpPr>
          <p:cNvPr id="12" name="Text 7"/>
          <p:cNvSpPr txBox="1"/>
          <p:nvPr/>
        </p:nvSpPr>
        <p:spPr>
          <a:xfrm>
            <a:off x="1023620" y="3390900"/>
            <a:ext cx="27305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Four jobs, four buyers, one platform.</a:t>
            </a:r>
            <a:endParaRPr lang="en-US" sz="1100" dirty="0"/>
          </a:p>
        </p:txBody>
      </p:sp>
      <p:pic>
        <p:nvPicPr>
          <p:cNvPr id="13" name="Image 3" descr="/home/user/barberbook/docs/deck/assets/pane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1790" y="2477770"/>
            <a:ext cx="3868420" cy="29083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307840" y="2523490"/>
            <a:ext cx="3576320" cy="2651760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/>
        </p:spPr>
      </p:sp>
      <p:sp>
        <p:nvSpPr>
          <p:cNvPr id="15" name="Text 9"/>
          <p:cNvSpPr txBox="1"/>
          <p:nvPr/>
        </p:nvSpPr>
        <p:spPr>
          <a:xfrm>
            <a:off x="476504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four solutions</a:t>
            </a:r>
            <a:endParaRPr lang="en-US" sz="1700" dirty="0"/>
          </a:p>
        </p:txBody>
      </p:sp>
      <p:sp>
        <p:nvSpPr>
          <p:cNvPr id="16" name="Text 10"/>
          <p:cNvSpPr txBox="1"/>
          <p:nvPr/>
        </p:nvSpPr>
        <p:spPr>
          <a:xfrm>
            <a:off x="4765040" y="3175000"/>
            <a:ext cx="2730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850" dirty="0"/>
          </a:p>
        </p:txBody>
      </p:sp>
      <p:sp>
        <p:nvSpPr>
          <p:cNvPr id="17" name="Text 11"/>
          <p:cNvSpPr txBox="1"/>
          <p:nvPr/>
        </p:nvSpPr>
        <p:spPr>
          <a:xfrm>
            <a:off x="4765040" y="3390900"/>
            <a:ext cx="27305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project and the three retainers — each on its own page, each with what we commit and what we target.</a:t>
            </a:r>
            <a:endParaRPr lang="en-US" sz="1100" dirty="0"/>
          </a:p>
        </p:txBody>
      </p:sp>
      <p:pic>
        <p:nvPicPr>
          <p:cNvPr id="18" name="Image 4" descr="/home/user/barberbook/docs/deck/assets/pane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3210" y="2477770"/>
            <a:ext cx="3868420" cy="2908300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8049260" y="2523490"/>
            <a:ext cx="3576320" cy="2651760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/>
        </p:spPr>
      </p:sp>
      <p:sp>
        <p:nvSpPr>
          <p:cNvPr id="20" name="Text 13"/>
          <p:cNvSpPr txBox="1"/>
          <p:nvPr/>
        </p:nvSpPr>
        <p:spPr>
          <a:xfrm>
            <a:off x="850646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machinery</a:t>
            </a:r>
            <a:endParaRPr lang="en-US" sz="1700" dirty="0"/>
          </a:p>
        </p:txBody>
      </p:sp>
      <p:sp>
        <p:nvSpPr>
          <p:cNvPr id="21" name="Text 14"/>
          <p:cNvSpPr txBox="1"/>
          <p:nvPr/>
        </p:nvSpPr>
        <p:spPr>
          <a:xfrm>
            <a:off x="8506460" y="3175000"/>
            <a:ext cx="2730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850" dirty="0"/>
          </a:p>
        </p:txBody>
      </p:sp>
      <p:sp>
        <p:nvSpPr>
          <p:cNvPr id="22" name="Text 15"/>
          <p:cNvSpPr txBox="1"/>
          <p:nvPr/>
        </p:nvSpPr>
        <p:spPr>
          <a:xfrm>
            <a:off x="8506460" y="3390900"/>
            <a:ext cx="27305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Value chain, components, partner economics, the exchange, the sequence, the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divider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57860" y="1905000"/>
            <a:ext cx="508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32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 ONE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657860" y="2349500"/>
            <a:ext cx="889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portfolio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57860" y="3111500"/>
            <a:ext cx="812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D2EA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An AWS listing is not an AWS business. Four jobs stand between the two.</a:t>
            </a:r>
            <a:endParaRPr lang="en-US" sz="1300" dirty="0"/>
          </a:p>
        </p:txBody>
      </p:sp>
      <p:pic>
        <p:nvPicPr>
          <p:cNvPr id="6" name="Image 1" descr="/home/user/barberbook/docs/deck/assets/tile_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860" y="3810000"/>
            <a:ext cx="431800" cy="431800"/>
          </a:xfrm>
          <a:prstGeom prst="rect">
            <a:avLst/>
          </a:prstGeom>
        </p:spPr>
      </p:pic>
      <p:pic>
        <p:nvPicPr>
          <p:cNvPr id="7" name="Image 2" descr="/home/user/barberbook/docs/deck/assets/tile_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914140"/>
            <a:ext cx="224790" cy="22479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578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Portfolio</a:t>
            </a:r>
            <a:endParaRPr lang="en-US" sz="1000" dirty="0"/>
          </a:p>
        </p:txBody>
      </p:sp>
      <p:pic>
        <p:nvPicPr>
          <p:cNvPr id="9" name="Image 3" descr="/home/user/barberbook/docs/deck/assets/tile_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7260" y="3810000"/>
            <a:ext cx="431800" cy="431800"/>
          </a:xfrm>
          <a:prstGeom prst="rect">
            <a:avLst/>
          </a:prstGeom>
        </p:spPr>
      </p:pic>
      <p:pic>
        <p:nvPicPr>
          <p:cNvPr id="10" name="Image 4" descr="/home/user/barberbook/docs/deck/assets/tile_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1400" y="3914140"/>
            <a:ext cx="224790" cy="224790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22072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Buyers</a:t>
            </a:r>
            <a:endParaRPr lang="en-US" sz="1000" dirty="0"/>
          </a:p>
        </p:txBody>
      </p:sp>
      <p:pic>
        <p:nvPicPr>
          <p:cNvPr id="12" name="Image 5" descr="/home/user/barberbook/docs/deck/assets/tile_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56660" y="3810000"/>
            <a:ext cx="431800" cy="431800"/>
          </a:xfrm>
          <a:prstGeom prst="rect">
            <a:avLst/>
          </a:prstGeom>
        </p:spPr>
      </p:pic>
      <p:pic>
        <p:nvPicPr>
          <p:cNvPr id="13" name="Image 6" descr="/home/user/barberbook/docs/deck/assets/tile_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60800" y="3914140"/>
            <a:ext cx="224790" cy="224790"/>
          </a:xfrm>
          <a:prstGeom prst="rect">
            <a:avLst/>
          </a:prstGeom>
        </p:spPr>
      </p:pic>
      <p:sp>
        <p:nvSpPr>
          <p:cNvPr id="14" name="Text 5"/>
          <p:cNvSpPr txBox="1"/>
          <p:nvPr/>
        </p:nvSpPr>
        <p:spPr>
          <a:xfrm>
            <a:off x="37566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Ladder</a:t>
            </a:r>
            <a:endParaRPr lang="en-US" sz="1000" dirty="0"/>
          </a:p>
        </p:txBody>
      </p:sp>
      <p:sp>
        <p:nvSpPr>
          <p:cNvPr id="15" name="Text 6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6D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6C7B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16" name="Text 7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03 / 22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THESIS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places AWS revenue stalls.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Getting listed, running the partnership, operating the Marketplace, building the channel. One operator for all four.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04 / 22</a:t>
            </a:r>
            <a:endParaRPr lang="en-US" sz="900" dirty="0"/>
          </a:p>
        </p:txBody>
      </p:sp>
      <p:pic>
        <p:nvPicPr>
          <p:cNvPr id="9" name="Image 2" descr="/home/user/barberbook/docs/deck/assets/pan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370" y="2426970"/>
            <a:ext cx="2933700" cy="290830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66420" y="2472690"/>
            <a:ext cx="2641600" cy="2651760"/>
          </a:xfrm>
          <a:prstGeom prst="roundRect">
            <a:avLst>
              <a:gd name="adj" fmla="val 1731"/>
            </a:avLst>
          </a:prstGeom>
          <a:solidFill>
            <a:srgbClr val="FFFFFF"/>
          </a:solidFill>
          <a:ln/>
        </p:spPr>
      </p:sp>
      <p:pic>
        <p:nvPicPr>
          <p:cNvPr id="11" name="Image 3" descr="/home/user/barberbook/docs/deck/assets/icon_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720" y="2730500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023620" y="3149600"/>
            <a:ext cx="1905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 a product qualified and listed on AWS Marketplace.</a:t>
            </a:r>
            <a:endParaRPr lang="en-US" sz="1200" dirty="0"/>
          </a:p>
        </p:txBody>
      </p:sp>
      <p:sp>
        <p:nvSpPr>
          <p:cNvPr id="13" name="Text 7"/>
          <p:cNvSpPr txBox="1"/>
          <p:nvPr/>
        </p:nvSpPr>
        <p:spPr>
          <a:xfrm>
            <a:off x="1023620" y="3708400"/>
            <a:ext cx="1905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fixed-fee project: from unassessed to a published, transacting listing in 14 to 18 business days of delivery.</a:t>
            </a:r>
            <a:endParaRPr lang="en-US" sz="900" dirty="0"/>
          </a:p>
        </p:txBody>
      </p:sp>
      <p:pic>
        <p:nvPicPr>
          <p:cNvPr id="14" name="Image 4" descr="/home/user/barberbook/docs/deck/assets/pane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27070" y="2426970"/>
            <a:ext cx="2933700" cy="2908300"/>
          </a:xfrm>
          <a:prstGeom prst="rect">
            <a:avLst/>
          </a:prstGeom>
        </p:spPr>
      </p:pic>
      <p:sp>
        <p:nvSpPr>
          <p:cNvPr id="15" name="Shape 8"/>
          <p:cNvSpPr/>
          <p:nvPr/>
        </p:nvSpPr>
        <p:spPr>
          <a:xfrm>
            <a:off x="3373120" y="2472690"/>
            <a:ext cx="2641600" cy="2651760"/>
          </a:xfrm>
          <a:prstGeom prst="roundRect">
            <a:avLst>
              <a:gd name="adj" fmla="val 1731"/>
            </a:avLst>
          </a:prstGeom>
          <a:solidFill>
            <a:srgbClr val="FFFFFF"/>
          </a:solidFill>
          <a:ln/>
        </p:spPr>
      </p:sp>
      <p:pic>
        <p:nvPicPr>
          <p:cNvPr id="16" name="Image 5" descr="/home/user/barberbook/docs/deck/assets/icon_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41420" y="2730500"/>
            <a:ext cx="274320" cy="27432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3830320" y="3149600"/>
            <a:ext cx="1905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 a named owner on the AWS partnership.</a:t>
            </a:r>
            <a:endParaRPr lang="en-US" sz="1200" dirty="0"/>
          </a:p>
        </p:txBody>
      </p:sp>
      <p:sp>
        <p:nvSpPr>
          <p:cNvPr id="18" name="Text 10"/>
          <p:cNvSpPr txBox="1"/>
          <p:nvPr/>
        </p:nvSpPr>
        <p:spPr>
          <a:xfrm>
            <a:off x="3830320" y="3708400"/>
            <a:ext cx="1905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 as the ISV’s Director of Alliances for twelve months — a named owner at [N] hours a month, [N] partnership reviews and [N] quarterly AWS plans across the term — across three strictly additive tiers.</a:t>
            </a:r>
            <a:endParaRPr lang="en-US" sz="900" dirty="0"/>
          </a:p>
        </p:txBody>
      </p:sp>
      <p:pic>
        <p:nvPicPr>
          <p:cNvPr id="19" name="Image 6" descr="/home/user/barberbook/docs/deck/assets/panel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33770" y="2426970"/>
            <a:ext cx="2933700" cy="2908300"/>
          </a:xfrm>
          <a:prstGeom prst="rect">
            <a:avLst/>
          </a:prstGeom>
        </p:spPr>
      </p:pic>
      <p:sp>
        <p:nvSpPr>
          <p:cNvPr id="20" name="Shape 11"/>
          <p:cNvSpPr/>
          <p:nvPr/>
        </p:nvSpPr>
        <p:spPr>
          <a:xfrm>
            <a:off x="6179820" y="2472690"/>
            <a:ext cx="2641600" cy="2651760"/>
          </a:xfrm>
          <a:prstGeom prst="roundRect">
            <a:avLst>
              <a:gd name="adj" fmla="val 1731"/>
            </a:avLst>
          </a:prstGeom>
          <a:solidFill>
            <a:srgbClr val="FFFFFF"/>
          </a:solidFill>
          <a:ln/>
        </p:spPr>
      </p:sp>
      <p:pic>
        <p:nvPicPr>
          <p:cNvPr id="21" name="Image 7" descr="/home/user/barberbook/docs/deck/assets/icon_c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8120" y="2730500"/>
            <a:ext cx="274320" cy="274320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6637020" y="3149600"/>
            <a:ext cx="1905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Operate a live listing at volume.</a:t>
            </a:r>
            <a:endParaRPr lang="en-US" sz="1200" dirty="0"/>
          </a:p>
        </p:txBody>
      </p:sp>
      <p:sp>
        <p:nvSpPr>
          <p:cNvPr id="23" name="Text 13"/>
          <p:cNvSpPr txBox="1"/>
          <p:nvPr/>
        </p:nvSpPr>
        <p:spPr>
          <a:xfrm>
            <a:off x="6637020" y="3708400"/>
            <a:ext cx="1905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Nine services in three groups — compliance engineering, listing engineering, the offer desk and reporting — at every tier. Volume, turnaround and review cadence set the rung. Launch includes the listing work itself.</a:t>
            </a:r>
            <a:endParaRPr lang="en-US" sz="900" dirty="0"/>
          </a:p>
        </p:txBody>
      </p:sp>
      <p:pic>
        <p:nvPicPr>
          <p:cNvPr id="24" name="Image 8" descr="/home/user/barberbook/docs/deck/assets/panel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40470" y="2426970"/>
            <a:ext cx="2933700" cy="2908300"/>
          </a:xfrm>
          <a:prstGeom prst="rect">
            <a:avLst/>
          </a:prstGeom>
        </p:spPr>
      </p:pic>
      <p:sp>
        <p:nvSpPr>
          <p:cNvPr id="25" name="Shape 14"/>
          <p:cNvSpPr/>
          <p:nvPr/>
        </p:nvSpPr>
        <p:spPr>
          <a:xfrm>
            <a:off x="8986520" y="2472690"/>
            <a:ext cx="2641600" cy="2651760"/>
          </a:xfrm>
          <a:prstGeom prst="roundRect">
            <a:avLst>
              <a:gd name="adj" fmla="val 1731"/>
            </a:avLst>
          </a:prstGeom>
          <a:solidFill>
            <a:srgbClr val="FFFFFF"/>
          </a:solidFill>
          <a:ln/>
        </p:spPr>
      </p:sp>
      <p:pic>
        <p:nvPicPr>
          <p:cNvPr id="26" name="Image 9" descr="/home/user/barberbook/docs/deck/assets/icon_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54820" y="2730500"/>
            <a:ext cx="274320" cy="274320"/>
          </a:xfrm>
          <a:prstGeom prst="rect">
            <a:avLst/>
          </a:prstGeom>
        </p:spPr>
      </p:pic>
      <p:sp>
        <p:nvSpPr>
          <p:cNvPr id="27" name="Text 15"/>
          <p:cNvSpPr txBox="1"/>
          <p:nvPr/>
        </p:nvSpPr>
        <p:spPr>
          <a:xfrm>
            <a:off x="9443720" y="3149600"/>
            <a:ext cx="1905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and run a reseller channel.</a:t>
            </a:r>
            <a:endParaRPr lang="en-US" sz="1200" dirty="0"/>
          </a:p>
        </p:txBody>
      </p:sp>
      <p:sp>
        <p:nvSpPr>
          <p:cNvPr id="28" name="Text 16"/>
          <p:cNvSpPr txBox="1"/>
          <p:nvPr/>
        </p:nvSpPr>
        <p:spPr>
          <a:xfrm>
            <a:off x="9443720" y="3708400"/>
            <a:ext cx="1905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Partners recruited and managed to a committed roster — up to (6), up to (12), or uncapped. Partners issuing offers is the number we report; roster under management is the number we commit.</a:t>
            </a:r>
            <a:endParaRPr lang="en-US" sz="900" dirty="0"/>
          </a:p>
        </p:txBody>
      </p:sp>
      <p:sp>
        <p:nvSpPr>
          <p:cNvPr id="29" name="Shape 17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0" name="Text 18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PRICING LOGICS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Alliances and Partner Development price on seniority: $2,500 / $5,000 / $7,500. Operations prices on throughput: $1,500 / $3,000 / $6,000.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FOUR, NOT ONE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buyers. Four budgets. Four Solution IDs.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Same ladder — different job, different buyer, different cost base. AWS treats them as four.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05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20066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Marketplace Compliance Accelerator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44196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AWS Alliances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8326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Marketplace Operations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92456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Partner Development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657860" y="2667000"/>
            <a:ext cx="121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 SIGNS</a:t>
            </a:r>
            <a:endParaRPr lang="en-US" sz="800" dirty="0"/>
          </a:p>
        </p:txBody>
      </p:sp>
      <p:sp>
        <p:nvSpPr>
          <p:cNvPr id="14" name="Text 10"/>
          <p:cNvSpPr txBox="1"/>
          <p:nvPr/>
        </p:nvSpPr>
        <p:spPr>
          <a:xfrm>
            <a:off x="2006600" y="2667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[CTO / VP Engineering]</a:t>
            </a:r>
            <a:endParaRPr 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4419600" y="2667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[CEO or CRO]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6832600" y="2667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[RevOps / deal desk or COO]</a:t>
            </a:r>
            <a:endParaRPr lang="en-US" sz="850" dirty="0"/>
          </a:p>
        </p:txBody>
      </p:sp>
      <p:sp>
        <p:nvSpPr>
          <p:cNvPr id="17" name="Text 13"/>
          <p:cNvSpPr txBox="1"/>
          <p:nvPr/>
        </p:nvSpPr>
        <p:spPr>
          <a:xfrm>
            <a:off x="9245600" y="2667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[CRO / VP Channel]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657860" y="3048000"/>
            <a:ext cx="1219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IT REPLACES</a:t>
            </a:r>
            <a:endParaRPr lang="en-US" sz="800" dirty="0"/>
          </a:p>
        </p:txBody>
      </p:sp>
      <p:sp>
        <p:nvSpPr>
          <p:cNvPr id="19" name="Text 15"/>
          <p:cNvSpPr txBox="1"/>
          <p:nvPr/>
        </p:nvSpPr>
        <p:spPr>
          <a:xfrm>
            <a:off x="2006600" y="3048000"/>
            <a:ext cx="2235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[N] engineer-weeks on Well-Architected, FTR and seller registration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4419600" y="3048000"/>
            <a:ext cx="2235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Director of Alliances hire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6832600" y="3048000"/>
            <a:ext cx="2235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Marketplace ops / offer-desk hire plus compliance engineering hours</a:t>
            </a:r>
            <a:endParaRPr lang="en-US" sz="850" dirty="0"/>
          </a:p>
        </p:txBody>
      </p:sp>
      <p:sp>
        <p:nvSpPr>
          <p:cNvPr id="22" name="Text 18"/>
          <p:cNvSpPr txBox="1"/>
          <p:nvPr/>
        </p:nvSpPr>
        <p:spPr>
          <a:xfrm>
            <a:off x="9245600" y="3048000"/>
            <a:ext cx="2235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channel manager plus a PRM subscription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657860" y="3683000"/>
            <a:ext cx="121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LISTING BOUNDARY</a:t>
            </a:r>
            <a:endParaRPr lang="en-US" sz="800" dirty="0"/>
          </a:p>
        </p:txBody>
      </p:sp>
      <p:sp>
        <p:nvSpPr>
          <p:cNvPr id="24" name="Text 20"/>
          <p:cNvSpPr txBox="1"/>
          <p:nvPr/>
        </p:nvSpPr>
        <p:spPr>
          <a:xfrm>
            <a:off x="2006600" y="3683000"/>
            <a:ext cx="2235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fixed-fee route to a published listing in 14 to 18 business days, with nothing ongoing</a:t>
            </a:r>
            <a:endParaRPr lang="en-US" sz="850" dirty="0"/>
          </a:p>
        </p:txBody>
      </p:sp>
      <p:sp>
        <p:nvSpPr>
          <p:cNvPr id="25" name="Text 21"/>
          <p:cNvSpPr txBox="1"/>
          <p:nvPr/>
        </p:nvSpPr>
        <p:spPr>
          <a:xfrm>
            <a:off x="4419600" y="3683000"/>
            <a:ext cx="2235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AWS partnership programme and the ISV’s own BOX Program listings — not the Marketplace listing work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6832600" y="3683000"/>
            <a:ext cx="2235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Builds the listing AND operates it for twelve months — Launch includes WAFR, FTR and publication</a:t>
            </a:r>
            <a:endParaRPr lang="en-US" sz="850" dirty="0"/>
          </a:p>
        </p:txBody>
      </p:sp>
      <p:sp>
        <p:nvSpPr>
          <p:cNvPr id="27" name="Text 23"/>
          <p:cNvSpPr txBox="1"/>
          <p:nvPr/>
        </p:nvSpPr>
        <p:spPr>
          <a:xfrm>
            <a:off x="9245600" y="3683000"/>
            <a:ext cx="2235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Third-party sellers — not the customer’s own listing</a:t>
            </a:r>
            <a:endParaRPr lang="en-US" sz="850" dirty="0"/>
          </a:p>
        </p:txBody>
      </p:sp>
      <p:sp>
        <p:nvSpPr>
          <p:cNvPr id="28" name="Text 24"/>
          <p:cNvSpPr txBox="1"/>
          <p:nvPr/>
        </p:nvSpPr>
        <p:spPr>
          <a:xfrm>
            <a:off x="657860" y="4445000"/>
            <a:ext cx="1219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COMPONENT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2006600" y="44450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ASecureCloud</a:t>
            </a:r>
            <a:endParaRPr lang="en-US" sz="850" dirty="0"/>
          </a:p>
        </p:txBody>
      </p:sp>
      <p:sp>
        <p:nvSpPr>
          <p:cNvPr id="30" name="Text 26"/>
          <p:cNvSpPr txBox="1"/>
          <p:nvPr/>
        </p:nvSpPr>
        <p:spPr>
          <a:xfrm>
            <a:off x="4419600" y="44450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[none named — to confirm]</a:t>
            </a:r>
            <a:endParaRPr lang="en-US" sz="850" dirty="0"/>
          </a:p>
        </p:txBody>
      </p:sp>
      <p:sp>
        <p:nvSpPr>
          <p:cNvPr id="31" name="Text 27"/>
          <p:cNvSpPr txBox="1"/>
          <p:nvPr/>
        </p:nvSpPr>
        <p:spPr>
          <a:xfrm>
            <a:off x="6832600" y="44450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[none named — to confirm]</a:t>
            </a:r>
            <a:endParaRPr lang="en-US" sz="850" dirty="0"/>
          </a:p>
        </p:txBody>
      </p:sp>
      <p:sp>
        <p:nvSpPr>
          <p:cNvPr id="32" name="Text 28"/>
          <p:cNvSpPr txBox="1"/>
          <p:nvPr/>
        </p:nvSpPr>
        <p:spPr>
          <a:xfrm>
            <a:off x="9245600" y="44450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Kiflo, resold inside the fee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657860" y="4953000"/>
            <a:ext cx="121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SOLUTION ID</a:t>
            </a:r>
            <a:endParaRPr lang="en-US" sz="800" dirty="0"/>
          </a:p>
        </p:txBody>
      </p:sp>
      <p:sp>
        <p:nvSpPr>
          <p:cNvPr id="34" name="Text 30"/>
          <p:cNvSpPr txBox="1"/>
          <p:nvPr/>
        </p:nvSpPr>
        <p:spPr>
          <a:xfrm>
            <a:off x="2006600" y="4953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Its own, with its own milestone submission</a:t>
            </a:r>
            <a:endParaRPr lang="en-US" sz="850" dirty="0"/>
          </a:p>
        </p:txBody>
      </p:sp>
      <p:sp>
        <p:nvSpPr>
          <p:cNvPr id="35" name="Text 31"/>
          <p:cNvSpPr txBox="1"/>
          <p:nvPr/>
        </p:nvSpPr>
        <p:spPr>
          <a:xfrm>
            <a:off x="4419600" y="4953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Its own</a:t>
            </a:r>
            <a:endParaRPr lang="en-US" sz="850" dirty="0"/>
          </a:p>
        </p:txBody>
      </p:sp>
      <p:sp>
        <p:nvSpPr>
          <p:cNvPr id="36" name="Text 32"/>
          <p:cNvSpPr txBox="1"/>
          <p:nvPr/>
        </p:nvSpPr>
        <p:spPr>
          <a:xfrm>
            <a:off x="6832600" y="4953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Its own</a:t>
            </a:r>
            <a:endParaRPr lang="en-US" sz="850" dirty="0"/>
          </a:p>
        </p:txBody>
      </p:sp>
      <p:sp>
        <p:nvSpPr>
          <p:cNvPr id="37" name="Text 33"/>
          <p:cNvSpPr txBox="1"/>
          <p:nvPr/>
        </p:nvSpPr>
        <p:spPr>
          <a:xfrm>
            <a:off x="9245600" y="4953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Its own</a:t>
            </a:r>
            <a:endParaRPr lang="en-US" sz="850" dirty="0"/>
          </a:p>
        </p:txBody>
      </p:sp>
      <p:sp>
        <p:nvSpPr>
          <p:cNvPr id="38" name="Text 34"/>
          <p:cNvSpPr txBox="1"/>
          <p:nvPr/>
        </p:nvSpPr>
        <p:spPr>
          <a:xfrm>
            <a:off x="657860" y="5435600"/>
            <a:ext cx="635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Buyer profiles to be validated against OBP’s closed and in-flight deals.</a:t>
            </a:r>
            <a:endParaRPr lang="en-US" sz="850" dirty="0"/>
          </a:p>
        </p:txBody>
      </p:sp>
      <p:sp>
        <p:nvSpPr>
          <p:cNvPr id="39" name="Shape 35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CUSTOMER-FACING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Each customer overview and deck names its own solution only.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THE BOX FRAMING WORKS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structure across all four.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 leads the solution and owns the listed software; OBP delivers the engagement. Automatum is seller of record.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06 / 22</a:t>
            </a:r>
            <a:endParaRPr lang="en-US" sz="900" dirty="0"/>
          </a:p>
        </p:txBody>
      </p:sp>
      <p:pic>
        <p:nvPicPr>
          <p:cNvPr id="9" name="Image 2" descr="/home/user/barberbook/docs/deck/assets/pan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370" y="2477770"/>
            <a:ext cx="3868420" cy="290830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66420" y="2523490"/>
            <a:ext cx="3576320" cy="2651760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/>
        </p:spPr>
      </p:sp>
      <p:sp>
        <p:nvSpPr>
          <p:cNvPr id="11" name="Text 6"/>
          <p:cNvSpPr txBox="1"/>
          <p:nvPr/>
        </p:nvSpPr>
        <p:spPr>
          <a:xfrm>
            <a:off x="102362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agreement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023620" y="3175000"/>
            <a:ext cx="2730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Standalone sale. One agreement per Solution ID, no bundle SKU, list price per solution. [Multi-solution discount policy — to decide.] The customer transacts through AWS Marketplace on Automatum’s listing — software on one line, professional services on the other.</a:t>
            </a:r>
            <a:endParaRPr lang="en-US" sz="950" dirty="0"/>
          </a:p>
        </p:txBody>
      </p:sp>
      <p:pic>
        <p:nvPicPr>
          <p:cNvPr id="13" name="Image 3" descr="/home/user/barberbook/docs/deck/assets/pane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1790" y="2477770"/>
            <a:ext cx="3868420" cy="29083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307840" y="2523490"/>
            <a:ext cx="3576320" cy="2651760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/>
        </p:spPr>
      </p:sp>
      <p:sp>
        <p:nvSpPr>
          <p:cNvPr id="15" name="Text 9"/>
          <p:cNvSpPr txBox="1"/>
          <p:nvPr/>
        </p:nvSpPr>
        <p:spPr>
          <a:xfrm>
            <a:off x="476504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software line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4765040" y="3175000"/>
            <a:ext cx="2730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Every solution puts Automatum software on the software line. [Automatum software component — to name, per solution.] Load-bearing for both the four-solutions defence and the revenue split.</a:t>
            </a:r>
            <a:endParaRPr lang="en-US" sz="950" dirty="0"/>
          </a:p>
        </p:txBody>
      </p:sp>
      <p:pic>
        <p:nvPicPr>
          <p:cNvPr id="17" name="Image 4" descr="/home/user/barberbook/docs/deck/assets/pane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3210" y="2477770"/>
            <a:ext cx="3868420" cy="290830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8049260" y="2523490"/>
            <a:ext cx="3576320" cy="2651760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/>
        </p:spPr>
      </p:sp>
      <p:sp>
        <p:nvSpPr>
          <p:cNvPr id="19" name="Text 12"/>
          <p:cNvSpPr txBox="1"/>
          <p:nvPr/>
        </p:nvSpPr>
        <p:spPr>
          <a:xfrm>
            <a:off x="850646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Entry conditions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8506460" y="3175000"/>
            <a:ext cx="2730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Validated or Differentiated held by the lead partner — stated by Automatum, evidence to attach. Solution lists within 12 months. [Clock basis — per Solution ID from entry, or programme-level — to confirm.]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RULE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you can hold us to.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 structure for every rung of every retainer, so the three solutions do not each argue it.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07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657860" y="2540000"/>
            <a:ext cx="19304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657860" y="29210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657860" y="3136900"/>
            <a:ext cx="19304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Only what OBP controls alone: named staffing and hours, cadence, artifacts issued, response times from a stated trigger. Attendance-dependent items are written as OBP’s act.</a:t>
            </a:r>
            <a:endParaRPr lang="en-US" sz="850" dirty="0"/>
          </a:p>
        </p:txBody>
      </p:sp>
      <p:sp>
        <p:nvSpPr>
          <p:cNvPr id="12" name="Text 8"/>
          <p:cNvSpPr txBox="1"/>
          <p:nvPr/>
        </p:nvSpPr>
        <p:spPr>
          <a:xfrm>
            <a:off x="2842260" y="2540000"/>
            <a:ext cx="19304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2842260" y="29210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2842260" y="3136900"/>
            <a:ext cx="19304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Results that depend on the customer’s product, market or sales team, or on AWS. Shown against actuals from month one.</a:t>
            </a:r>
            <a:endParaRPr 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5026660" y="2540000"/>
            <a:ext cx="19304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band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5026660" y="29210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850" dirty="0"/>
          </a:p>
        </p:txBody>
      </p:sp>
      <p:sp>
        <p:nvSpPr>
          <p:cNvPr id="17" name="Text 13"/>
          <p:cNvSpPr txBox="1"/>
          <p:nvPr/>
        </p:nvSpPr>
        <p:spPr>
          <a:xfrm>
            <a:off x="5026660" y="3136900"/>
            <a:ext cx="19304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Every rung carries an included volume and an overflow rate, modelled on the Accelerator’s own convention. No uncapped commitment at a fixed fee.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7211060" y="2540000"/>
            <a:ext cx="19304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customer supplies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7211060" y="30988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7211060" y="3314700"/>
            <a:ext cx="1930400" cy="214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Named counterpart, data, access, approvals, input turnaround. OBP’s clocks run from these being met.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9395460" y="2540000"/>
            <a:ext cx="19304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and remedy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9395460" y="29210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9395460" y="3136900"/>
            <a:ext cx="19304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commit names the artifact that proves it. [Remedy — service credit / make-good / termination right — to decide.] Targets carry no fee adjustment.</a:t>
            </a:r>
            <a:endParaRPr lang="en-US" sz="850" dirty="0"/>
          </a:p>
        </p:txBody>
      </p:sp>
      <p:sp>
        <p:nvSpPr>
          <p:cNvPr id="24" name="Shape 20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LINE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A commitment OBP cannot honour alone is worse than none.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divider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57860" y="1905000"/>
            <a:ext cx="508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32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 TWO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657860" y="2349500"/>
            <a:ext cx="889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four solutions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57860" y="3111500"/>
            <a:ext cx="812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D2EA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stands alone in front of a customer.</a:t>
            </a:r>
            <a:endParaRPr lang="en-US" sz="1300" dirty="0"/>
          </a:p>
        </p:txBody>
      </p:sp>
      <p:pic>
        <p:nvPicPr>
          <p:cNvPr id="6" name="Image 1" descr="/home/user/barberbook/docs/deck/assets/tile_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860" y="3810000"/>
            <a:ext cx="431800" cy="431800"/>
          </a:xfrm>
          <a:prstGeom prst="rect">
            <a:avLst/>
          </a:prstGeom>
        </p:spPr>
      </p:pic>
      <p:pic>
        <p:nvPicPr>
          <p:cNvPr id="7" name="Image 2" descr="/home/user/barberbook/docs/deck/assets/tile_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914140"/>
            <a:ext cx="224790" cy="22479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578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</a:t>
            </a:r>
            <a:endParaRPr lang="en-US" sz="1000" dirty="0"/>
          </a:p>
        </p:txBody>
      </p:sp>
      <p:pic>
        <p:nvPicPr>
          <p:cNvPr id="9" name="Image 3" descr="/home/user/barberbook/docs/deck/assets/tile_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7260" y="3810000"/>
            <a:ext cx="431800" cy="431800"/>
          </a:xfrm>
          <a:prstGeom prst="rect">
            <a:avLst/>
          </a:prstGeom>
        </p:spPr>
      </p:pic>
      <p:pic>
        <p:nvPicPr>
          <p:cNvPr id="10" name="Image 4" descr="/home/user/barberbook/docs/deck/assets/tile_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1400" y="3914140"/>
            <a:ext cx="224790" cy="224790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22072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</a:t>
            </a:r>
            <a:endParaRPr lang="en-US" sz="1000" dirty="0"/>
          </a:p>
        </p:txBody>
      </p:sp>
      <p:pic>
        <p:nvPicPr>
          <p:cNvPr id="12" name="Image 5" descr="/home/user/barberbook/docs/deck/assets/tile_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56660" y="3810000"/>
            <a:ext cx="431800" cy="431800"/>
          </a:xfrm>
          <a:prstGeom prst="rect">
            <a:avLst/>
          </a:prstGeom>
        </p:spPr>
      </p:pic>
      <p:pic>
        <p:nvPicPr>
          <p:cNvPr id="13" name="Image 6" descr="/home/user/barberbook/docs/deck/assets/tile_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60800" y="3914140"/>
            <a:ext cx="224790" cy="224790"/>
          </a:xfrm>
          <a:prstGeom prst="rect">
            <a:avLst/>
          </a:prstGeom>
        </p:spPr>
      </p:pic>
      <p:sp>
        <p:nvSpPr>
          <p:cNvPr id="14" name="Text 5"/>
          <p:cNvSpPr txBox="1"/>
          <p:nvPr/>
        </p:nvSpPr>
        <p:spPr>
          <a:xfrm>
            <a:off x="37566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Operate</a:t>
            </a:r>
            <a:endParaRPr lang="en-US" sz="1000" dirty="0"/>
          </a:p>
        </p:txBody>
      </p:sp>
      <p:pic>
        <p:nvPicPr>
          <p:cNvPr id="15" name="Image 7" descr="/home/user/barberbook/docs/deck/assets/tile_a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06060" y="3810000"/>
            <a:ext cx="431800" cy="431800"/>
          </a:xfrm>
          <a:prstGeom prst="rect">
            <a:avLst/>
          </a:prstGeom>
        </p:spPr>
      </p:pic>
      <p:pic>
        <p:nvPicPr>
          <p:cNvPr id="16" name="Image 8" descr="/home/user/barberbook/docs/deck/assets/tile_b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10200" y="3914140"/>
            <a:ext cx="224790" cy="224790"/>
          </a:xfrm>
          <a:prstGeom prst="rect">
            <a:avLst/>
          </a:prstGeom>
        </p:spPr>
      </p:pic>
      <p:sp>
        <p:nvSpPr>
          <p:cNvPr id="17" name="Text 6"/>
          <p:cNvSpPr txBox="1"/>
          <p:nvPr/>
        </p:nvSpPr>
        <p:spPr>
          <a:xfrm>
            <a:off x="53060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Build</a:t>
            </a:r>
            <a:endParaRPr lang="en-US" sz="1000" dirty="0"/>
          </a:p>
        </p:txBody>
      </p:sp>
      <p:sp>
        <p:nvSpPr>
          <p:cNvPr id="18" name="Text 7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6D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6C7B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19" name="Text 8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08 / 22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FIXED-FEE PROJECT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Marketplace Compliance Accelerator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Get a product qualified and listed on AWS Marketplace.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09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023620" y="2235200"/>
            <a:ext cx="381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engagement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1023620" y="24892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From unassessed to a published, transacting listing in 14 to 18 business days of delivery.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6635750" y="2235200"/>
            <a:ext cx="381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Stands alone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635750" y="24892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Its own overview, its own deck, its own Solution ID and milestone submission.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66420" y="2952750"/>
            <a:ext cx="11055350" cy="330200"/>
          </a:xfrm>
          <a:prstGeom prst="rect">
            <a:avLst/>
          </a:prstGeom>
          <a:solidFill>
            <a:srgbClr val="15224B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749300" y="30226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Term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2857500" y="3022600"/>
            <a:ext cx="8509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it covers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566420" y="36639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7" name="Shape 13"/>
          <p:cNvSpPr/>
          <p:nvPr/>
        </p:nvSpPr>
        <p:spPr>
          <a:xfrm>
            <a:off x="566420" y="43243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8" name="Shape 14"/>
          <p:cNvSpPr/>
          <p:nvPr/>
        </p:nvSpPr>
        <p:spPr>
          <a:xfrm>
            <a:off x="566420" y="49847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9" name="Shape 15"/>
          <p:cNvSpPr/>
          <p:nvPr/>
        </p:nvSpPr>
        <p:spPr>
          <a:xfrm>
            <a:off x="566420" y="56451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49300" y="34036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Fee</a:t>
            </a:r>
            <a:endParaRPr lang="en-US" sz="950" dirty="0"/>
          </a:p>
        </p:txBody>
      </p:sp>
      <p:sp>
        <p:nvSpPr>
          <p:cNvPr id="21" name="Text 17"/>
          <p:cNvSpPr txBox="1"/>
          <p:nvPr/>
        </p:nvSpPr>
        <p:spPr>
          <a:xfrm>
            <a:off x="2857500" y="34036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$10,000 fixed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749300" y="37338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Payment</a:t>
            </a:r>
            <a:endParaRPr lang="en-US" sz="950" dirty="0"/>
          </a:p>
        </p:txBody>
      </p:sp>
      <p:sp>
        <p:nvSpPr>
          <p:cNvPr id="23" name="Text 19"/>
          <p:cNvSpPr txBox="1"/>
          <p:nvPr/>
        </p:nvSpPr>
        <p:spPr>
          <a:xfrm>
            <a:off x="2857500" y="37338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50% on signature, 50% on completion</a:t>
            </a:r>
            <a:endParaRPr lang="en-US" sz="950" dirty="0"/>
          </a:p>
        </p:txBody>
      </p:sp>
      <p:sp>
        <p:nvSpPr>
          <p:cNvPr id="24" name="Text 20"/>
          <p:cNvSpPr txBox="1"/>
          <p:nvPr/>
        </p:nvSpPr>
        <p:spPr>
          <a:xfrm>
            <a:off x="749300" y="40640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Remediation</a:t>
            </a:r>
            <a:endParaRPr lang="en-US" sz="950" dirty="0"/>
          </a:p>
        </p:txBody>
      </p:sp>
      <p:sp>
        <p:nvSpPr>
          <p:cNvPr id="25" name="Text 21"/>
          <p:cNvSpPr txBox="1"/>
          <p:nvPr/>
        </p:nvSpPr>
        <p:spPr>
          <a:xfrm>
            <a:off x="2857500" y="40640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20 hours included; further blocks of 10 hours at $1,000 each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749300" y="43942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950" dirty="0"/>
          </a:p>
        </p:txBody>
      </p:sp>
      <p:sp>
        <p:nvSpPr>
          <p:cNvPr id="27" name="Text 23"/>
          <p:cNvSpPr txBox="1"/>
          <p:nvPr/>
        </p:nvSpPr>
        <p:spPr>
          <a:xfrm>
            <a:off x="2857500" y="43942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14 to 18 business days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749300" y="47244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 supplies / clock start</a:t>
            </a:r>
            <a:endParaRPr lang="en-US" sz="950" dirty="0"/>
          </a:p>
        </p:txBody>
      </p:sp>
      <p:sp>
        <p:nvSpPr>
          <p:cNvPr id="29" name="Text 25"/>
          <p:cNvSpPr txBox="1"/>
          <p:nvPr/>
        </p:nvSpPr>
        <p:spPr>
          <a:xfrm>
            <a:off x="2857500" y="47244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[What starts the clock]; engineering availability for remediation, tax, bank and legal data for seller registration</a:t>
            </a:r>
            <a:endParaRPr lang="en-US" sz="950" dirty="0"/>
          </a:p>
        </p:txBody>
      </p:sp>
      <p:sp>
        <p:nvSpPr>
          <p:cNvPr id="30" name="Text 26"/>
          <p:cNvSpPr txBox="1"/>
          <p:nvPr/>
        </p:nvSpPr>
        <p:spPr>
          <a:xfrm>
            <a:off x="749300" y="50546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target, not commit</a:t>
            </a:r>
            <a:endParaRPr lang="en-US" sz="950" dirty="0"/>
          </a:p>
        </p:txBody>
      </p:sp>
      <p:sp>
        <p:nvSpPr>
          <p:cNvPr id="31" name="Text 27"/>
          <p:cNvSpPr txBox="1"/>
          <p:nvPr/>
        </p:nvSpPr>
        <p:spPr>
          <a:xfrm>
            <a:off x="2857500" y="50546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Publication date — AWS’s review queue and the customer’s product govern it</a:t>
            </a:r>
            <a:endParaRPr lang="en-US" sz="950" dirty="0"/>
          </a:p>
        </p:txBody>
      </p:sp>
      <p:sp>
        <p:nvSpPr>
          <p:cNvPr id="32" name="Text 28"/>
          <p:cNvSpPr txBox="1"/>
          <p:nvPr/>
        </p:nvSpPr>
        <p:spPr>
          <a:xfrm>
            <a:off x="749300" y="53848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included</a:t>
            </a:r>
            <a:endParaRPr lang="en-US" sz="950" dirty="0"/>
          </a:p>
        </p:txBody>
      </p:sp>
      <p:sp>
        <p:nvSpPr>
          <p:cNvPr id="33" name="Text 29"/>
          <p:cNvSpPr txBox="1"/>
          <p:nvPr/>
        </p:nvSpPr>
        <p:spPr>
          <a:xfrm>
            <a:off x="2857500" y="53848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Ongoing operation of the listing — that is Managed Marketplace Operations</a:t>
            </a:r>
            <a:endParaRPr lang="en-US" sz="950" dirty="0"/>
          </a:p>
        </p:txBody>
      </p:sp>
      <p:sp>
        <p:nvSpPr>
          <p:cNvPr id="34" name="Text 30"/>
          <p:cNvSpPr txBox="1"/>
          <p:nvPr/>
        </p:nvSpPr>
        <p:spPr>
          <a:xfrm>
            <a:off x="749300" y="57150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buy it standalone</a:t>
            </a:r>
            <a:endParaRPr lang="en-US" sz="950" dirty="0"/>
          </a:p>
        </p:txBody>
      </p:sp>
      <p:sp>
        <p:nvSpPr>
          <p:cNvPr id="35" name="Text 31"/>
          <p:cNvSpPr txBox="1"/>
          <p:nvPr/>
        </p:nvSpPr>
        <p:spPr>
          <a:xfrm>
            <a:off x="2857500" y="57150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Managed Marketplace Operations Launch covers the same listing work inside a twelve-month retainer. This is the route to a published listing in 14 to 18 business days with no ongoing commitment.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RETAINERS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retainers, two pricing logics.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Alliances and Partner Development price on seniority — the person on the account. Operations prices on throughput — the same rate per included offer at every rung.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10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4042410" y="2540000"/>
            <a:ext cx="241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ENTRY RUNG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6630670" y="2540000"/>
            <a:ext cx="241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MIDDLE RUNG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9218930" y="2540000"/>
            <a:ext cx="241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RUNG</a:t>
            </a:r>
            <a:endParaRPr lang="en-US" sz="850" dirty="0"/>
          </a:p>
        </p:txBody>
      </p:sp>
      <p:sp>
        <p:nvSpPr>
          <p:cNvPr id="12" name="Text 8"/>
          <p:cNvSpPr txBox="1"/>
          <p:nvPr/>
        </p:nvSpPr>
        <p:spPr>
          <a:xfrm>
            <a:off x="749300" y="2895600"/>
            <a:ext cx="317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AWS Alliances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749300" y="3162300"/>
            <a:ext cx="3175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[CEO or CRO] · priced on seniority</a:t>
            </a:r>
            <a:endParaRPr lang="en-US" sz="800" dirty="0"/>
          </a:p>
        </p:txBody>
      </p:sp>
      <p:sp>
        <p:nvSpPr>
          <p:cNvPr id="14" name="Text 10"/>
          <p:cNvSpPr txBox="1"/>
          <p:nvPr/>
        </p:nvSpPr>
        <p:spPr>
          <a:xfrm>
            <a:off x="4042410" y="2895600"/>
            <a:ext cx="241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$2,500 / mo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4042410" y="3098800"/>
            <a:ext cx="241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Essentials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4042410" y="3289300"/>
            <a:ext cx="2413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stand the partnership up</a:t>
            </a:r>
            <a:endParaRPr lang="en-US" sz="850" dirty="0"/>
          </a:p>
        </p:txBody>
      </p:sp>
      <p:sp>
        <p:nvSpPr>
          <p:cNvPr id="17" name="Text 13"/>
          <p:cNvSpPr txBox="1"/>
          <p:nvPr/>
        </p:nvSpPr>
        <p:spPr>
          <a:xfrm>
            <a:off x="6630670" y="2895600"/>
            <a:ext cx="241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 / mo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6630670" y="3098800"/>
            <a:ext cx="241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Growth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6630670" y="3289300"/>
            <a:ext cx="2413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scale the programs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9218930" y="2895600"/>
            <a:ext cx="241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 / mo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9218930" y="3098800"/>
            <a:ext cx="241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Professional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9218930" y="3289300"/>
            <a:ext cx="2413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open the AWS field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749300" y="3860800"/>
            <a:ext cx="317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Marketplace Operations</a:t>
            </a:r>
            <a:endParaRPr lang="en-US" sz="1150" dirty="0"/>
          </a:p>
        </p:txBody>
      </p:sp>
      <p:sp>
        <p:nvSpPr>
          <p:cNvPr id="24" name="Text 20"/>
          <p:cNvSpPr txBox="1"/>
          <p:nvPr/>
        </p:nvSpPr>
        <p:spPr>
          <a:xfrm>
            <a:off x="749300" y="4127500"/>
            <a:ext cx="3175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[RevOps / deal desk] · priced on throughput</a:t>
            </a:r>
            <a:endParaRPr lang="en-US" sz="800" dirty="0"/>
          </a:p>
        </p:txBody>
      </p:sp>
      <p:sp>
        <p:nvSpPr>
          <p:cNvPr id="25" name="Text 21"/>
          <p:cNvSpPr txBox="1"/>
          <p:nvPr/>
        </p:nvSpPr>
        <p:spPr>
          <a:xfrm>
            <a:off x="4042410" y="3860800"/>
            <a:ext cx="241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$1,500 / mo</a:t>
            </a:r>
            <a:endParaRPr lang="en-US" sz="1150" dirty="0"/>
          </a:p>
        </p:txBody>
      </p:sp>
      <p:sp>
        <p:nvSpPr>
          <p:cNvPr id="26" name="Text 22"/>
          <p:cNvSpPr txBox="1"/>
          <p:nvPr/>
        </p:nvSpPr>
        <p:spPr>
          <a:xfrm>
            <a:off x="4042410" y="4064000"/>
            <a:ext cx="241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4042410" y="4254500"/>
            <a:ext cx="2413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build, publish and transact</a:t>
            </a:r>
            <a:endParaRPr lang="en-US" sz="850" dirty="0"/>
          </a:p>
        </p:txBody>
      </p:sp>
      <p:sp>
        <p:nvSpPr>
          <p:cNvPr id="28" name="Text 24"/>
          <p:cNvSpPr txBox="1"/>
          <p:nvPr/>
        </p:nvSpPr>
        <p:spPr>
          <a:xfrm>
            <a:off x="6630670" y="3860800"/>
            <a:ext cx="241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 / mo</a:t>
            </a:r>
            <a:endParaRPr lang="en-US" sz="1150" dirty="0"/>
          </a:p>
        </p:txBody>
      </p:sp>
      <p:sp>
        <p:nvSpPr>
          <p:cNvPr id="29" name="Text 25"/>
          <p:cNvSpPr txBox="1"/>
          <p:nvPr/>
        </p:nvSpPr>
        <p:spPr>
          <a:xfrm>
            <a:off x="6630670" y="4064000"/>
            <a:ext cx="241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Operate</a:t>
            </a:r>
            <a:endParaRPr lang="en-US" sz="1000" dirty="0"/>
          </a:p>
        </p:txBody>
      </p:sp>
      <p:sp>
        <p:nvSpPr>
          <p:cNvPr id="30" name="Text 26"/>
          <p:cNvSpPr txBox="1"/>
          <p:nvPr/>
        </p:nvSpPr>
        <p:spPr>
          <a:xfrm>
            <a:off x="6630670" y="4254500"/>
            <a:ext cx="2413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same nine services, deeper band</a:t>
            </a:r>
            <a:endParaRPr lang="en-US" sz="850" dirty="0"/>
          </a:p>
        </p:txBody>
      </p:sp>
      <p:sp>
        <p:nvSpPr>
          <p:cNvPr id="31" name="Text 27"/>
          <p:cNvSpPr txBox="1"/>
          <p:nvPr/>
        </p:nvSpPr>
        <p:spPr>
          <a:xfrm>
            <a:off x="9218930" y="3860800"/>
            <a:ext cx="241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$6,000 / mo</a:t>
            </a:r>
            <a:endParaRPr lang="en-US" sz="1150" dirty="0"/>
          </a:p>
        </p:txBody>
      </p:sp>
      <p:sp>
        <p:nvSpPr>
          <p:cNvPr id="32" name="Text 28"/>
          <p:cNvSpPr txBox="1"/>
          <p:nvPr/>
        </p:nvSpPr>
        <p:spPr>
          <a:xfrm>
            <a:off x="9218930" y="4064000"/>
            <a:ext cx="241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Scale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9218930" y="4254500"/>
            <a:ext cx="2413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same nine services, top band</a:t>
            </a: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749300" y="4826000"/>
            <a:ext cx="317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Partner Development</a:t>
            </a:r>
            <a:endParaRPr lang="en-US" sz="1150" dirty="0"/>
          </a:p>
        </p:txBody>
      </p:sp>
      <p:sp>
        <p:nvSpPr>
          <p:cNvPr id="35" name="Text 31"/>
          <p:cNvSpPr txBox="1"/>
          <p:nvPr/>
        </p:nvSpPr>
        <p:spPr>
          <a:xfrm>
            <a:off x="749300" y="5092700"/>
            <a:ext cx="3175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[CRO / VP Channel] · priced on seniority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4042410" y="4826000"/>
            <a:ext cx="241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$2,500 / mo</a:t>
            </a:r>
            <a:endParaRPr lang="en-US" sz="1150" dirty="0"/>
          </a:p>
        </p:txBody>
      </p:sp>
      <p:sp>
        <p:nvSpPr>
          <p:cNvPr id="37" name="Text 33"/>
          <p:cNvSpPr txBox="1"/>
          <p:nvPr/>
        </p:nvSpPr>
        <p:spPr>
          <a:xfrm>
            <a:off x="4042410" y="5029200"/>
            <a:ext cx="241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4042410" y="5219700"/>
            <a:ext cx="2413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up to (6) partners managed</a:t>
            </a:r>
            <a:endParaRPr lang="en-US" sz="850" dirty="0"/>
          </a:p>
        </p:txBody>
      </p:sp>
      <p:sp>
        <p:nvSpPr>
          <p:cNvPr id="39" name="Text 35"/>
          <p:cNvSpPr txBox="1"/>
          <p:nvPr/>
        </p:nvSpPr>
        <p:spPr>
          <a:xfrm>
            <a:off x="6630670" y="4826000"/>
            <a:ext cx="241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 / mo</a:t>
            </a:r>
            <a:endParaRPr lang="en-US" sz="1150" dirty="0"/>
          </a:p>
        </p:txBody>
      </p:sp>
      <p:sp>
        <p:nvSpPr>
          <p:cNvPr id="40" name="Text 36"/>
          <p:cNvSpPr txBox="1"/>
          <p:nvPr/>
        </p:nvSpPr>
        <p:spPr>
          <a:xfrm>
            <a:off x="6630670" y="5029200"/>
            <a:ext cx="241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Expand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6630670" y="5219700"/>
            <a:ext cx="2413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up to (12) partners managed</a:t>
            </a:r>
            <a:endParaRPr lang="en-US" sz="850" dirty="0"/>
          </a:p>
        </p:txBody>
      </p:sp>
      <p:sp>
        <p:nvSpPr>
          <p:cNvPr id="42" name="Text 38"/>
          <p:cNvSpPr txBox="1"/>
          <p:nvPr/>
        </p:nvSpPr>
        <p:spPr>
          <a:xfrm>
            <a:off x="9218930" y="4826000"/>
            <a:ext cx="241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 / mo</a:t>
            </a:r>
            <a:endParaRPr lang="en-US" sz="1150" dirty="0"/>
          </a:p>
        </p:txBody>
      </p:sp>
      <p:sp>
        <p:nvSpPr>
          <p:cNvPr id="43" name="Text 39"/>
          <p:cNvSpPr txBox="1"/>
          <p:nvPr/>
        </p:nvSpPr>
        <p:spPr>
          <a:xfrm>
            <a:off x="9218930" y="5029200"/>
            <a:ext cx="241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Accelerate</a:t>
            </a:r>
            <a:endParaRPr lang="en-US" sz="1000" dirty="0"/>
          </a:p>
        </p:txBody>
      </p:sp>
      <p:sp>
        <p:nvSpPr>
          <p:cNvPr id="44" name="Text 40"/>
          <p:cNvSpPr txBox="1"/>
          <p:nvPr/>
        </p:nvSpPr>
        <p:spPr>
          <a:xfrm>
            <a:off x="9218930" y="5219700"/>
            <a:ext cx="2413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roster uncapped</a:t>
            </a:r>
            <a:endParaRPr lang="en-US" sz="850" dirty="0"/>
          </a:p>
        </p:txBody>
      </p:sp>
      <p:sp>
        <p:nvSpPr>
          <p:cNvPr id="45" name="Shape 41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46" name="Text 42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STANDS ALONE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Each solution keeps its own overview, deck, Solution ID and milestone submission. Two of the three share a ladder; Operations prices to its own band.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RETAINER · TWELVE MONTHS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AWS Alliances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Put a named owner on the AWS partnership, and drive the ISV’s own AWS program progression. Three strictly additive tiers.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11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657860" y="2019300"/>
            <a:ext cx="1087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36F20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ENTRY CONDITION — the ISV holds the partner stage each program requires. [Marketplace listing as a prerequisite — to confirm.]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657860" y="2247900"/>
            <a:ext cx="10871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   </a:t>
            </a:r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named Director of Alliances at [N] hours a month with a named backup, [N] partnership reviews and [N] quarterly AWS plans delivered, and every application, event, check and artifact below prepared, filed or run.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657860" y="2628900"/>
            <a:ext cx="10871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   </a:t>
            </a:r>
            <a:pPr indent="0" marL="0">
              <a:buNone/>
            </a:pPr>
            <a:r>
              <a:rPr lang="en-US" sz="9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ISV Accelerate and Competency acceptance, MDF availability, BOX Program listings approved, and AWS-sourced leads — all AWS’s decisions.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6578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Essentials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$2,500 / mo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6578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Stand the partnership up.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6578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6578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Named alliance lead at [N] hours a month, with a named backup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 partnership review held and minuted; action log within [N] business days, and a quarterly AWS partnership plan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ISV Accelerate, Competency and MDF applications prepared and filed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 BOX Program listing submission prepared and filed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AWS-facing marketing support produced: 1-pagers, solution decks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6578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17" name="Text 13"/>
          <p:cNvSpPr txBox="1"/>
          <p:nvPr/>
        </p:nvSpPr>
        <p:spPr>
          <a:xfrm>
            <a:off x="6578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ISV-A acceptance — unlocking up to 25k in MDF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(1) Competency acceptance — unlocking up to 50k in MDF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(1) BOX Program listing — unlocking 35k in AWS credits, 35k in cash and 55 leads via a sponsored AWS marketing campaign</a:t>
            </a:r>
            <a:endParaRPr lang="en-US" sz="780" dirty="0"/>
          </a:p>
        </p:txBody>
      </p:sp>
      <p:sp>
        <p:nvSpPr>
          <p:cNvPr id="18" name="Text 14"/>
          <p:cNvSpPr txBox="1"/>
          <p:nvPr/>
        </p:nvSpPr>
        <p:spPr>
          <a:xfrm>
            <a:off x="43916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Growth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$5,000 / mo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3916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Adds to Essentials — scale the programs.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43916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43916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Quarterly events organised and run: Lunch &amp; Learn, Immersion Day, Meet-Up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Weekly ACE hygiene checks, with exceptions written back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Funding applications prepared and filed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Up to (3) Competency and (3) BOX Program listing submissions prepared and filed</a:t>
            </a:r>
            <a:endParaRPr lang="en-US" sz="750" dirty="0"/>
          </a:p>
        </p:txBody>
      </p:sp>
      <p:sp>
        <p:nvSpPr>
          <p:cNvPr id="22" name="Text 18"/>
          <p:cNvSpPr txBox="1"/>
          <p:nvPr/>
        </p:nvSpPr>
        <p:spPr>
          <a:xfrm>
            <a:off x="43916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3" name="Text 19"/>
          <p:cNvSpPr txBox="1"/>
          <p:nvPr/>
        </p:nvSpPr>
        <p:spPr>
          <a:xfrm>
            <a:off x="43916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ISV-A acceptance, and up to (3) Competency acceptances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Up to (3) BOX Program listings approved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55+ leads via sponsored AWS marketing campaigns</a:t>
            </a:r>
            <a:endParaRPr lang="en-US" sz="780" dirty="0"/>
          </a:p>
        </p:txBody>
      </p:sp>
      <p:sp>
        <p:nvSpPr>
          <p:cNvPr id="24" name="Text 20"/>
          <p:cNvSpPr txBox="1"/>
          <p:nvPr/>
        </p:nvSpPr>
        <p:spPr>
          <a:xfrm>
            <a:off x="81254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Professional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$7,500 / mo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81254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Adds to Growth — open the AWS field.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81254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81254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Applications prepared and filed across all applicable Competency programs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BOX Program listing submissions filed with no cap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(4) Account Executive and (2) Partner Sales Manager introductions made and logged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(1) Segment Leader introduction made and logged</a:t>
            </a:r>
            <a:endParaRPr lang="en-US" sz="750" dirty="0"/>
          </a:p>
        </p:txBody>
      </p:sp>
      <p:sp>
        <p:nvSpPr>
          <p:cNvPr id="28" name="Text 24"/>
          <p:cNvSpPr txBox="1"/>
          <p:nvPr/>
        </p:nvSpPr>
        <p:spPr>
          <a:xfrm>
            <a:off x="81254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81254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Acceptance across all applicable Competency programs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Listings uncapped, subject to AWS approval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Meetings held and opportunities sourced from the introductions</a:t>
            </a:r>
            <a:endParaRPr lang="en-US" sz="780" dirty="0"/>
          </a:p>
        </p:txBody>
      </p:sp>
      <p:sp>
        <p:nvSpPr>
          <p:cNvPr id="30" name="Shape 26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The ISV’s OWN BOX Program benefits, which this retainer drives them toward — separate from the four Automatum × OBP solutions and their milestones. [“BOX Program listing” to be defined; it is not the Accelerator’s Marketplace listing.]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RETAINER · TWELVE MONTHS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Marketplace Operations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Get a listing live and operate it at volume. All nine services at every rung, priced to the included offer band — the same rate per offer at each.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12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657860" y="2019300"/>
            <a:ext cx="1087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36F20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ENTRY CONDITION — none. Launch includes the listing work; the Accelerator remains the fixed-fee route to the same listing in 14 to 18 business days.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657860" y="2247900"/>
            <a:ext cx="10871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   </a:t>
            </a:r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named operations owner who takes the product through Well-Architected review, FTR and publication, then runs the offer desk to the band bought, with listing changes inside the rung’s turnaround and a monthly report on offers, Marketplace revenue and listing health.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657860" y="2628900"/>
            <a:ext cx="10871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   </a:t>
            </a:r>
            <a:pPr indent="0" marL="0">
              <a:buNone/>
            </a:pPr>
            <a:r>
              <a:rPr lang="en-US" sz="9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FTR acceptance, the publication date, offers accepted and Marketplace revenue — AWS’s review queue and the customer’s deal flow govern every one.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6578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$1,500 / mo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6578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Get it built, published and transacting.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6578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6578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(1) WAFR conducted, findings remediated — the FTR takes a completed WAFR as its input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FTR prepared and submitted; listing built, configured and taken through publication, with AMMP diagrams maintained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CRM integration configured; private offer desk — up to (50) offers a year, direct and CPPO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Listing changes in 5 business days; monthly reporting on offers, revenue and listing health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6578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17" name="Text 13"/>
          <p:cNvSpPr txBox="1"/>
          <p:nvPr/>
        </p:nvSpPr>
        <p:spPr>
          <a:xfrm>
            <a:off x="6578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FTR acceptance — AWS decides; it grants AWS Qualified Software status and Solutions Finder placement, valid 2 years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Publication date — AWS’s review queue governs it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Offers accepted and Marketplace revenue transacted</a:t>
            </a:r>
            <a:endParaRPr lang="en-US" sz="780" dirty="0"/>
          </a:p>
        </p:txBody>
      </p:sp>
      <p:sp>
        <p:nvSpPr>
          <p:cNvPr id="18" name="Text 14"/>
          <p:cNvSpPr txBox="1"/>
          <p:nvPr/>
        </p:nvSpPr>
        <p:spPr>
          <a:xfrm>
            <a:off x="43916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Operate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$3,000 / mo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3916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Same nine services, deeper band.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43916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43916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(2) Well-Architected Framework Reviews conducted, findings remediated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Private offer desk — up to (100) offers a year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Listing configuration changes in 3 business days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FTR, listing publication, AMMP diagrams, CRM integration and monthly reporting as at Launch</a:t>
            </a:r>
            <a:endParaRPr lang="en-US" sz="750" dirty="0"/>
          </a:p>
        </p:txBody>
      </p:sp>
      <p:sp>
        <p:nvSpPr>
          <p:cNvPr id="22" name="Text 18"/>
          <p:cNvSpPr txBox="1"/>
          <p:nvPr/>
        </p:nvSpPr>
        <p:spPr>
          <a:xfrm>
            <a:off x="43916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3" name="Text 19"/>
          <p:cNvSpPr txBox="1"/>
          <p:nvPr/>
        </p:nvSpPr>
        <p:spPr>
          <a:xfrm>
            <a:off x="43916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FTR acceptance and Qualified Software status — AWS decides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Offers accepted and Marketplace revenue transacted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Demand at the band bought — offers issued follows the customer’s deal flow</a:t>
            </a:r>
            <a:endParaRPr lang="en-US" sz="780" dirty="0"/>
          </a:p>
        </p:txBody>
      </p:sp>
      <p:sp>
        <p:nvSpPr>
          <p:cNvPr id="24" name="Text 20"/>
          <p:cNvSpPr txBox="1"/>
          <p:nvPr/>
        </p:nvSpPr>
        <p:spPr>
          <a:xfrm>
            <a:off x="81254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Scale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$6,000 / mo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81254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Same nine services, top band.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81254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81254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(4) Well-Architected Framework Reviews conducted, findings remediated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Private offer desk — up to (200) offers a year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Listing configuration changes in 1 business day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FTR, listing publication, AMMP diagrams, CRM integration and monthly reporting as at Launch</a:t>
            </a:r>
            <a:endParaRPr lang="en-US" sz="750" dirty="0"/>
          </a:p>
        </p:txBody>
      </p:sp>
      <p:sp>
        <p:nvSpPr>
          <p:cNvPr id="28" name="Text 24"/>
          <p:cNvSpPr txBox="1"/>
          <p:nvPr/>
        </p:nvSpPr>
        <p:spPr>
          <a:xfrm>
            <a:off x="81254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81254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FTR acceptance and Qualified Software status — AWS decides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Offers accepted and Marketplace revenue transacted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Demand at the band bought — offers issued follows the customer’s deal flow</a:t>
            </a:r>
            <a:endParaRPr lang="en-US" sz="780" dirty="0"/>
          </a:p>
        </p:txBody>
      </p:sp>
      <p:sp>
        <p:nvSpPr>
          <p:cNvPr id="30" name="Shape 26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Nine services in three groups: compliance engineering · listing engineering · the offer desk and reporting. [Grouping proposed — confirm. CPPO also appears in Partner Development: originated there, executed here.]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RETAINER · TWELVE MONTHS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Partner Development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Build and run a reseller channel. Roster under management is what we commit; partners issuing offers is what we report.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13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657860" y="2019300"/>
            <a:ext cx="1087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36F20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WHY TWELVE MONTHS — ramp from first outreach to first partner transaction models at 8 months, which is what sets the term.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657860" y="2247900"/>
            <a:ext cx="10871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   </a:t>
            </a:r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named channel manager recruiting and managing the roster at the rung’s cap, a CPPO deal desk at the rung’s turnaround with selling authorizations drafted, issued and tracked, training on cadence, channel reviews with sourced-pipeline and attribution reporting, and Kiflo Core operated inside the fee.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657860" y="2628900"/>
            <a:ext cx="10871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   </a:t>
            </a:r>
            <a:pPr indent="0" marL="0">
              <a:buNone/>
            </a:pPr>
            <a:r>
              <a:rPr lang="en-US" sz="9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Partners issuing offers — the headline number — plus partner-sourced pipeline and revenue. Each partner clears its own AWS gate.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6578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$2,500 / mo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6578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Stand the channel up.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6578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6578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Up to (6) net new partners recruited and under management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Twice-yearly partner training and enablement sessions held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CPPO deal desk — 1 business day turnaround; recurring selling authorizations drafted, issued and tracked in AWS Marketplace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Quarterly channel reviews with sourced-pipeline and attribution reporting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 Core stood up and operated inside the fee; PRM attribution configured for the channel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6578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17" name="Text 13"/>
          <p:cNvSpPr txBox="1"/>
          <p:nvPr/>
        </p:nvSpPr>
        <p:spPr>
          <a:xfrm>
            <a:off x="6578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Partners issuing offers — reported monthly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partner clears its own AWS gate: seller registration, tax interview, disbursement, service-linked role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Partner-sourced pipeline and revenue</a:t>
            </a:r>
            <a:endParaRPr lang="en-US" sz="780" dirty="0"/>
          </a:p>
        </p:txBody>
      </p:sp>
      <p:sp>
        <p:nvSpPr>
          <p:cNvPr id="18" name="Text 14"/>
          <p:cNvSpPr txBox="1"/>
          <p:nvPr/>
        </p:nvSpPr>
        <p:spPr>
          <a:xfrm>
            <a:off x="43916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Expand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$5,000 / mo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3916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Widen the roster under management.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43916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43916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Up to (12) net new partners recruited and under management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Quarterly partner training and enablement sessions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CPPO deal desk — 8 business hour turnaround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 channel reviews with sourced-pipeline and attribution reporting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 Core operated inside the fee; PRM attribution maintained across the roster</a:t>
            </a:r>
            <a:endParaRPr lang="en-US" sz="750" dirty="0"/>
          </a:p>
        </p:txBody>
      </p:sp>
      <p:sp>
        <p:nvSpPr>
          <p:cNvPr id="22" name="Text 18"/>
          <p:cNvSpPr txBox="1"/>
          <p:nvPr/>
        </p:nvSpPr>
        <p:spPr>
          <a:xfrm>
            <a:off x="43916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3" name="Text 19"/>
          <p:cNvSpPr txBox="1"/>
          <p:nvPr/>
        </p:nvSpPr>
        <p:spPr>
          <a:xfrm>
            <a:off x="43916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Partners issuing offers — reported monthly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partner clears its own AWS gate — the partner’s act, not OBP’s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Partner-sourced pipeline and revenue</a:t>
            </a:r>
            <a:endParaRPr lang="en-US" sz="780" dirty="0"/>
          </a:p>
        </p:txBody>
      </p:sp>
      <p:sp>
        <p:nvSpPr>
          <p:cNvPr id="24" name="Text 20"/>
          <p:cNvSpPr txBox="1"/>
          <p:nvPr/>
        </p:nvSpPr>
        <p:spPr>
          <a:xfrm>
            <a:off x="81254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Accelerate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$7,500 / mo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81254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Operate the channel end to end.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81254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81254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No cap on net new partners recruited and under management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 partner training and enablement sessions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CPPO deal desk — 4 business hour turnaround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Fortnightly channel reviews with sourced-pipeline and attribution reporting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 Core operated inside the fee; PRM attribution maintained across the roster</a:t>
            </a:r>
            <a:endParaRPr lang="en-US" sz="750" dirty="0"/>
          </a:p>
        </p:txBody>
      </p:sp>
      <p:sp>
        <p:nvSpPr>
          <p:cNvPr id="28" name="Text 24"/>
          <p:cNvSpPr txBox="1"/>
          <p:nvPr/>
        </p:nvSpPr>
        <p:spPr>
          <a:xfrm>
            <a:off x="81254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81254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Partners issuing offers — reported monthly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partner clears its own AWS gate — the partner’s act, not OBP’s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Partner-sourced pipeline and revenue</a:t>
            </a:r>
            <a:endParaRPr lang="en-US" sz="780" dirty="0"/>
          </a:p>
        </p:txBody>
      </p:sp>
      <p:sp>
        <p:nvSpPr>
          <p:cNvPr id="30" name="Shape 26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AWS permits only one partner identifier per resource, so partner attribution runs on user agent string rather than competing tags. [CPPO boundary with Managed Marketplace Operations — originated here, executed on the listing there — to confirm.]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SCOREBOARD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number without a source.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Every target is settled from data that sits on Automatum’s side of the chain. Agree the source before the first report, not after.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14 / 22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566420" y="2343150"/>
            <a:ext cx="11055350" cy="330200"/>
          </a:xfrm>
          <a:prstGeom prst="rect">
            <a:avLst/>
          </a:prstGeom>
          <a:solidFill>
            <a:srgbClr val="15224B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49300" y="2413000"/>
            <a:ext cx="3238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metric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4191000" y="2413000"/>
            <a:ext cx="419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source, and who draws it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8763000" y="2413000"/>
            <a:ext cx="2895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Cadence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66420" y="30543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420" y="37147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5" name="Shape 11"/>
          <p:cNvSpPr/>
          <p:nvPr/>
        </p:nvSpPr>
        <p:spPr>
          <a:xfrm>
            <a:off x="566420" y="43751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49300" y="27940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ACE opportunities accepted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4191000" y="27940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AWS Partner Central — [whose instance, to confirm]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8614410" y="27940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749300" y="31242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AWS-attributed pipeline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4191000" y="31242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 Central / ACE export, drawn by OBP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8614410" y="31242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49300" y="34544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offers issued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4191000" y="34544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Automatum’s seller account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8614410" y="34544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49300" y="37846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Marketplace revenue and disbursements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4191000" y="37846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AWS seller reporting, reconciled by OBP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8614410" y="37846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Monthly, against AWS statements</a:t>
            </a:r>
            <a:endParaRPr lang="en-US" sz="1000" dirty="0"/>
          </a:p>
        </p:txBody>
      </p:sp>
      <p:sp>
        <p:nvSpPr>
          <p:cNvPr id="28" name="Text 24"/>
          <p:cNvSpPr txBox="1"/>
          <p:nvPr/>
        </p:nvSpPr>
        <p:spPr>
          <a:xfrm>
            <a:off x="749300" y="41148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Partners issuing offers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4191000" y="41148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 — system of record</a:t>
            </a:r>
            <a:endParaRPr lang="en-US" sz="1000" dirty="0"/>
          </a:p>
        </p:txBody>
      </p:sp>
      <p:sp>
        <p:nvSpPr>
          <p:cNvPr id="30" name="Text 26"/>
          <p:cNvSpPr txBox="1"/>
          <p:nvPr/>
        </p:nvSpPr>
        <p:spPr>
          <a:xfrm>
            <a:off x="8614410" y="41148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49300" y="44450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Partner-registered deals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4191000" y="44450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8614410" y="44450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</a:t>
            </a:r>
            <a:endParaRPr lang="en-US" sz="1000" dirty="0"/>
          </a:p>
        </p:txBody>
      </p:sp>
      <p:sp>
        <p:nvSpPr>
          <p:cNvPr id="34" name="Text 30"/>
          <p:cNvSpPr txBox="1"/>
          <p:nvPr/>
        </p:nvSpPr>
        <p:spPr>
          <a:xfrm>
            <a:off x="749300" y="47752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for each commitment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4191000" y="47752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Dated pack, action log, Kiflo activity log, monthly report</a:t>
            </a:r>
            <a:endParaRPr lang="en-US" sz="1000" dirty="0"/>
          </a:p>
        </p:txBody>
      </p:sp>
      <p:sp>
        <p:nvSpPr>
          <p:cNvPr id="36" name="Text 32"/>
          <p:cNvSpPr txBox="1"/>
          <p:nvPr/>
        </p:nvSpPr>
        <p:spPr>
          <a:xfrm>
            <a:off x="8614410" y="47752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Per commitment</a:t>
            </a:r>
            <a:endParaRPr lang="en-US" sz="1000" dirty="0"/>
          </a:p>
        </p:txBody>
      </p:sp>
      <p:sp>
        <p:nvSpPr>
          <p:cNvPr id="37" name="Text 33"/>
          <p:cNvSpPr txBox="1"/>
          <p:nvPr/>
        </p:nvSpPr>
        <p:spPr>
          <a:xfrm>
            <a:off x="749300" y="5232400"/>
            <a:ext cx="1079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Targets. Not guaranteed. Set from the customer’s baseline at onboarding, shown against actuals from month one.  </a:t>
            </a:r>
            <a:pPr indent="0" marL="0">
              <a:buNone/>
            </a:pPr>
            <a:r>
              <a:rPr lang="en-US" sz="900" dirty="0">
                <a:solidFill>
                  <a:srgbClr val="F36F20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[Remedy] applies to commitments only.</a:t>
            </a:r>
            <a:endParaRPr lang="en-US" sz="900" dirty="0"/>
          </a:p>
        </p:txBody>
      </p:sp>
      <p:sp>
        <p:nvSpPr>
          <p:cNvPr id="38" name="Shape 34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EVERY ARTIFACT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Both lines above appear on every customer overview and deck, so no target is ever mistaken for a commitment.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divider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57860" y="1905000"/>
            <a:ext cx="508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32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 THREE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657860" y="2349500"/>
            <a:ext cx="889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machinery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57860" y="3111500"/>
            <a:ext cx="812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D2EA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What sits behind the four, for us and for AWS.</a:t>
            </a:r>
            <a:endParaRPr lang="en-US" sz="1300" dirty="0"/>
          </a:p>
        </p:txBody>
      </p:sp>
      <p:pic>
        <p:nvPicPr>
          <p:cNvPr id="6" name="Image 1" descr="/home/user/barberbook/docs/deck/assets/tile_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860" y="3810000"/>
            <a:ext cx="431800" cy="431800"/>
          </a:xfrm>
          <a:prstGeom prst="rect">
            <a:avLst/>
          </a:prstGeom>
        </p:spPr>
      </p:pic>
      <p:pic>
        <p:nvPicPr>
          <p:cNvPr id="7" name="Image 2" descr="/home/user/barberbook/docs/deck/assets/tile_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914140"/>
            <a:ext cx="224790" cy="22479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578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Value chain</a:t>
            </a:r>
            <a:endParaRPr lang="en-US" sz="1000" dirty="0"/>
          </a:p>
        </p:txBody>
      </p:sp>
      <p:pic>
        <p:nvPicPr>
          <p:cNvPr id="9" name="Image 3" descr="/home/user/barberbook/docs/deck/assets/tile_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7260" y="3810000"/>
            <a:ext cx="431800" cy="431800"/>
          </a:xfrm>
          <a:prstGeom prst="rect">
            <a:avLst/>
          </a:prstGeom>
        </p:spPr>
      </p:pic>
      <p:pic>
        <p:nvPicPr>
          <p:cNvPr id="10" name="Image 4" descr="/home/user/barberbook/docs/deck/assets/tile_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1400" y="3914140"/>
            <a:ext cx="224790" cy="224790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22072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Components</a:t>
            </a:r>
            <a:endParaRPr lang="en-US" sz="1000" dirty="0"/>
          </a:p>
        </p:txBody>
      </p:sp>
      <p:pic>
        <p:nvPicPr>
          <p:cNvPr id="12" name="Image 5" descr="/home/user/barberbook/docs/deck/assets/tile_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56660" y="3810000"/>
            <a:ext cx="431800" cy="431800"/>
          </a:xfrm>
          <a:prstGeom prst="rect">
            <a:avLst/>
          </a:prstGeom>
        </p:spPr>
      </p:pic>
      <p:pic>
        <p:nvPicPr>
          <p:cNvPr id="13" name="Image 6" descr="/home/user/barberbook/docs/deck/assets/tile_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60800" y="3914140"/>
            <a:ext cx="224790" cy="224790"/>
          </a:xfrm>
          <a:prstGeom prst="rect">
            <a:avLst/>
          </a:prstGeom>
        </p:spPr>
      </p:pic>
      <p:sp>
        <p:nvSpPr>
          <p:cNvPr id="14" name="Text 5"/>
          <p:cNvSpPr txBox="1"/>
          <p:nvPr/>
        </p:nvSpPr>
        <p:spPr>
          <a:xfrm>
            <a:off x="37566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Economics</a:t>
            </a:r>
            <a:endParaRPr lang="en-US" sz="1000" dirty="0"/>
          </a:p>
        </p:txBody>
      </p:sp>
      <p:pic>
        <p:nvPicPr>
          <p:cNvPr id="15" name="Image 7" descr="/home/user/barberbook/docs/deck/assets/tile_a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06060" y="3810000"/>
            <a:ext cx="431800" cy="431800"/>
          </a:xfrm>
          <a:prstGeom prst="rect">
            <a:avLst/>
          </a:prstGeom>
        </p:spPr>
      </p:pic>
      <p:pic>
        <p:nvPicPr>
          <p:cNvPr id="16" name="Image 8" descr="/home/user/barberbook/docs/deck/assets/tile_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10200" y="3914140"/>
            <a:ext cx="224790" cy="224790"/>
          </a:xfrm>
          <a:prstGeom prst="rect">
            <a:avLst/>
          </a:prstGeom>
        </p:spPr>
      </p:pic>
      <p:sp>
        <p:nvSpPr>
          <p:cNvPr id="17" name="Text 6"/>
          <p:cNvSpPr txBox="1"/>
          <p:nvPr/>
        </p:nvSpPr>
        <p:spPr>
          <a:xfrm>
            <a:off x="53060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decision</a:t>
            </a:r>
            <a:endParaRPr lang="en-US" sz="1000" dirty="0"/>
          </a:p>
        </p:txBody>
      </p:sp>
      <p:sp>
        <p:nvSpPr>
          <p:cNvPr id="18" name="Text 7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6D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6C7B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19" name="Text 8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15 / 22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PLATFORM, FOUR STAGES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 is the common thread.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solution puts OBP on a different stage of the same chain — and the boundary row is what keeps them four.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16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9050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 listed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43942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the partnership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8834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Operate the Marketplace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93726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the channel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657860" y="2667000"/>
            <a:ext cx="11176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</a:t>
            </a:r>
            <a:endParaRPr lang="en-US" sz="800" dirty="0"/>
          </a:p>
        </p:txBody>
      </p:sp>
      <p:sp>
        <p:nvSpPr>
          <p:cNvPr id="14" name="Text 10"/>
          <p:cNvSpPr txBox="1"/>
          <p:nvPr/>
        </p:nvSpPr>
        <p:spPr>
          <a:xfrm>
            <a:off x="1905000" y="2667000"/>
            <a:ext cx="22352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listing the product publishes to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4394200" y="2667000"/>
            <a:ext cx="22352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Marketplace platform compliance and co-sell work transacts on</a:t>
            </a:r>
            <a:endParaRPr lang="en-US" sz="800" dirty="0"/>
          </a:p>
        </p:txBody>
      </p:sp>
      <p:sp>
        <p:nvSpPr>
          <p:cNvPr id="16" name="Text 12"/>
          <p:cNvSpPr txBox="1"/>
          <p:nvPr/>
        </p:nvSpPr>
        <p:spPr>
          <a:xfrm>
            <a:off x="6883400" y="2667000"/>
            <a:ext cx="22352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listing, the private offers, and the CRM and Partner Central integrations</a:t>
            </a:r>
            <a:endParaRPr lang="en-US" sz="800" dirty="0"/>
          </a:p>
        </p:txBody>
      </p:sp>
      <p:sp>
        <p:nvSpPr>
          <p:cNvPr id="17" name="Text 13"/>
          <p:cNvSpPr txBox="1"/>
          <p:nvPr/>
        </p:nvSpPr>
        <p:spPr>
          <a:xfrm>
            <a:off x="9372600" y="2667000"/>
            <a:ext cx="22352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selling authorizations, the private offers and the AWS attribution</a:t>
            </a:r>
            <a:endParaRPr lang="en-US" sz="800" dirty="0"/>
          </a:p>
        </p:txBody>
      </p:sp>
      <p:sp>
        <p:nvSpPr>
          <p:cNvPr id="18" name="Text 14"/>
          <p:cNvSpPr txBox="1"/>
          <p:nvPr/>
        </p:nvSpPr>
        <p:spPr>
          <a:xfrm>
            <a:off x="657860" y="3454400"/>
            <a:ext cx="1117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endParaRPr lang="en-US" sz="800" dirty="0"/>
          </a:p>
        </p:txBody>
      </p:sp>
      <p:sp>
        <p:nvSpPr>
          <p:cNvPr id="19" name="Text 15"/>
          <p:cNvSpPr txBox="1"/>
          <p:nvPr/>
        </p:nvSpPr>
        <p:spPr>
          <a:xfrm>
            <a:off x="1905000" y="34544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Seller of record on every transaction</a:t>
            </a:r>
            <a:endParaRPr lang="en-US" sz="800" dirty="0"/>
          </a:p>
        </p:txBody>
      </p:sp>
      <p:sp>
        <p:nvSpPr>
          <p:cNvPr id="20" name="Text 16"/>
          <p:cNvSpPr txBox="1"/>
          <p:nvPr/>
        </p:nvSpPr>
        <p:spPr>
          <a:xfrm>
            <a:off x="4394200" y="34544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Seller of record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6883400" y="34544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Issues every private offer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9372600" y="34544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Issues partner offers and selling authorizations</a:t>
            </a:r>
            <a:endParaRPr lang="en-US" sz="800" dirty="0"/>
          </a:p>
        </p:txBody>
      </p:sp>
      <p:sp>
        <p:nvSpPr>
          <p:cNvPr id="23" name="Text 19"/>
          <p:cNvSpPr txBox="1"/>
          <p:nvPr/>
        </p:nvSpPr>
        <p:spPr>
          <a:xfrm>
            <a:off x="657860" y="3962400"/>
            <a:ext cx="11176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800" dirty="0"/>
          </a:p>
        </p:txBody>
      </p:sp>
      <p:sp>
        <p:nvSpPr>
          <p:cNvPr id="24" name="Text 20"/>
          <p:cNvSpPr txBox="1"/>
          <p:nvPr/>
        </p:nvSpPr>
        <p:spPr>
          <a:xfrm>
            <a:off x="1905000" y="3962400"/>
            <a:ext cx="22352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review, the remediation, the FTR and the seller registration</a:t>
            </a:r>
            <a:endParaRPr lang="en-US" sz="800" dirty="0"/>
          </a:p>
        </p:txBody>
      </p:sp>
      <p:sp>
        <p:nvSpPr>
          <p:cNvPr id="25" name="Text 21"/>
          <p:cNvSpPr txBox="1"/>
          <p:nvPr/>
        </p:nvSpPr>
        <p:spPr>
          <a:xfrm>
            <a:off x="4394200" y="3962400"/>
            <a:ext cx="22352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Program management, compliance, marketing, events, ACE and co-sell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6883400" y="3962400"/>
            <a:ext cx="22352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Compliance engineering, the offer desk, reporting and listing configuration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9372600" y="3962400"/>
            <a:ext cx="22352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Recruitment, agreements, enablement, training, the desk and the reviews</a:t>
            </a:r>
            <a:endParaRPr lang="en-US" sz="800" dirty="0"/>
          </a:p>
        </p:txBody>
      </p:sp>
      <p:sp>
        <p:nvSpPr>
          <p:cNvPr id="28" name="Text 24"/>
          <p:cNvSpPr txBox="1"/>
          <p:nvPr/>
        </p:nvSpPr>
        <p:spPr>
          <a:xfrm>
            <a:off x="657860" y="4800600"/>
            <a:ext cx="11176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BOUNDARY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1905000" y="4800600"/>
            <a:ext cx="22352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Listing production as a fixed-fee project, nothing ongoing</a:t>
            </a:r>
            <a:endParaRPr lang="en-US" sz="800" dirty="0"/>
          </a:p>
        </p:txBody>
      </p:sp>
      <p:sp>
        <p:nvSpPr>
          <p:cNvPr id="30" name="Text 26"/>
          <p:cNvSpPr txBox="1"/>
          <p:nvPr/>
        </p:nvSpPr>
        <p:spPr>
          <a:xfrm>
            <a:off x="4394200" y="4800600"/>
            <a:ext cx="22352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AWS partnership programme, and the ISV’s own BOX Program listings</a:t>
            </a:r>
            <a:endParaRPr lang="en-US" sz="800" dirty="0"/>
          </a:p>
        </p:txBody>
      </p:sp>
      <p:sp>
        <p:nvSpPr>
          <p:cNvPr id="31" name="Text 27"/>
          <p:cNvSpPr txBox="1"/>
          <p:nvPr/>
        </p:nvSpPr>
        <p:spPr>
          <a:xfrm>
            <a:off x="6883400" y="4800600"/>
            <a:ext cx="22352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Listing production AND twelve months of operation; CPPO executed on the listing</a:t>
            </a:r>
            <a:endParaRPr lang="en-US" sz="800" dirty="0"/>
          </a:p>
        </p:txBody>
      </p:sp>
      <p:sp>
        <p:nvSpPr>
          <p:cNvPr id="32" name="Text 28"/>
          <p:cNvSpPr txBox="1"/>
          <p:nvPr/>
        </p:nvSpPr>
        <p:spPr>
          <a:xfrm>
            <a:off x="9372600" y="4800600"/>
            <a:ext cx="22352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 recruitment and management; CPPO originated with partners</a:t>
            </a:r>
            <a:endParaRPr lang="en-US" sz="800" dirty="0"/>
          </a:p>
        </p:txBody>
      </p:sp>
      <p:sp>
        <p:nvSpPr>
          <p:cNvPr id="33" name="Shape 29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STACKING RULE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Where a customer buys two, the higher solution’s commit column governs the overlap, and the same work is not billed twice.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COMPONENTS BEHIND THE LISTING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Licensed and operated inside the fee.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Costs live in the models and in this register alone — a percentage discloses an amount as surely as the amount does.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17 / 22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566420" y="3308350"/>
            <a:ext cx="11055350" cy="9398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49300" y="2438400"/>
            <a:ext cx="1397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ASecureCloud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2286000" y="2438400"/>
            <a:ext cx="3810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Automates data collection for a Well-Architected review, suggests answers, and generates CloudFormation and AWS CLI templates that resolve findings.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6477000" y="2438400"/>
            <a:ext cx="28956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Licensed and operated by OBP. Premium required for Well-Architected reviews; licences reassign between accounts and are held as a pool.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749300" y="3378200"/>
            <a:ext cx="1397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Kiflo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2286000" y="3378200"/>
            <a:ext cx="3810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 system of record: portal, onboarding, deal registration, commission tracking. Core carries HubSpot and Salesforce sync.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6477000" y="3378200"/>
            <a:ext cx="28956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 Core stood up and operated by OBP inside Managed Partner Development at every tier, included in the engagement fee. System of record behind the partners-issuing-offers count, and carries PRM attribution across the roster. [Seats per rung — to confirm.]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749300" y="4318000"/>
            <a:ext cx="1397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Archera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2286000" y="4318000"/>
            <a:ext cx="3810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Commitment management for AWS spend — insured reservations and savings plans.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6477000" y="4318000"/>
            <a:ext cx="28956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Carried under OBP’s own agreement and sold on its own motion. It appears in no artifact of these four solutions, and must not leak into the revenue share.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YET NAMED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No component is named for Alliances or Operations, and no Automatum software for the software line of any of the four listings. Name them, or mark them confirmed-empty.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PARTNER ECONOMICS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owe each other.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 is seller of record and owns the listed software in all four. No numbers here before the call — this is the agenda for it.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18 / 22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566420" y="2216150"/>
            <a:ext cx="11055350" cy="279400"/>
          </a:xfrm>
          <a:prstGeom prst="rect">
            <a:avLst/>
          </a:prstGeom>
          <a:solidFill>
            <a:srgbClr val="15224B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49300" y="22860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Term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3327400" y="2286000"/>
            <a:ext cx="5270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has to be settled</a:t>
            </a:r>
            <a:endParaRPr lang="en-US" sz="850" dirty="0"/>
          </a:p>
        </p:txBody>
      </p:sp>
      <p:sp>
        <p:nvSpPr>
          <p:cNvPr id="12" name="Text 8"/>
          <p:cNvSpPr txBox="1"/>
          <p:nvPr/>
        </p:nvSpPr>
        <p:spPr>
          <a:xfrm>
            <a:off x="8890000" y="2286000"/>
            <a:ext cx="2895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 and status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566420" y="2825750"/>
            <a:ext cx="11055350" cy="2794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420" y="3384550"/>
            <a:ext cx="11055350" cy="2794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5" name="Shape 11"/>
          <p:cNvSpPr/>
          <p:nvPr/>
        </p:nvSpPr>
        <p:spPr>
          <a:xfrm>
            <a:off x="566420" y="3943350"/>
            <a:ext cx="11055350" cy="2794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6" name="Shape 12"/>
          <p:cNvSpPr/>
          <p:nvPr/>
        </p:nvSpPr>
        <p:spPr>
          <a:xfrm>
            <a:off x="566420" y="4502150"/>
            <a:ext cx="11055350" cy="2794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7" name="Shape 13"/>
          <p:cNvSpPr/>
          <p:nvPr/>
        </p:nvSpPr>
        <p:spPr>
          <a:xfrm>
            <a:off x="566420" y="5060950"/>
            <a:ext cx="11055350" cy="2794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49300" y="26162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Flow of funds and payment trigger</a:t>
            </a:r>
            <a:endParaRPr lang="en-US" sz="850" dirty="0"/>
          </a:p>
        </p:txBody>
      </p:sp>
      <p:sp>
        <p:nvSpPr>
          <p:cNvPr id="19" name="Text 15"/>
          <p:cNvSpPr txBox="1"/>
          <p:nvPr/>
        </p:nvSpPr>
        <p:spPr>
          <a:xfrm>
            <a:off x="3327400" y="26162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AWS disbursement to Automatum vs invoice at [N] days; who carries the float, including the Accelerator’s 50/50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8890000" y="26162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749300" y="28956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split, software line</a:t>
            </a:r>
            <a:endParaRPr lang="en-US" sz="850" dirty="0"/>
          </a:p>
        </p:txBody>
      </p:sp>
      <p:sp>
        <p:nvSpPr>
          <p:cNvPr id="22" name="Text 18"/>
          <p:cNvSpPr txBox="1"/>
          <p:nvPr/>
        </p:nvSpPr>
        <p:spPr>
          <a:xfrm>
            <a:off x="3327400" y="28956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Follows the licensor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8890000" y="28956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749300" y="31750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split, professional services line</a:t>
            </a:r>
            <a:endParaRPr lang="en-US" sz="850" dirty="0"/>
          </a:p>
        </p:txBody>
      </p:sp>
      <p:sp>
        <p:nvSpPr>
          <p:cNvPr id="25" name="Text 21"/>
          <p:cNvSpPr txBox="1"/>
          <p:nvPr/>
        </p:nvSpPr>
        <p:spPr>
          <a:xfrm>
            <a:off x="3327400" y="31750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Follows the delivering party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8890000" y="31750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27" name="Text 23"/>
          <p:cNvSpPr txBox="1"/>
          <p:nvPr/>
        </p:nvSpPr>
        <p:spPr>
          <a:xfrm>
            <a:off x="749300" y="34544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Marketplace listing fee</a:t>
            </a:r>
            <a:endParaRPr lang="en-US" sz="850" dirty="0"/>
          </a:p>
        </p:txBody>
      </p:sp>
      <p:sp>
        <p:nvSpPr>
          <p:cNvPr id="28" name="Text 24"/>
          <p:cNvSpPr txBox="1"/>
          <p:nvPr/>
        </p:nvSpPr>
        <p:spPr>
          <a:xfrm>
            <a:off x="3327400" y="34544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Rates, mechanics and how it is netted</a:t>
            </a:r>
            <a:endParaRPr lang="en-US" sz="850" dirty="0"/>
          </a:p>
        </p:txBody>
      </p:sp>
      <p:sp>
        <p:nvSpPr>
          <p:cNvPr id="29" name="Text 25"/>
          <p:cNvSpPr txBox="1"/>
          <p:nvPr/>
        </p:nvSpPr>
        <p:spPr>
          <a:xfrm>
            <a:off x="8890000" y="34544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 · to confirm</a:t>
            </a:r>
            <a:endParaRPr lang="en-US" sz="850" dirty="0"/>
          </a:p>
        </p:txBody>
      </p:sp>
      <p:sp>
        <p:nvSpPr>
          <p:cNvPr id="30" name="Text 26"/>
          <p:cNvSpPr txBox="1"/>
          <p:nvPr/>
        </p:nvSpPr>
        <p:spPr>
          <a:xfrm>
            <a:off x="749300" y="37338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Milestone cash and credits</a:t>
            </a:r>
            <a:endParaRPr lang="en-US" sz="850" dirty="0"/>
          </a:p>
        </p:txBody>
      </p:sp>
      <p:sp>
        <p:nvSpPr>
          <p:cNvPr id="31" name="Text 27"/>
          <p:cNvSpPr txBox="1"/>
          <p:nvPr/>
        </p:nvSpPr>
        <p:spPr>
          <a:xfrm>
            <a:off x="3327400" y="37338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Figures are established; the division is not. Credits are worth face value only to the party with spend to offset</a:t>
            </a:r>
            <a:endParaRPr lang="en-US" sz="850" dirty="0"/>
          </a:p>
        </p:txBody>
      </p:sp>
      <p:sp>
        <p:nvSpPr>
          <p:cNvPr id="32" name="Text 28"/>
          <p:cNvSpPr txBox="1"/>
          <p:nvPr/>
        </p:nvSpPr>
        <p:spPr>
          <a:xfrm>
            <a:off x="8890000" y="37338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749300" y="40132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Milestone 3 — the 55 leads</a:t>
            </a: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3327400" y="40132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Confirm the direction before agreeing who owns them</a:t>
            </a:r>
            <a:endParaRPr lang="en-US" sz="850" dirty="0"/>
          </a:p>
        </p:txBody>
      </p:sp>
      <p:sp>
        <p:nvSpPr>
          <p:cNvPr id="35" name="Text 31"/>
          <p:cNvSpPr txBox="1"/>
          <p:nvPr/>
        </p:nvSpPr>
        <p:spPr>
          <a:xfrm>
            <a:off x="8890000" y="40132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confirm</a:t>
            </a:r>
            <a:endParaRPr lang="en-US" sz="850" dirty="0"/>
          </a:p>
        </p:txBody>
      </p:sp>
      <p:sp>
        <p:nvSpPr>
          <p:cNvPr id="36" name="Text 32"/>
          <p:cNvSpPr txBox="1"/>
          <p:nvPr/>
        </p:nvSpPr>
        <p:spPr>
          <a:xfrm>
            <a:off x="749300" y="42926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Component cost recovery</a:t>
            </a:r>
            <a:endParaRPr lang="en-US" sz="850" dirty="0"/>
          </a:p>
        </p:txBody>
      </p:sp>
      <p:sp>
        <p:nvSpPr>
          <p:cNvPr id="37" name="Text 33"/>
          <p:cNvSpPr txBox="1"/>
          <p:nvPr/>
        </p:nvSpPr>
        <p:spPr>
          <a:xfrm>
            <a:off x="3327400" y="42926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ASecureCloud and Kiflo, stress-tested against the $1,500 rung</a:t>
            </a:r>
            <a:endParaRPr lang="en-US" sz="850" dirty="0"/>
          </a:p>
        </p:txBody>
      </p:sp>
      <p:sp>
        <p:nvSpPr>
          <p:cNvPr id="38" name="Text 34"/>
          <p:cNvSpPr txBox="1"/>
          <p:nvPr/>
        </p:nvSpPr>
        <p:spPr>
          <a:xfrm>
            <a:off x="8890000" y="42926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 · to model</a:t>
            </a:r>
            <a:endParaRPr lang="en-US" sz="850" dirty="0"/>
          </a:p>
        </p:txBody>
      </p:sp>
      <p:sp>
        <p:nvSpPr>
          <p:cNvPr id="39" name="Text 35"/>
          <p:cNvSpPr txBox="1"/>
          <p:nvPr/>
        </p:nvSpPr>
        <p:spPr>
          <a:xfrm>
            <a:off x="749300" y="45720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Back-to-back internal SLAs</a:t>
            </a:r>
            <a:endParaRPr lang="en-US" sz="850" dirty="0"/>
          </a:p>
        </p:txBody>
      </p:sp>
      <p:sp>
        <p:nvSpPr>
          <p:cNvPr id="40" name="Text 36"/>
          <p:cNvSpPr txBox="1"/>
          <p:nvPr/>
        </p:nvSpPr>
        <p:spPr>
          <a:xfrm>
            <a:off x="3327400" y="45720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Offer issue, listing configuration, selling authorizations, ACE instance, reporting feed</a:t>
            </a:r>
            <a:endParaRPr lang="en-US" sz="850" dirty="0"/>
          </a:p>
        </p:txBody>
      </p:sp>
      <p:sp>
        <p:nvSpPr>
          <p:cNvPr id="41" name="Text 37"/>
          <p:cNvSpPr txBox="1"/>
          <p:nvPr/>
        </p:nvSpPr>
        <p:spPr>
          <a:xfrm>
            <a:off x="8890000" y="45720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 · needed first</a:t>
            </a:r>
            <a:endParaRPr lang="en-US" sz="850" dirty="0"/>
          </a:p>
        </p:txBody>
      </p:sp>
      <p:sp>
        <p:nvSpPr>
          <p:cNvPr id="42" name="Text 38"/>
          <p:cNvSpPr txBox="1"/>
          <p:nvPr/>
        </p:nvSpPr>
        <p:spPr>
          <a:xfrm>
            <a:off x="749300" y="48514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Renewal, churn and exit</a:t>
            </a:r>
            <a:endParaRPr lang="en-US" sz="850" dirty="0"/>
          </a:p>
        </p:txBody>
      </p:sp>
      <p:sp>
        <p:nvSpPr>
          <p:cNvPr id="43" name="Text 39"/>
          <p:cNvSpPr txBox="1"/>
          <p:nvPr/>
        </p:nvSpPr>
        <p:spPr>
          <a:xfrm>
            <a:off x="3327400" y="48514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Ownership of partner agreements and Kiflo channel data at end of term</a:t>
            </a:r>
            <a:endParaRPr lang="en-US" sz="850" dirty="0"/>
          </a:p>
        </p:txBody>
      </p:sp>
      <p:sp>
        <p:nvSpPr>
          <p:cNvPr id="44" name="Text 40"/>
          <p:cNvSpPr txBox="1"/>
          <p:nvPr/>
        </p:nvSpPr>
        <p:spPr>
          <a:xfrm>
            <a:off x="8890000" y="48514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45" name="Text 41"/>
          <p:cNvSpPr txBox="1"/>
          <p:nvPr/>
        </p:nvSpPr>
        <p:spPr>
          <a:xfrm>
            <a:off x="749300" y="51308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Exclusivity and reporting access</a:t>
            </a:r>
            <a:endParaRPr lang="en-US" sz="850" dirty="0"/>
          </a:p>
        </p:txBody>
      </p:sp>
      <p:sp>
        <p:nvSpPr>
          <p:cNvPr id="46" name="Text 42"/>
          <p:cNvSpPr txBox="1"/>
          <p:nvPr/>
        </p:nvSpPr>
        <p:spPr>
          <a:xfrm>
            <a:off x="3327400" y="51308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Scope boundary, and OBP’s access to Marketplace seller reporting</a:t>
            </a:r>
            <a:endParaRPr lang="en-US" sz="850" dirty="0"/>
          </a:p>
        </p:txBody>
      </p:sp>
      <p:sp>
        <p:nvSpPr>
          <p:cNvPr id="47" name="Text 43"/>
          <p:cNvSpPr txBox="1"/>
          <p:nvPr/>
        </p:nvSpPr>
        <p:spPr>
          <a:xfrm>
            <a:off x="8890000" y="51308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48" name="Shape 44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49" name="Text 45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CUSTOMER-FACING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The fee and the ladder are only validated once the split is known — so these terms come before any repricing.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EXCHANGE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program funds, and what AWS gets back.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four Automatum × OBP solutions’ own milestones. Cash and credits are separate instruments, up to the amounts shown.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19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932180" y="2362200"/>
            <a:ext cx="254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 + $10,000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932180" y="2730500"/>
            <a:ext cx="254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Milestone 1, cash + credits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3738880" y="2362200"/>
            <a:ext cx="254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$25,000 + $25,000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738880" y="2730500"/>
            <a:ext cx="254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Milestone 2, cash + credits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6545580" y="2362200"/>
            <a:ext cx="254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6545580" y="2730500"/>
            <a:ext cx="254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Project leads generated for the participant via a sponsored AWS marketing campaign — Milestone 3, AWS-funded.</a:t>
            </a:r>
            <a:endParaRPr 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9352280" y="2362200"/>
            <a:ext cx="254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per solution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9352280" y="2730500"/>
            <a:ext cx="254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ACE opportunity submissions — the programme’s obligation to AWS</a:t>
            </a:r>
            <a:endParaRPr lang="en-US" sz="850" dirty="0"/>
          </a:p>
        </p:txBody>
      </p:sp>
      <p:sp>
        <p:nvSpPr>
          <p:cNvPr id="17" name="Text 13"/>
          <p:cNvSpPr txBox="1"/>
          <p:nvPr/>
        </p:nvSpPr>
        <p:spPr>
          <a:xfrm>
            <a:off x="657860" y="3479800"/>
            <a:ext cx="10871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RULE — each solution carries its own Solution ID and its own five ACE submissions; an opportunity belongs to one solution. Milestone apportionment between OBP and Automatum is open — see partner economics.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1023620" y="38608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transacting listings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1023620" y="4241800"/>
            <a:ext cx="2730500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Four solutions listed and transacting through AWS Marketplace on Automatum’s listing.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4765040" y="38608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Twenty ACE submissions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4765040" y="4241800"/>
            <a:ext cx="2730500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Five per solution across the set. A customer’s own submissions follow their opportunity flow and are not an entitlement of five.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8506460" y="38608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named alliance owner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8506460" y="4241800"/>
            <a:ext cx="2730500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Co-sell and program progression run through a named owner on every engagement.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PARTICIPATIONS, ONE SCHEDULE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These are OUR four solutions’ milestones. An ISV pursuing its own BOX Program listings earns the same schedule separately — see Managed AWS Alliances. Same figures, different participant, not the same money.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SEQUENCE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first, then scale.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Sequence, rather than four at once. The split is the value chain down the middle, and it pairs each retainer with the work that precedes it.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20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023620" y="2413000"/>
            <a:ext cx="495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WAVE ONE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1023620" y="2667000"/>
            <a:ext cx="4953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Marketplace Compliance Accelerator  +  Managed AWS Alliances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1023620" y="3175000"/>
            <a:ext cx="495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Get listed  →  Run the partnership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1023620" y="3479800"/>
            <a:ext cx="4953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2 feasibility studies</a:t>
            </a:r>
            <a:endParaRPr lang="en-US" sz="90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2 milestone plans</a:t>
            </a:r>
            <a:endParaRPr lang="en-US" sz="90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10 ACE submissions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023620" y="4216400"/>
            <a:ext cx="4953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Accelerator is the only fixed, provable delivery in the portfolio — the cheapest feasibility study to write and the fastest route to Milestone 1 evidence. It also produces the listing Alliances runs the partnership around.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6484620" y="2413000"/>
            <a:ext cx="495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WAVE TWO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6484620" y="2667000"/>
            <a:ext cx="4953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Marketplace Operations  +  Managed Partner Development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6484620" y="3175000"/>
            <a:ext cx="495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Operate the Marketplace  →  Build the channel</a:t>
            </a:r>
            <a:endParaRPr 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6484620" y="3479800"/>
            <a:ext cx="4953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2 feasibility studies</a:t>
            </a:r>
            <a:endParaRPr lang="en-US" sz="90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2 milestone plans</a:t>
            </a:r>
            <a:endParaRPr lang="en-US" sz="90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10 ACE submissions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6484620" y="4216400"/>
            <a:ext cx="4953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Opens on wave one’s Milestone 1 approval — the only gate consistent with arriving with evidence. Both depend on a listing that is already live and transacting.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1023620" y="51816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CONDITIONS PRINTED ON THIS SLIDE</a:t>
            </a:r>
            <a:endParaRPr lang="en-US" sz="800" dirty="0"/>
          </a:p>
        </p:txBody>
      </p:sp>
      <p:sp>
        <p:nvSpPr>
          <p:cNvPr id="20" name="Text 16"/>
          <p:cNvSpPr txBox="1"/>
          <p:nvPr/>
        </p:nvSpPr>
        <p:spPr>
          <a:xfrm>
            <a:off x="1023620" y="5384800"/>
            <a:ext cx="10541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Wave one assumes capacity to run two feasibility studies and two milestone plans concurrently. [Capacity to confirm — if it is genuinely one at a time, wave one splits.]</a:t>
            </a:r>
            <a:endParaRPr lang="en-US" sz="8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whole recommendation is contingent on the 12-month listing clock running per Solution ID from entry. If it runs programme-level, sequencing burns the clock rather than staggering it, and the sequence changes.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DECISION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decisions, today.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sequence, the lead partner of record, the back-to-back turnarounds, the CPPO boundary, and wave one’s date.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21 / 22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566420" y="2165350"/>
            <a:ext cx="11055350" cy="266700"/>
          </a:xfrm>
          <a:prstGeom prst="rect">
            <a:avLst/>
          </a:prstGeom>
          <a:solidFill>
            <a:srgbClr val="15224B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49300" y="2235200"/>
            <a:ext cx="419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Entry condition or item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5143500" y="2235200"/>
            <a:ext cx="190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7366000" y="2235200"/>
            <a:ext cx="2895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Standing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566420" y="2749550"/>
            <a:ext cx="11055350" cy="2667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420" y="3282950"/>
            <a:ext cx="11055350" cy="2667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5" name="Shape 11"/>
          <p:cNvSpPr/>
          <p:nvPr/>
        </p:nvSpPr>
        <p:spPr>
          <a:xfrm>
            <a:off x="566420" y="3816350"/>
            <a:ext cx="11055350" cy="2667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6" name="Shape 12"/>
          <p:cNvSpPr/>
          <p:nvPr/>
        </p:nvSpPr>
        <p:spPr>
          <a:xfrm>
            <a:off x="566420" y="4349750"/>
            <a:ext cx="11055350" cy="2667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7" name="Shape 13"/>
          <p:cNvSpPr/>
          <p:nvPr/>
        </p:nvSpPr>
        <p:spPr>
          <a:xfrm>
            <a:off x="566420" y="4883150"/>
            <a:ext cx="11055350" cy="2667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49300" y="25527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Validated or Differentiated held by the lead partner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5143500" y="25527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7366000" y="25527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Stated by Automatum — Partner Central evidence to attach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749300" y="28194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 is lead partner of record on all four Solution IDs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5143500" y="28194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7366000" y="28194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To confirm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749300" y="30861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Solution listed within 12 months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5143500" y="30861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 + OBP</a:t>
            </a:r>
            <a:endParaRPr lang="en-US" sz="900" dirty="0"/>
          </a:p>
        </p:txBody>
      </p:sp>
      <p:sp>
        <p:nvSpPr>
          <p:cNvPr id="26" name="Text 22"/>
          <p:cNvSpPr txBox="1"/>
          <p:nvPr/>
        </p:nvSpPr>
        <p:spPr>
          <a:xfrm>
            <a:off x="7366000" y="30861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[Per-wave deadlines once the clock basis is confirmed]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749300" y="33528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ACE opportunity submissions per solution</a:t>
            </a:r>
            <a:endParaRPr lang="en-US" sz="900" dirty="0"/>
          </a:p>
        </p:txBody>
      </p:sp>
      <p:sp>
        <p:nvSpPr>
          <p:cNvPr id="28" name="Text 24"/>
          <p:cNvSpPr txBox="1"/>
          <p:nvPr/>
        </p:nvSpPr>
        <p:spPr>
          <a:xfrm>
            <a:off x="5143500" y="33528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7366000" y="33528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Built into each solution’s plan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749300" y="36195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Milestone 1 Feasibility Study per solution</a:t>
            </a:r>
            <a:endParaRPr lang="en-US" sz="900" dirty="0"/>
          </a:p>
        </p:txBody>
      </p:sp>
      <p:sp>
        <p:nvSpPr>
          <p:cNvPr id="31" name="Text 27"/>
          <p:cNvSpPr txBox="1"/>
          <p:nvPr/>
        </p:nvSpPr>
        <p:spPr>
          <a:xfrm>
            <a:off x="5143500" y="36195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</a:t>
            </a:r>
            <a:endParaRPr lang="en-US" sz="900" dirty="0"/>
          </a:p>
        </p:txBody>
      </p:sp>
      <p:sp>
        <p:nvSpPr>
          <p:cNvPr id="32" name="Text 28"/>
          <p:cNvSpPr txBox="1"/>
          <p:nvPr/>
        </p:nvSpPr>
        <p:spPr>
          <a:xfrm>
            <a:off x="7366000" y="36195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Drafted from the overviews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749300" y="38862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Retainer outcomes per rung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5143500" y="38862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7366000" y="38862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Set — all three retainers</a:t>
            </a:r>
            <a:endParaRPr lang="en-US" sz="900" dirty="0"/>
          </a:p>
        </p:txBody>
      </p:sp>
      <p:sp>
        <p:nvSpPr>
          <p:cNvPr id="36" name="Text 32"/>
          <p:cNvSpPr txBox="1"/>
          <p:nvPr/>
        </p:nvSpPr>
        <p:spPr>
          <a:xfrm>
            <a:off x="749300" y="41529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Staffing, bands and overflow rates behind every rung</a:t>
            </a:r>
            <a:endParaRPr lang="en-US" sz="900" dirty="0"/>
          </a:p>
        </p:txBody>
      </p:sp>
      <p:sp>
        <p:nvSpPr>
          <p:cNvPr id="37" name="Text 33"/>
          <p:cNvSpPr txBox="1"/>
          <p:nvPr/>
        </p:nvSpPr>
        <p:spPr>
          <a:xfrm>
            <a:off x="5143500" y="41529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</a:t>
            </a:r>
            <a:endParaRPr lang="en-US" sz="900" dirty="0"/>
          </a:p>
        </p:txBody>
      </p:sp>
      <p:sp>
        <p:nvSpPr>
          <p:cNvPr id="38" name="Text 34"/>
          <p:cNvSpPr txBox="1"/>
          <p:nvPr/>
        </p:nvSpPr>
        <p:spPr>
          <a:xfrm>
            <a:off x="7366000" y="41529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To capacity-test and price before any customer artifact</a:t>
            </a:r>
            <a:endParaRPr lang="en-US" sz="900" dirty="0"/>
          </a:p>
        </p:txBody>
      </p:sp>
      <p:sp>
        <p:nvSpPr>
          <p:cNvPr id="39" name="Text 35"/>
          <p:cNvSpPr txBox="1"/>
          <p:nvPr/>
        </p:nvSpPr>
        <p:spPr>
          <a:xfrm>
            <a:off x="749300" y="44196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 back-to-back turnarounds</a:t>
            </a:r>
            <a:endParaRPr lang="en-US" sz="900" dirty="0"/>
          </a:p>
        </p:txBody>
      </p:sp>
      <p:sp>
        <p:nvSpPr>
          <p:cNvPr id="40" name="Text 36"/>
          <p:cNvSpPr txBox="1"/>
          <p:nvPr/>
        </p:nvSpPr>
        <p:spPr>
          <a:xfrm>
            <a:off x="5143500" y="44196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</a:t>
            </a:r>
            <a:endParaRPr lang="en-US" sz="900" dirty="0"/>
          </a:p>
        </p:txBody>
      </p:sp>
      <p:sp>
        <p:nvSpPr>
          <p:cNvPr id="41" name="Text 37"/>
          <p:cNvSpPr txBox="1"/>
          <p:nvPr/>
        </p:nvSpPr>
        <p:spPr>
          <a:xfrm>
            <a:off x="7366000" y="44196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Needed before any turnaround is published</a:t>
            </a:r>
            <a:endParaRPr lang="en-US" sz="900" dirty="0"/>
          </a:p>
        </p:txBody>
      </p:sp>
      <p:sp>
        <p:nvSpPr>
          <p:cNvPr id="42" name="Text 38"/>
          <p:cNvSpPr txBox="1"/>
          <p:nvPr/>
        </p:nvSpPr>
        <p:spPr>
          <a:xfrm>
            <a:off x="749300" y="46863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CPPO boundary — Operations vs Partner Development</a:t>
            </a:r>
            <a:endParaRPr lang="en-US" sz="900" dirty="0"/>
          </a:p>
        </p:txBody>
      </p:sp>
      <p:sp>
        <p:nvSpPr>
          <p:cNvPr id="43" name="Text 39"/>
          <p:cNvSpPr txBox="1"/>
          <p:nvPr/>
        </p:nvSpPr>
        <p:spPr>
          <a:xfrm>
            <a:off x="5143500" y="46863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 + Automatum</a:t>
            </a:r>
            <a:endParaRPr lang="en-US" sz="900" dirty="0"/>
          </a:p>
        </p:txBody>
      </p:sp>
      <p:sp>
        <p:nvSpPr>
          <p:cNvPr id="44" name="Text 40"/>
          <p:cNvSpPr txBox="1"/>
          <p:nvPr/>
        </p:nvSpPr>
        <p:spPr>
          <a:xfrm>
            <a:off x="7366000" y="46863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To confirm</a:t>
            </a:r>
            <a:endParaRPr lang="en-US" sz="900" dirty="0"/>
          </a:p>
        </p:txBody>
      </p:sp>
      <p:sp>
        <p:nvSpPr>
          <p:cNvPr id="45" name="Text 41"/>
          <p:cNvSpPr txBox="1"/>
          <p:nvPr/>
        </p:nvSpPr>
        <p:spPr>
          <a:xfrm>
            <a:off x="749300" y="49530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Commercial terms between OBP and Automatum</a:t>
            </a:r>
            <a:endParaRPr lang="en-US" sz="900" dirty="0"/>
          </a:p>
        </p:txBody>
      </p:sp>
      <p:sp>
        <p:nvSpPr>
          <p:cNvPr id="46" name="Text 42"/>
          <p:cNvSpPr txBox="1"/>
          <p:nvPr/>
        </p:nvSpPr>
        <p:spPr>
          <a:xfrm>
            <a:off x="5143500" y="49530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 + Automatum</a:t>
            </a:r>
            <a:endParaRPr lang="en-US" sz="900" dirty="0"/>
          </a:p>
        </p:txBody>
      </p:sp>
      <p:sp>
        <p:nvSpPr>
          <p:cNvPr id="47" name="Text 43"/>
          <p:cNvSpPr txBox="1"/>
          <p:nvPr/>
        </p:nvSpPr>
        <p:spPr>
          <a:xfrm>
            <a:off x="7366000" y="49530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 the agenda for [call date]</a:t>
            </a:r>
            <a:endParaRPr lang="en-US" sz="900" dirty="0"/>
          </a:p>
        </p:txBody>
      </p:sp>
      <p:sp>
        <p:nvSpPr>
          <p:cNvPr id="48" name="Text 44"/>
          <p:cNvSpPr txBox="1"/>
          <p:nvPr/>
        </p:nvSpPr>
        <p:spPr>
          <a:xfrm>
            <a:off x="749300" y="5308600"/>
            <a:ext cx="10795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Stage and partner tier are separate axes. The gate the deck names is Validated or Differentiated, which Differentiated satisfies on its own — attach the stage and tier as shown on Partner Central, the Partner ID, the date checked, and any expiry.</a:t>
            </a:r>
            <a:endParaRPr lang="en-US" sz="850" dirty="0"/>
          </a:p>
        </p:txBody>
      </p:sp>
      <p:sp>
        <p:nvSpPr>
          <p:cNvPr id="49" name="Shape 45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50" name="Text 46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ASK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Approve the two-wave sequence, confirm the lead partner of record, agree the back-to-back turnarounds and the CPPO boundary, and calendar wave one’s Milestone 1 for [date].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EVERYTHING LIVES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set, and how it travels.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overview and deck stands alone and can go to a customer; this deck and the catalog page stay internal.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22 / 22</a:t>
            </a:r>
            <a:endParaRPr lang="en-US" sz="900" dirty="0"/>
          </a:p>
        </p:txBody>
      </p:sp>
      <p:pic>
        <p:nvPicPr>
          <p:cNvPr id="9" name="Image 2" descr="/home/user/barberbook/docs/deck/assets/pan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370" y="2477770"/>
            <a:ext cx="3868420" cy="233934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66420" y="2523490"/>
            <a:ext cx="3576320" cy="2082800"/>
          </a:xfrm>
          <a:prstGeom prst="roundRect">
            <a:avLst>
              <a:gd name="adj" fmla="val 2195"/>
            </a:avLst>
          </a:prstGeom>
          <a:solidFill>
            <a:srgbClr val="FFFFFF"/>
          </a:solidFill>
          <a:ln/>
        </p:spPr>
      </p:sp>
      <p:sp>
        <p:nvSpPr>
          <p:cNvPr id="11" name="Text 6"/>
          <p:cNvSpPr txBox="1"/>
          <p:nvPr/>
        </p:nvSpPr>
        <p:spPr>
          <a:xfrm>
            <a:off x="102362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Customer-facing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023620" y="3175000"/>
            <a:ext cx="27305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Four overviews and four decks per partner — each names its own solution only, and ships only when its brackets are closed.</a:t>
            </a:r>
            <a:endParaRPr lang="en-US" sz="950" dirty="0"/>
          </a:p>
        </p:txBody>
      </p:sp>
      <p:pic>
        <p:nvPicPr>
          <p:cNvPr id="13" name="Image 3" descr="/home/user/barberbook/docs/deck/assets/pane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1790" y="2477770"/>
            <a:ext cx="3868420" cy="23393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307840" y="2523490"/>
            <a:ext cx="3576320" cy="2082800"/>
          </a:xfrm>
          <a:prstGeom prst="roundRect">
            <a:avLst>
              <a:gd name="adj" fmla="val 2195"/>
            </a:avLst>
          </a:prstGeom>
          <a:solidFill>
            <a:srgbClr val="FFFFFF"/>
          </a:solidFill>
          <a:ln/>
        </p:spPr>
      </p:sp>
      <p:sp>
        <p:nvSpPr>
          <p:cNvPr id="15" name="Text 9"/>
          <p:cNvSpPr txBox="1"/>
          <p:nvPr/>
        </p:nvSpPr>
        <p:spPr>
          <a:xfrm>
            <a:off x="476504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4765040" y="3175000"/>
            <a:ext cx="27305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catalog page and this deck: the side-by-side view, the four-buyers page, the commit / target sets, the components register, partner economics, the sequence and the BOX figures.</a:t>
            </a:r>
            <a:endParaRPr lang="en-US" sz="950" dirty="0"/>
          </a:p>
        </p:txBody>
      </p:sp>
      <p:pic>
        <p:nvPicPr>
          <p:cNvPr id="17" name="Image 4" descr="/home/user/barberbook/docs/deck/assets/pane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3210" y="2477770"/>
            <a:ext cx="3868420" cy="233934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8049260" y="2523490"/>
            <a:ext cx="3576320" cy="2082800"/>
          </a:xfrm>
          <a:prstGeom prst="roundRect">
            <a:avLst>
              <a:gd name="adj" fmla="val 2195"/>
            </a:avLst>
          </a:prstGeom>
          <a:solidFill>
            <a:srgbClr val="FFFFFF"/>
          </a:solidFill>
          <a:ln/>
        </p:spPr>
      </p:sp>
      <p:sp>
        <p:nvSpPr>
          <p:cNvPr id="19" name="Text 12"/>
          <p:cNvSpPr txBox="1"/>
          <p:nvPr/>
        </p:nvSpPr>
        <p:spPr>
          <a:xfrm>
            <a:off x="850646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mirror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8506460" y="3175000"/>
            <a:ext cx="27305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two partner sets match exactly, name aside, and the sweep asserts it on every run.</a:t>
            </a:r>
            <a:endParaRPr lang="en-US" sz="950" dirty="0"/>
          </a:p>
        </p:txBody>
      </p:sp>
      <p:sp>
        <p:nvSpPr>
          <p:cNvPr id="21" name="Text 14"/>
          <p:cNvSpPr txBox="1"/>
          <p:nvPr/>
        </p:nvSpPr>
        <p:spPr>
          <a:xfrm>
            <a:off x="657860" y="4978400"/>
            <a:ext cx="635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RENAME CASCADE — PRICE IT BEFORE APPROVING</a:t>
            </a:r>
            <a:endParaRPr lang="en-US" sz="800" dirty="0"/>
          </a:p>
        </p:txBody>
      </p:sp>
      <p:sp>
        <p:nvSpPr>
          <p:cNvPr id="22" name="Text 15"/>
          <p:cNvSpPr txBox="1"/>
          <p:nvPr/>
        </p:nvSpPr>
        <p:spPr>
          <a:xfrm>
            <a:off x="657860" y="5181600"/>
            <a:ext cx="10871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mirror rule means any rung rename — Expand to Activate, say — re-cuts up to four overviews and four decks per partner: sixteen artifacts, plus anything already drafted for a Solution ID or milestone submission. Weigh that before approving the renames, not after.</a:t>
            </a:r>
            <a:endParaRPr lang="en-US" sz="900" dirty="0"/>
          </a:p>
        </p:txBody>
      </p:sp>
      <p:sp>
        <p:nvSpPr>
          <p:cNvPr id="23" name="Shape 16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PUBLISHING RULE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Bracketed placeholders live in the internal deck and never appear in a customer overview or deck.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BOX Solutions — Automatum x OBP (internal)</dc:title>
  <dc:subject>PptxGenJS Presentation</dc:subject>
  <dc:creator>OBP</dc:creator>
  <cp:lastModifiedBy>OBP</cp:lastModifiedBy>
  <cp:revision>1</cp:revision>
  <dcterms:created xsi:type="dcterms:W3CDTF">2026-09-02T17:43:25Z</dcterms:created>
  <dcterms:modified xsi:type="dcterms:W3CDTF">2026-09-02T17:43:25Z</dcterms:modified>
</cp:coreProperties>
</file>