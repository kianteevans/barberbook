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 brief: how Automatum — a cloud-marketplace management platform serving 80+ ISVs on AWS, Azure, GCP and Red Hat — can put Archera to work. The lead motion is attach: Archera is free, it installs in minutes, and it produces savings on an AWS bill every one of Automatum's customers already pays. Secondary motions are a self-funding subscription, FTR acceleration, cover for unforecastable AI spend, and rev-share on premiums through CPPO. Prepared as an alliance-advisory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mechanic slide, and a reference sheet rather than a teaching slide. Three things to say out loud: the commitment sits in their payer account, so counterparty risk is limited to the guarantee rather than to the discount itself; Archera 1-year beats a native 1-year at identical lock-in, 42.75 against 36; and the 30-day rate is only 'worse' than a native 1-year for spend that could actually have taken a year. For a non-technical audience, the plain version is an annual subscription somebody else signs and carries for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attach and stay there — everything else is upside. The reason attach is credible here and not for a typical partner: Automatum already holds the billing relationship, already connects to customer accounts as part of listing work, and already reconciles the marketplace rails the premium bills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exit-path split is the expert detail on this slide: only EC2 Standard RIs have a resale route (the RI Marketplace, which must be enabled), so everything else — Savings Plans included — settles through the rebate guarantee. That answers the obvious objection that Savings Plans cannot be resold. Also worth saying: RDS, OpenSearch, ElastiCache and Redshift often carry as much reservable spend as EC2 in a SaaS estate.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Automatum from a generic partner pitch: the rev-share plumbing most partners would have to build is the product Automatum already sells. The ESR bands are the evidence line — the median company under $500K of annual compute has captured nothing, and that is most of an ISV base. The sequencing slide later in the deck turns these same bands into a sales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defend the inputs — invite the audience to replace them. The point of the slide is that even the conservative column, at $10K a month of average AWS spend, produces a seven-figure savings pool for the base and a five-figure revenue line for Automatum. If Automatum can pull actual spend data for even ten accounts, the base case tightens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left open: we do not put Automatum's price on the slide, because we do not have it and guessing it would undermine everything else. Ask them to fill it in live. If a mid-tier subscription is anywhere below roughly $28K a year, the self-funding claim on the next section is arithmetic rather than marketing.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Signpost slide. If time is short, cover 01 and 02 properly and leave 03 to 05 as a read-ahead.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operational ask on Automatum is small: an install and a report. That is the argument for starting with attach rather than with rev-share — it proves value before anyone negotiates terms. The next two slides make this concrete: where it enters presales, and in what order to work the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operational claim of the whole deck: this fits inside conversations that are already on the calendar. The discovery row is the one to dwell on — a read-only billing connection granted during scoping produces the number every later stage runs on. Stage names here follow Automatum's published motion; confirm the real internal names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argument for starting mid-band: the sub-$500K band is bigger but each win is small, and the $10M+ band is where a botched first conversation is most expensive. Two mid-band pilots produce the numbers that make both other bands easier. The three plays keep the motion from being one-size-fits-all without turning it into bespoke consulting.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retention argument as much as the sales one. Ask them directly: what does a renewal conversation look like when the customer can see a larger number coming back off their AWS bill than they pay you?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oversell this one. Archera automates the assessment, not the remediation — the ISV still has to fix what the review finds. The value is in removing the data-gathering slog and keeping the review current, which is where most FTRs actually 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 AI-heavy ISV this is usually the opening use case rather than the fourth. If the room is full of AI-native customers, promote this slide ahead of use case 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per-account choice, not a one-time fork: refer on the accounts where Automatum wants no delivery role, resell where it already operates consolidated billing or wants the structural margin. The AWS 2025 policy ending cross-customer RI/SP sharing makes the resell question urgent for anyone running consolidated billing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this slide is that the plumbing is Automatum's home turf — CPPO, private offers, metering, disbursement reconciliation are the product they already operate. The two open items on the right are the actual negotiation with Archera; everything on the left is stock work. Do not let the flow read as a quoted deal: the on-slide caveat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Handle with care: the source deck is stamped confidential and do-not-distribute. The anonymised vertical-level figures are used here; the named GCP reference in that pack has been deliberately left out pending clearance. If Archera clears it, the named reference is a strong addition to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pilot to two accounts. The single most useful output of days 0 to 30 is a real coverage baseline across those accounts, because it replaces every assumption on the sizing slide with a measured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this slide to save time. It is the one that makes the other eighteen credible, and the two operational gotchas — rebate cover being off by default, and buybacks needing a filed request — are exactly the kind of thing a partner is well placed to own on the customer's behalf.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two-pilot ask, not on the rev-share. The rev-share is worth more over time, but the pilot is what turns every assumption in this deck into Automatum's own data — and it costs them an install and a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4CC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6583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ALLIANCE ADVISORY BRIEF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Archera to work
</a:t>
            </a:r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Automatum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962656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Insured commitments attached to the 80+ ISVs Automatum already serves — inserted through the presales motion that already runs, with the premium metered through CPPO on the rails Automatum already reconciles.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4315968"/>
            <a:ext cx="1439266" cy="384048"/>
          </a:xfrm>
          <a:prstGeom prst="roundRect">
            <a:avLst>
              <a:gd name="adj" fmla="val 23810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4315968"/>
            <a:ext cx="14392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C4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52498" y="4315968"/>
            <a:ext cx="1618488" cy="384048"/>
          </a:xfrm>
          <a:prstGeom prst="roundRect">
            <a:avLst>
              <a:gd name="adj" fmla="val 23810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52498" y="4315968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C4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ISVs on AWS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17290" y="4315968"/>
            <a:ext cx="1618488" cy="384048"/>
          </a:xfrm>
          <a:prstGeom prst="roundRect">
            <a:avLst>
              <a:gd name="adj" fmla="val 23810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17290" y="4315968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C4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Presales attach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82082" y="4315968"/>
            <a:ext cx="1887322" cy="384048"/>
          </a:xfrm>
          <a:prstGeom prst="roundRect">
            <a:avLst>
              <a:gd name="adj" fmla="val 23810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82082" y="4315968"/>
            <a:ext cx="18873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" kern="0" dirty="0">
                <a:solidFill>
                  <a:srgbClr val="C4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Rev-share via CPPO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18120" y="1298448"/>
            <a:ext cx="3803904" cy="841248"/>
          </a:xfrm>
          <a:prstGeom prst="roundRect">
            <a:avLst>
              <a:gd name="adj" fmla="val 7609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74152" y="14264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43%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074152" y="17739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on-demand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18120" y="2304288"/>
            <a:ext cx="3803904" cy="841248"/>
          </a:xfrm>
          <a:prstGeom prst="roundRect">
            <a:avLst>
              <a:gd name="adj" fmla="val 7609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74152" y="24323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95–100%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074152" y="27797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coverage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18120" y="3310128"/>
            <a:ext cx="3803904" cy="841248"/>
          </a:xfrm>
          <a:prstGeom prst="roundRect">
            <a:avLst>
              <a:gd name="adj" fmla="val 7609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74152" y="34381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074152" y="37856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terms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18120" y="4315968"/>
            <a:ext cx="3803904" cy="841248"/>
          </a:xfrm>
          <a:prstGeom prst="roundRect">
            <a:avLst>
              <a:gd name="adj" fmla="val 7609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74152" y="44439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074152" y="47914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cost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Only Best Practices  ·  AWS Alliance Advisory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Archera, in one slide.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three-year RI or Savings Plan, purchased into the customer's own payer account — in their name, not Archera's. Their contractual obligation is 30 days or twelve months; Archera carries the balance of the term. AWS bills them directly throughout.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836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THREE-YEAR COMMITMENT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11057839" cy="585216"/>
          </a:xfrm>
          <a:prstGeom prst="roundRect">
            <a:avLst>
              <a:gd name="adj" fmla="val 12500"/>
            </a:avLst>
          </a:prstGeom>
          <a:solidFill>
            <a:srgbClr val="1E2668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121408"/>
            <a:ext cx="1920240" cy="585216"/>
          </a:xfrm>
          <a:prstGeom prst="roundRect">
            <a:avLst>
              <a:gd name="adj" fmla="val 12500"/>
            </a:avLst>
          </a:prstGeom>
          <a:solidFill>
            <a:srgbClr val="3B4CC0"/>
          </a:solidFill>
          <a:ln w="9525">
            <a:solidFill>
              <a:srgbClr val="5566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121408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 ·  theirs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779776" y="2121408"/>
            <a:ext cx="849751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carries months 2–36.  </a:t>
            </a:r>
            <a:pPr indent="0" marL="0"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or rebate window open from day 31.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7614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121408" y="27614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167274" y="27614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213141" y="27614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2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0893247" y="27614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3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1455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DISCOUNT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550408" y="31455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FOR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31455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EXIT?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6928" y="3364992"/>
            <a:ext cx="6949440" cy="10973"/>
          </a:xfrm>
          <a:prstGeom prst="rect">
            <a:avLst/>
          </a:prstGeom>
          <a:solidFill>
            <a:srgbClr val="3D456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" y="34747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as you go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50008" y="3602736"/>
            <a:ext cx="1965960" cy="128016"/>
          </a:xfrm>
          <a:prstGeom prst="rect">
            <a:avLst/>
          </a:prstGeom>
          <a:solidFill>
            <a:srgbClr val="1E2668"/>
          </a:solidFill>
          <a:ln w="3175">
            <a:solidFill>
              <a:srgbClr val="1E26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43984" y="3474720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550408" y="34747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4747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3931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30-day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350008" y="4059936"/>
            <a:ext cx="1965960" cy="128016"/>
          </a:xfrm>
          <a:prstGeom prst="rect">
            <a:avLst/>
          </a:prstGeom>
          <a:solidFill>
            <a:srgbClr val="1E2668"/>
          </a:solidFill>
          <a:ln w="3175">
            <a:solidFill>
              <a:srgbClr val="1E26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0008" y="4059936"/>
            <a:ext cx="982980" cy="128016"/>
          </a:xfrm>
          <a:prstGeom prst="rect">
            <a:avLst/>
          </a:prstGeom>
          <a:solidFill>
            <a:srgbClr val="0E93AE"/>
          </a:solidFill>
          <a:ln w="3175">
            <a:solidFill>
              <a:srgbClr val="0E93A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43984" y="3931920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28.5%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550408" y="39319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39319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43891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1-year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350008" y="4517136"/>
            <a:ext cx="1965960" cy="128016"/>
          </a:xfrm>
          <a:prstGeom prst="rect">
            <a:avLst/>
          </a:prstGeom>
          <a:solidFill>
            <a:srgbClr val="1E2668"/>
          </a:solidFill>
          <a:ln w="3175">
            <a:solidFill>
              <a:srgbClr val="1E26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0008" y="4517136"/>
            <a:ext cx="1241659" cy="128016"/>
          </a:xfrm>
          <a:prstGeom prst="rect">
            <a:avLst/>
          </a:prstGeom>
          <a:solidFill>
            <a:srgbClr val="5B6486"/>
          </a:solidFill>
          <a:ln w="3175">
            <a:solidFill>
              <a:srgbClr val="5B648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43984" y="4389120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550408" y="43891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43891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48463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1-year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350008" y="4974336"/>
            <a:ext cx="1965960" cy="128016"/>
          </a:xfrm>
          <a:prstGeom prst="rect">
            <a:avLst/>
          </a:prstGeom>
          <a:solidFill>
            <a:srgbClr val="1E2668"/>
          </a:solidFill>
          <a:ln w="3175">
            <a:solidFill>
              <a:srgbClr val="1E266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50008" y="4974336"/>
            <a:ext cx="1474470" cy="128016"/>
          </a:xfrm>
          <a:prstGeom prst="rect">
            <a:avLst/>
          </a:prstGeom>
          <a:solidFill>
            <a:srgbClr val="5566D8"/>
          </a:solidFill>
          <a:ln w="3175">
            <a:solidFill>
              <a:srgbClr val="5566D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443984" y="4846320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42.75%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5550408" y="48463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766560" y="48463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53035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3-year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350008" y="5431536"/>
            <a:ext cx="1965960" cy="128016"/>
          </a:xfrm>
          <a:prstGeom prst="rect">
            <a:avLst/>
          </a:prstGeom>
          <a:solidFill>
            <a:srgbClr val="1E2668"/>
          </a:solidFill>
          <a:ln w="3175">
            <a:solidFill>
              <a:srgbClr val="1E266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50008" y="5431536"/>
            <a:ext cx="1965960" cy="128016"/>
          </a:xfrm>
          <a:prstGeom prst="rect">
            <a:avLst/>
          </a:prstGeom>
          <a:solidFill>
            <a:srgbClr val="8E96C8"/>
          </a:solidFill>
          <a:ln w="3175">
            <a:solidFill>
              <a:srgbClr val="8E96C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443984" y="5303520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5550408" y="53035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766560" y="53035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66928" y="5760720"/>
            <a:ext cx="7114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the created saving on a 30-day term, 25% on a one-year. No savings, no fee.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7863840" y="3145536"/>
            <a:ext cx="37609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SETTLEMENT PATHS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863840" y="3401568"/>
            <a:ext cx="3760927" cy="1207008"/>
          </a:xfrm>
          <a:prstGeom prst="roundRect">
            <a:avLst>
              <a:gd name="adj" fmla="val 5303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101584" y="3529584"/>
            <a:ext cx="32854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GUARANTEE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8101584" y="3730752"/>
            <a:ext cx="3285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exit.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8101584" y="3986784"/>
            <a:ext cx="3285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buys the commitment back, on terms as short as 30 days. Applies to select AWS commitments — see which, overleaf.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863840" y="4718304"/>
            <a:ext cx="3760927" cy="1207008"/>
          </a:xfrm>
          <a:prstGeom prst="roundRect">
            <a:avLst>
              <a:gd name="adj" fmla="val 5303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101584" y="4846320"/>
            <a:ext cx="32854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REBATE GUARANTEE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8101584" y="5047488"/>
            <a:ext cx="3285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stay, and get paid back.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8101584" y="5303520"/>
            <a:ext cx="32854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losses on what went unused, reimbursed in cash by ACH rather than credits. Broader coverage — and off until switched on.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sells no commitment shorter than one year, at any price. On spend that genuinely cannot take a twelve-month term, the comparison to 28.5% is 0% — not 36%.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566928" y="6345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 ×  Automatum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10527487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 ·  THE CASE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free platform, four ways to win.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is a 100%-free, multicloud commitment-management and FinOps platform. For Automatum it attaches to a base that already exists: 80+ ISVs, every one running on AWS, most carrying reservable spend that has never taken a commitment — and the premium bills through the AWS Marketplace channel Automatum already operates.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432304"/>
            <a:ext cx="2641016" cy="2724912"/>
          </a:xfrm>
          <a:prstGeom prst="roundRect">
            <a:avLst>
              <a:gd name="adj" fmla="val 2424"/>
            </a:avLst>
          </a:prstGeom>
          <a:solidFill>
            <a:srgbClr val="19205C"/>
          </a:solidFill>
          <a:ln w="15875">
            <a:solidFill>
              <a:srgbClr val="3B4C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6517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54096"/>
            <a:ext cx="2128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through presales, to the base you already have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05072"/>
            <a:ext cx="21289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savings analysis rides discovery, coverage lands at go-live, and the QBR gets a value agenda. No new pipeline to build.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72536" y="2432304"/>
            <a:ext cx="2641016" cy="2724912"/>
          </a:xfrm>
          <a:prstGeom prst="roundRect">
            <a:avLst>
              <a:gd name="adj" fmla="val 2424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28568" y="26517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28568" y="3054096"/>
            <a:ext cx="2128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subscription self-funding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28568" y="4005072"/>
            <a:ext cx="21289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customer's AWS saving can cover what they pay Automatum — turning a cost line into one that argues for itself.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8144" y="2432304"/>
            <a:ext cx="2641016" cy="2724912"/>
          </a:xfrm>
          <a:prstGeom prst="roundRect">
            <a:avLst>
              <a:gd name="adj" fmla="val 2424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4176" y="26517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34176" y="3054096"/>
            <a:ext cx="2128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FTR gate faster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34176" y="4005072"/>
            <a:ext cx="21289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Well-Architected Reviews, Lenses and the Foundational Technical Review, written back to the AWS Well-Architected Tool.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83751" y="2432304"/>
            <a:ext cx="2641016" cy="2724912"/>
          </a:xfrm>
          <a:prstGeom prst="roundRect">
            <a:avLst>
              <a:gd name="adj" fmla="val 2424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39783" y="26517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239783" y="3054096"/>
            <a:ext cx="2128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recurring revenue line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239783" y="4005072"/>
            <a:ext cx="21289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on insured-commitment premiums, billed through the AWS Marketplace CPPO channel Automatum already runs.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34009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one is the point.  </a:t>
            </a:r>
            <a:pPr indent="0" marL="0">
              <a:buNone/>
            </a:pPr>
            <a:r>
              <a:rPr lang="en-US" sz="13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three compound on top of it — but the attach motion works on day one, on customers Automatum already bills.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345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 ×  Automatum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527487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 ·  THE CASE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Archera is.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procurement and commitment-management layer that helps AWS teams forecast, optimise and insure their commitments — then keep the savings.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3712464" cy="1316736"/>
          </a:xfrm>
          <a:prstGeom prst="roundRect">
            <a:avLst>
              <a:gd name="adj" fmla="val 4861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6771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&amp; FinOps management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9806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RI and Savings Plan purchasing, and maximise private-pricing coverage.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43984" y="2084832"/>
            <a:ext cx="3712464" cy="1316736"/>
          </a:xfrm>
          <a:prstGeom prst="roundRect">
            <a:avLst>
              <a:gd name="adj" fmla="val 4861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0016" y="226771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&amp; Insured Commitments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00016" y="279806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insurance-backed alternatives — commit without over-commitment risk.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566160"/>
            <a:ext cx="3712464" cy="1316736"/>
          </a:xfrm>
          <a:prstGeom prst="roundRect">
            <a:avLst>
              <a:gd name="adj" fmla="val 4861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74904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assessments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27939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WAFR / WAR, industry and technology Lenses, and the Foundational Technical Review.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43984" y="3566160"/>
            <a:ext cx="3712464" cy="1316736"/>
          </a:xfrm>
          <a:prstGeom prst="roundRect">
            <a:avLst>
              <a:gd name="adj" fmla="val 4861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0016" y="374904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&amp; custom BI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700016" y="427939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business and cloud-cost data into drill-down dashboards and forecasts.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084832"/>
            <a:ext cx="321228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BY EXIT PATH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412480" y="2340864"/>
            <a:ext cx="3212287" cy="1207008"/>
          </a:xfrm>
          <a:prstGeom prst="roundRect">
            <a:avLst>
              <a:gd name="adj" fmla="val 5303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31936" y="2505456"/>
            <a:ext cx="27733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PATH · RESALE EXISTS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631936" y="2724912"/>
            <a:ext cx="277337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Standard RIs — resellable on the RI Marketplace, which must be enabled on the account before a buyback can execute.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12480" y="3675888"/>
            <a:ext cx="3212287" cy="1627632"/>
          </a:xfrm>
          <a:prstGeom prst="roundRect">
            <a:avLst>
              <a:gd name="adj" fmla="val 3933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31936" y="3840480"/>
            <a:ext cx="27733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REBATE PATH · NO RESALE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631936" y="4059936"/>
            <a:ext cx="2773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Savings Plans (EC2, Lambda, Fargate) and the reserved instances, nodes and capacity behind RDS, ElastiCache, OpenSearch, Redshift and DynamoDB. No resale route exists — the rebate guarantee is what covers them.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5431536"/>
            <a:ext cx="32122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split is why the release guarantee applies to select commitments while the rebate guarantee is the broader of the two.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5276088"/>
            <a:ext cx="146304" cy="146304"/>
          </a:xfrm>
          <a:prstGeom prst="ellipse">
            <a:avLst/>
          </a:prstGeom>
          <a:solidFill>
            <a:srgbClr val="19C6E6"/>
          </a:solidFill>
          <a:ln w="3175">
            <a:solidFill>
              <a:srgbClr val="19C6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" y="5138928"/>
            <a:ext cx="3355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itself is 100% free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61688" y="5276088"/>
            <a:ext cx="146304" cy="146304"/>
          </a:xfrm>
          <a:prstGeom prst="ellipse">
            <a:avLst/>
          </a:prstGeom>
          <a:solidFill>
            <a:srgbClr val="19C6E6"/>
          </a:solidFill>
          <a:ln w="3175">
            <a:solidFill>
              <a:srgbClr val="19C6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36008" y="5138928"/>
            <a:ext cx="3355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keep full ownership of their AWS billing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788152"/>
            <a:ext cx="146304" cy="146304"/>
          </a:xfrm>
          <a:prstGeom prst="ellipse">
            <a:avLst/>
          </a:prstGeom>
          <a:solidFill>
            <a:srgbClr val="19C6E6"/>
          </a:solidFill>
          <a:ln w="3175">
            <a:solidFill>
              <a:srgbClr val="19C6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1248" y="5650992"/>
            <a:ext cx="3355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Minimal-privilege install from AWS Marketplace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361688" y="5788152"/>
            <a:ext cx="146304" cy="146304"/>
          </a:xfrm>
          <a:prstGeom prst="ellipse">
            <a:avLst/>
          </a:prstGeom>
          <a:solidFill>
            <a:srgbClr val="19C6E6"/>
          </a:solidFill>
          <a:ln w="3175">
            <a:solidFill>
              <a:srgbClr val="19C6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36008" y="5650992"/>
            <a:ext cx="3355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AWS, Azure and Google Cloud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6345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 ×  Automatum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527487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 ·  THE CASE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 Automatum.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766773" cy="896112"/>
          </a:xfrm>
          <a:prstGeom prst="roundRect">
            <a:avLst>
              <a:gd name="adj" fmla="val 7143"/>
            </a:avLst>
          </a:prstGeom>
          <a:solidFill>
            <a:srgbClr val="1E2668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481328"/>
            <a:ext cx="14741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65376"/>
            <a:ext cx="15838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ISVs live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5141" y="1371600"/>
            <a:ext cx="1766773" cy="896112"/>
          </a:xfrm>
          <a:prstGeom prst="roundRect">
            <a:avLst>
              <a:gd name="adj" fmla="val 7143"/>
            </a:avLst>
          </a:prstGeom>
          <a:solidFill>
            <a:srgbClr val="1E2668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71445" y="1481328"/>
            <a:ext cx="14741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$120M+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2516581" y="1865376"/>
            <a:ext cx="15838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83354" y="1371600"/>
            <a:ext cx="1766773" cy="896112"/>
          </a:xfrm>
          <a:prstGeom prst="roundRect">
            <a:avLst>
              <a:gd name="adj" fmla="val 7143"/>
            </a:avLst>
          </a:prstGeom>
          <a:solidFill>
            <a:srgbClr val="1E2668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29658" y="1481328"/>
            <a:ext cx="14741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374794" y="1865376"/>
            <a:ext cx="15838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since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41568" y="1371600"/>
            <a:ext cx="1766773" cy="896112"/>
          </a:xfrm>
          <a:prstGeom prst="roundRect">
            <a:avLst>
              <a:gd name="adj" fmla="val 7143"/>
            </a:avLst>
          </a:prstGeom>
          <a:solidFill>
            <a:srgbClr val="1E2668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7872" y="1481328"/>
            <a:ext cx="14741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233008" y="1865376"/>
            <a:ext cx="15838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99781" y="1371600"/>
            <a:ext cx="1766773" cy="896112"/>
          </a:xfrm>
          <a:prstGeom prst="roundRect">
            <a:avLst>
              <a:gd name="adj" fmla="val 7143"/>
            </a:avLst>
          </a:prstGeom>
          <a:solidFill>
            <a:srgbClr val="1E2668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46085" y="1481328"/>
            <a:ext cx="14741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days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091221" y="1865376"/>
            <a:ext cx="15838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first listing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857994" y="1371600"/>
            <a:ext cx="1766773" cy="896112"/>
          </a:xfrm>
          <a:prstGeom prst="roundRect">
            <a:avLst>
              <a:gd name="adj" fmla="val 7143"/>
            </a:avLst>
          </a:prstGeom>
          <a:solidFill>
            <a:srgbClr val="1E2668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04298" y="1481328"/>
            <a:ext cx="14741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CPPO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949434" y="1865376"/>
            <a:ext cx="15838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in place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2450592"/>
            <a:ext cx="3576218" cy="2212848"/>
          </a:xfrm>
          <a:prstGeom prst="roundRect">
            <a:avLst>
              <a:gd name="adj" fmla="val 2893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2724912"/>
            <a:ext cx="384048" cy="45720"/>
          </a:xfrm>
          <a:prstGeom prst="rect">
            <a:avLst/>
          </a:prstGeom>
          <a:solidFill>
            <a:srgbClr val="3B4CC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" y="2907792"/>
            <a:ext cx="30275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hold the relationship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" y="3639312"/>
            <a:ext cx="30275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logo and no new contract vehicle. This is an offer to customers Automatum already bills every month, through a conversation that is already scheduled.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07738" y="2450592"/>
            <a:ext cx="3576218" cy="2212848"/>
          </a:xfrm>
          <a:prstGeom prst="roundRect">
            <a:avLst>
              <a:gd name="adj" fmla="val 2893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82058" y="2724912"/>
            <a:ext cx="384048" cy="45720"/>
          </a:xfrm>
          <a:prstGeom prst="rect">
            <a:avLst/>
          </a:prstGeom>
          <a:solidFill>
            <a:srgbClr val="0E93A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82058" y="2907792"/>
            <a:ext cx="30275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run the plumbing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582058" y="3639312"/>
            <a:ext cx="30275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Archera's premium bills through AWS Marketplace and draws down the customer's EDP or MACC commit. Private offers, metering and CPPO resale are Automatum's core competency, not a new build.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8549" y="2450592"/>
            <a:ext cx="3576218" cy="2212848"/>
          </a:xfrm>
          <a:prstGeom prst="roundRect">
            <a:avLst>
              <a:gd name="adj" fmla="val 2893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2869" y="2724912"/>
            <a:ext cx="38404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22869" y="2907792"/>
            <a:ext cx="30275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customers are the under-covered band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22869" y="3639312"/>
            <a:ext cx="302757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and scaleups sit exactly where measured coverage is lowest. The captured-savings bands below are the sales map for the base.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SAVING ALREADY CAPTURED, BY ANNUAL AWS COMPUTE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66928" y="5029200"/>
            <a:ext cx="3576218" cy="566928"/>
          </a:xfrm>
          <a:prstGeom prst="roundRect">
            <a:avLst>
              <a:gd name="adj" fmla="val 11290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4672" y="5102352"/>
            <a:ext cx="2387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$500K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04672" y="52486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1664208" y="5248656"/>
            <a:ext cx="22411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307738" y="5029200"/>
            <a:ext cx="3576218" cy="566928"/>
          </a:xfrm>
          <a:prstGeom prst="roundRect">
            <a:avLst>
              <a:gd name="adj" fmla="val 11290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45482" y="5102352"/>
            <a:ext cx="2387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– $10M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4545482" y="52486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5405018" y="5248656"/>
            <a:ext cx="22411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048549" y="5029200"/>
            <a:ext cx="3576218" cy="566928"/>
          </a:xfrm>
          <a:prstGeom prst="roundRect">
            <a:avLst>
              <a:gd name="adj" fmla="val 11290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86293" y="5102352"/>
            <a:ext cx="2387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$10M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8286293" y="52486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700" dirty="0"/>
          </a:p>
        </p:txBody>
      </p:sp>
      <p:sp>
        <p:nvSpPr>
          <p:cNvPr id="46" name="Text 44"/>
          <p:cNvSpPr txBox="1"/>
          <p:nvPr/>
        </p:nvSpPr>
        <p:spPr>
          <a:xfrm>
            <a:off x="9145829" y="5248656"/>
            <a:ext cx="22411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566928" y="572414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multicloud shape matches too — </a:t>
            </a:r>
            <a:pPr indent="0" marL="0"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Insured Commitments cover AWS, Azure and Google Cloud from one control plane.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66928" y="599846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Automatum figures per the company's published positioning (automatum.io) — confirm before circulation. Bands: ProsperOps median Effective Savings Rate by annual AWS compute usage, read from billing data.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566928" y="6345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 ×  Automatum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0527487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  ·  THE OPPORTUNITY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in your base, sized.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assumption is on the slide. Change any one of them and the arithmetic follows — the shape of the answer does not.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903720" y="1792224"/>
            <a:ext cx="2322576" cy="3822192"/>
          </a:xfrm>
          <a:prstGeom prst="roundRect">
            <a:avLst>
              <a:gd name="adj" fmla="val 2756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8836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18836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281160" y="18836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2157984"/>
            <a:ext cx="11057839" cy="10973"/>
          </a:xfrm>
          <a:prstGeom prst="rect">
            <a:avLst/>
          </a:prstGeom>
          <a:solidFill>
            <a:srgbClr val="3D456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26771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ISVs running on AWS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2677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2677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281160" y="22677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67919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AWS spend per ISV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6791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 / mo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26791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 / mo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6791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/ mo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0906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annual AWS spend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0906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$9.6M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30906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$24.0M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30906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$48.0M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5021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60% reservable  (compute, RDS, OpenSearch, ElastiCache, Redshift, DynamoDB)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5021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$5.8M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35021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$14.4M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35021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$28.8M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3867912"/>
            <a:ext cx="11057839" cy="10973"/>
          </a:xfrm>
          <a:prstGeom prst="rect">
            <a:avLst/>
          </a:prstGeom>
          <a:solidFill>
            <a:srgbClr val="3D456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6928" y="391363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45% not yet covered by any commitment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892040" y="39136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$2.6M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39136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$6.5M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39136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$13.0M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432511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savings to the ISVs  ·  35% blended Archera rate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92040" y="43251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$0.91M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43251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$2.27M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281160" y="43251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$4.54M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473659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premium pool  ·  22% of addressable spend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92040" y="47365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$0.57M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086600" y="47365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$1.43M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281160" y="47365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$2.85M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66928" y="5102352"/>
            <a:ext cx="11057839" cy="10973"/>
          </a:xfrm>
          <a:prstGeom prst="rect">
            <a:avLst/>
          </a:prstGeom>
          <a:solidFill>
            <a:srgbClr val="3D4569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66928" y="51480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 to Automatum  ·  10–20% rev-share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4892040" y="51480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$57–114K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086600" y="51480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$143–285K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281160" y="51480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$285–570K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66928" y="57607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Illustrative. Reservable share and the blended Archera rate are assumptions; the 45% coverage gap follows the measured 55% median AWS commitment coverage (ProsperOps). The 22% premium is the gap between the 57% a three-year creates and the 35% blended net the customer keeps. The 10–20% rev-share band is a placeholder pending terms with Archera.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6345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 ×  Automatum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527487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  ·  THE OPPORTUNITY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customer, worked.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ISV at the base-case spend. No re-architecting and no workload migration — connecting billing is the whole project.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29968"/>
            <a:ext cx="3576218" cy="1371600"/>
          </a:xfrm>
          <a:prstGeom prst="roundRect">
            <a:avLst>
              <a:gd name="adj" fmla="val 4667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3064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33472"/>
            <a:ext cx="30641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 on AWS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9504"/>
            <a:ext cx="30641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 a month — the base-case ISV.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7738" y="2029968"/>
            <a:ext cx="3576218" cy="1371600"/>
          </a:xfrm>
          <a:prstGeom prst="roundRect">
            <a:avLst>
              <a:gd name="adj" fmla="val 4667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3770" y="2194560"/>
            <a:ext cx="3064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63770" y="2633472"/>
            <a:ext cx="30641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reservable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63770" y="2889504"/>
            <a:ext cx="30641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the bill: EC2 and SP-eligible compute, plus RDS, OpenSearch, ElastiCache, Redshift, DynamoDB.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8549" y="2029968"/>
            <a:ext cx="3576218" cy="1371600"/>
          </a:xfrm>
          <a:prstGeom prst="roundRect">
            <a:avLst>
              <a:gd name="adj" fmla="val 4667"/>
            </a:avLst>
          </a:prstGeom>
          <a:solidFill>
            <a:srgbClr val="1E2668"/>
          </a:solidFill>
          <a:ln w="1397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04581" y="2194560"/>
            <a:ext cx="3064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$81K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304581" y="2633472"/>
            <a:ext cx="30641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covered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04581" y="2889504"/>
            <a:ext cx="30641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of the reservable base, at the measured median coverage. This is what Archera is for.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62102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BACK ON THAT $81K, BY TERM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" y="3895344"/>
            <a:ext cx="3576218" cy="1225296"/>
          </a:xfrm>
          <a:prstGeom prst="roundRect">
            <a:avLst>
              <a:gd name="adj" fmla="val 5224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041648"/>
            <a:ext cx="30641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30-day  ·  28.5%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297680"/>
            <a:ext cx="30641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$23.1K</a:t>
            </a:r>
            <a:pPr indent="0" marL="0">
              <a:buNone/>
            </a:pPr>
            <a:r>
              <a:rPr lang="en-US" sz="11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year</a:t>
            </a:r>
            <a:endParaRPr lang="en-US" sz="2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718304"/>
            <a:ext cx="3064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any time after 30 days.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07738" y="3895344"/>
            <a:ext cx="3576218" cy="1225296"/>
          </a:xfrm>
          <a:prstGeom prst="roundRect">
            <a:avLst>
              <a:gd name="adj" fmla="val 5224"/>
            </a:avLst>
          </a:prstGeom>
          <a:solidFill>
            <a:srgbClr val="19205C"/>
          </a:solidFill>
          <a:ln w="13970">
            <a:solidFill>
              <a:srgbClr val="3B4CC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63770" y="4041648"/>
            <a:ext cx="30641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 ·  35%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63770" y="4297680"/>
            <a:ext cx="30641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$28.4K</a:t>
            </a:r>
            <a:pPr indent="0" marL="0">
              <a:buNone/>
            </a:pPr>
            <a:r>
              <a:rPr lang="en-US" sz="11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year</a:t>
            </a:r>
            <a:endParaRPr lang="en-US" sz="2500" dirty="0"/>
          </a:p>
        </p:txBody>
      </p:sp>
      <p:sp>
        <p:nvSpPr>
          <p:cNvPr id="25" name="Text 23"/>
          <p:cNvSpPr txBox="1"/>
          <p:nvPr/>
        </p:nvSpPr>
        <p:spPr>
          <a:xfrm>
            <a:off x="4563770" y="4718304"/>
            <a:ext cx="3064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realistic mix across an estate.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48549" y="3895344"/>
            <a:ext cx="3576218" cy="1225296"/>
          </a:xfrm>
          <a:prstGeom prst="roundRect">
            <a:avLst>
              <a:gd name="adj" fmla="val 5224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04581" y="4041648"/>
            <a:ext cx="30641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1-year  ·  42.75%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304581" y="4297680"/>
            <a:ext cx="30641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$34.6K</a:t>
            </a:r>
            <a:pPr indent="0" marL="0">
              <a:buNone/>
            </a:pPr>
            <a:r>
              <a:rPr lang="en-US" sz="11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year</a:t>
            </a:r>
            <a:endParaRPr lang="en-US" sz="2500" dirty="0"/>
          </a:p>
        </p:txBody>
      </p:sp>
      <p:sp>
        <p:nvSpPr>
          <p:cNvPr id="29" name="Text 27"/>
          <p:cNvSpPr txBox="1"/>
          <p:nvPr/>
        </p:nvSpPr>
        <p:spPr>
          <a:xfrm>
            <a:off x="8304581" y="4718304"/>
            <a:ext cx="3064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lock-in as a native one-year, 6.75 points better.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5266944"/>
            <a:ext cx="11057839" cy="658368"/>
          </a:xfrm>
          <a:prstGeom prst="roundRect">
            <a:avLst>
              <a:gd name="adj" fmla="val 9722"/>
            </a:avLst>
          </a:prstGeom>
          <a:solidFill>
            <a:srgbClr val="141A4F"/>
          </a:solidFill>
          <a:ln w="13970">
            <a:solidFill>
              <a:srgbClr val="3B4CC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7824" y="5266944"/>
            <a:ext cx="104360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$28.4K a year back, on one mid-sized customer.  </a:t>
            </a:r>
            <a:pPr indent="0" marL="0">
              <a:buNone/>
            </a:pPr>
            <a:r>
              <a:rPr lang="en-US" sz="13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that ISV pays Automatum, this is the number that now sits next to it on the renewal.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at the base-case assumptions from the previous slide. Net of Archera's premium. Drop Automatum's own list price into the final box to close the argument in front of a customer.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6345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 ×  Automatum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527487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  ·  THE MOTIONS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to put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to work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79806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stands on its own and they compound together. The first is the one that works on day one — the two slides after it show how it runs through presales and across the base.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804672"/>
            <a:ext cx="5315407" cy="969264"/>
          </a:xfrm>
          <a:prstGeom prst="roundRect">
            <a:avLst>
              <a:gd name="adj" fmla="val 6604"/>
            </a:avLst>
          </a:prstGeom>
          <a:solidFill>
            <a:srgbClr val="1E2668"/>
          </a:solidFill>
          <a:ln w="13970">
            <a:solidFill>
              <a:srgbClr val="3B4C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47104" y="804672"/>
            <a:ext cx="457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114032" y="914400"/>
            <a:ext cx="42729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savings to every ISV you already serve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14032" y="1371600"/>
            <a:ext cx="42729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install, minimal privileges, live in days.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883664"/>
            <a:ext cx="5315407" cy="969264"/>
          </a:xfrm>
          <a:prstGeom prst="roundRect">
            <a:avLst>
              <a:gd name="adj" fmla="val 6604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47104" y="1883664"/>
            <a:ext cx="457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14032" y="1993392"/>
            <a:ext cx="42729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Automatum subscription self-funding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114032" y="2450592"/>
            <a:ext cx="42729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customer's AWS bill starts paying for the programme.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2962656"/>
            <a:ext cx="5315407" cy="969264"/>
          </a:xfrm>
          <a:prstGeom prst="roundRect">
            <a:avLst>
              <a:gd name="adj" fmla="val 6604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47104" y="2962656"/>
            <a:ext cx="457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114032" y="3072384"/>
            <a:ext cx="42729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FTR gate faster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114032" y="3529584"/>
            <a:ext cx="42729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WAFR, Lenses and FTR at no tooling cost.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4041648"/>
            <a:ext cx="5315407" cy="969264"/>
          </a:xfrm>
          <a:prstGeom prst="roundRect">
            <a:avLst>
              <a:gd name="adj" fmla="val 6604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47104" y="4041648"/>
            <a:ext cx="457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14032" y="4151376"/>
            <a:ext cx="42729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spend nobody can forecast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114032" y="4608576"/>
            <a:ext cx="42729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bursty and migrating workloads, insured.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5120640"/>
            <a:ext cx="5315407" cy="969264"/>
          </a:xfrm>
          <a:prstGeom prst="roundRect">
            <a:avLst>
              <a:gd name="adj" fmla="val 6604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47104" y="5120640"/>
            <a:ext cx="457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5230368"/>
            <a:ext cx="427299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recurring revenue line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114032" y="5687568"/>
            <a:ext cx="42729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Rev-share on premiums, billed via AWS Marketplace CPPO.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345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 ×  Automatum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527487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01  ·  THE PRIMARY MOTION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savings to every ISV you already serve.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build, nothing to staff, and no new commercial relationship to open. The base already exists.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5216" y="2194560"/>
            <a:ext cx="155448" cy="155448"/>
          </a:xfrm>
          <a:prstGeom prst="ellipse">
            <a:avLst/>
          </a:prstGeom>
          <a:solidFill>
            <a:srgbClr val="19C6E6"/>
          </a:solidFill>
          <a:ln w="3175">
            <a:solidFill>
              <a:srgbClr val="19C6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4825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customer's AWS account in minutes, with minimal privileges — installed from AWS Marketplace.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5216" y="2816352"/>
            <a:ext cx="155448" cy="155448"/>
          </a:xfrm>
          <a:prstGeom prst="ellipse">
            <a:avLst/>
          </a:prstGeom>
          <a:solidFill>
            <a:srgbClr val="19C6E6"/>
          </a:solidFill>
          <a:ln w="3175">
            <a:solidFill>
              <a:srgbClr val="19C6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6700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savings analysis shows the coverage gap in hard numbers before anyone commits to anything.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5216" y="3438144"/>
            <a:ext cx="155448" cy="155448"/>
          </a:xfrm>
          <a:prstGeom prst="ellipse">
            <a:avLst/>
          </a:prstGeom>
          <a:solidFill>
            <a:srgbClr val="19C6E6"/>
          </a:solidFill>
          <a:ln w="3175">
            <a:solidFill>
              <a:srgbClr val="19C6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2918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optimisation only: no re-architecting, no workload migration, no change to how the ISV runs.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5216" y="4059936"/>
            <a:ext cx="155448" cy="155448"/>
          </a:xfrm>
          <a:prstGeom prst="ellipse">
            <a:avLst/>
          </a:prstGeom>
          <a:solidFill>
            <a:srgbClr val="19C6E6"/>
          </a:solidFill>
          <a:ln w="3175">
            <a:solidFill>
              <a:srgbClr val="19C6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91363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days — inside the onboarding window Automatum already promises, on the access the listing build already needs.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5216" y="4681728"/>
            <a:ext cx="155448" cy="155448"/>
          </a:xfrm>
          <a:prstGeom prst="ellipse">
            <a:avLst/>
          </a:prstGeom>
          <a:solidFill>
            <a:srgbClr val="19C6E6"/>
          </a:solidFill>
          <a:ln w="3175">
            <a:solidFill>
              <a:srgbClr val="19C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53542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free. The customer pays a premium only on savings actually created.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80960" y="1956816"/>
            <a:ext cx="3943807" cy="3310128"/>
          </a:xfrm>
          <a:prstGeom prst="roundRect">
            <a:avLst>
              <a:gd name="adj" fmla="val 1934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0" y="2176272"/>
            <a:ext cx="33951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TO AUTOMATUM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2505456"/>
            <a:ext cx="339516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value-add that can be offered to the whole base at once, not sold account by account.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3236976"/>
            <a:ext cx="339516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conversation opens with a number from the customer's own bill, not a pitch.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3968496"/>
            <a:ext cx="339516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Archera's reference book runs 93–100% commitment utilisation — savings get used, not idled.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4700016"/>
            <a:ext cx="339516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the quarterly check-in a reason to exist beyond listing maintenance.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230368"/>
            <a:ext cx="2231136" cy="713232"/>
          </a:xfrm>
          <a:prstGeom prst="roundRect">
            <a:avLst>
              <a:gd name="adj" fmla="val 8974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" y="5321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billing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" y="5614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Minimal-privilege install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62656" y="5230368"/>
            <a:ext cx="2231136" cy="713232"/>
          </a:xfrm>
          <a:prstGeom prst="roundRect">
            <a:avLst>
              <a:gd name="adj" fmla="val 8974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63824" y="5321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gap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163824" y="5614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savings analysis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58384" y="5230368"/>
            <a:ext cx="2231136" cy="713232"/>
          </a:xfrm>
          <a:prstGeom prst="roundRect">
            <a:avLst>
              <a:gd name="adj" fmla="val 8974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59552" y="5321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it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559552" y="5614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or 1-year terms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345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 ×  Automatum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527487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MOTION  ·  PRESALES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Archera enters your presales motion.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pipeline and no new meeting. Each stage Automatum already runs gets one insertion point — mapped here against the published motion; swap in your internal stage names.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29968"/>
            <a:ext cx="11057839" cy="658368"/>
          </a:xfrm>
          <a:prstGeom prst="roundRect">
            <a:avLst>
              <a:gd name="adj" fmla="val 9722"/>
            </a:avLst>
          </a:prstGeom>
          <a:solidFill>
            <a:srgbClr val="1E2668"/>
          </a:solidFill>
          <a:ln w="13970">
            <a:solidFill>
              <a:srgbClr val="3B4C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214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042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savings analysis is a discovery artifact, not a pitch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70248" y="2084832"/>
            <a:ext cx="7080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read-only billing access in the scoping conversation that already happens. A coverage and effective-savings number comes back inside the week — and earns a seat with the ISV's finance owner, not just product.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779776"/>
            <a:ext cx="11057839" cy="658368"/>
          </a:xfrm>
          <a:prstGeom prst="roundRect">
            <a:avLst>
              <a:gd name="adj" fmla="val 9722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8712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BUILD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540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account, two outputs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270248" y="2834640"/>
            <a:ext cx="7080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minimal-privilege connection that runs the savings analysis auto-populates FTR and Well-Architected. No second ask of the customer.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529584"/>
            <a:ext cx="11057839" cy="658368"/>
          </a:xfrm>
          <a:prstGeom prst="roundRect">
            <a:avLst>
              <a:gd name="adj" fmla="val 9722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6210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80390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lands before marketplace revenue ramps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270248" y="3584448"/>
            <a:ext cx="7080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saving shows up on the ISV's AWS bill from the first covered month — offsetting the Automatum fee while the listing is still ramping.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279392"/>
            <a:ext cx="11057839" cy="658368"/>
          </a:xfrm>
          <a:prstGeom prst="roundRect">
            <a:avLst>
              <a:gd name="adj" fmla="val 9722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3708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&amp; CO-SELL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537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the AWS seller can act 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270248" y="4334256"/>
            <a:ext cx="7080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realised on the customer's own bill is a concrete reason for the AWS account team to engage — and it strengthens the co-sell narrative on the listing side too.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5029200"/>
            <a:ext cx="11057839" cy="658368"/>
          </a:xfrm>
          <a:prstGeom prst="roundRect">
            <a:avLst>
              <a:gd name="adj" fmla="val 9722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1206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QBR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3035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maintenance check-in to value review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270248" y="5084064"/>
            <a:ext cx="7080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drift, utilisation and savings-to-date give the quarterly conversation an agenda beyond listing upkeep — and set up the renewal.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870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what:  </a:t>
            </a:r>
            <a:pPr indent="0" marL="0">
              <a:buNone/>
            </a:pPr>
            <a:r>
              <a:rPr lang="en-US" sz="11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Automatum presales runs the connect and the analysis. Archera builds and manages the commitments. The ISV signs one private offer.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345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 ×  Automatum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527487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MOTION  ·  THE INSTALLED BASE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the 80+: sequence by spend, not tenure.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saving already captured, by annual AWS compute spend — the bands say where to start and what to lead with.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29968"/>
            <a:ext cx="3576218" cy="2249424"/>
          </a:xfrm>
          <a:prstGeom prst="roundRect">
            <a:avLst>
              <a:gd name="adj" fmla="val 2846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12848"/>
            <a:ext cx="3064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$500K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14016"/>
            <a:ext cx="30641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pPr indent="0" marL="0">
              <a:buNone/>
            </a:pPr>
            <a:r>
              <a:rPr lang="en-US" sz="105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captured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71216"/>
            <a:ext cx="306415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base. Smallest per account, fastest to close — nobody there has a FinOps function, and the median company is simply paying list.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85616"/>
            <a:ext cx="30641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the motion: standard analysis, standard offer.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07738" y="2029968"/>
            <a:ext cx="3576218" cy="2249424"/>
          </a:xfrm>
          <a:prstGeom prst="roundRect">
            <a:avLst>
              <a:gd name="adj" fmla="val 2846"/>
            </a:avLst>
          </a:prstGeom>
          <a:solidFill>
            <a:srgbClr val="1E2668"/>
          </a:solidFill>
          <a:ln w="15240">
            <a:solidFill>
              <a:srgbClr val="0E93A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63770" y="2212848"/>
            <a:ext cx="3064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– $10M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63770" y="2414016"/>
            <a:ext cx="30641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pPr indent="0" marL="0">
              <a:buNone/>
            </a:pPr>
            <a:r>
              <a:rPr lang="en-US" sz="105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captured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563770" y="2871216"/>
            <a:ext cx="306415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sweet spot: enough spend for the number to matter, no dedicated FinOps team to defend the status quo.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63770" y="3785616"/>
            <a:ext cx="30641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here. Two pilots prove the motion on real numbers.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8549" y="2029968"/>
            <a:ext cx="3576218" cy="2249424"/>
          </a:xfrm>
          <a:prstGeom prst="roundRect">
            <a:avLst>
              <a:gd name="adj" fmla="val 2846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04581" y="2212848"/>
            <a:ext cx="3064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$10M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304581" y="2414016"/>
            <a:ext cx="30641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pPr indent="0" marL="0">
              <a:buNone/>
            </a:pPr>
            <a:r>
              <a:rPr lang="en-US" sz="105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captured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304581" y="2871216"/>
            <a:ext cx="306415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accounts, biggest absolute savings, hardest sell — they have FinOps and will interrogate every term.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304581" y="3785616"/>
            <a:ext cx="30641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last, armed with your own pilot data.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4805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PLAYS, BY ACCOUNT STATE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" y="4754880"/>
            <a:ext cx="3576218" cy="914400"/>
          </a:xfrm>
          <a:prstGeom prst="roundRect">
            <a:avLst>
              <a:gd name="adj" fmla="val 7000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4864608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and stable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120640"/>
            <a:ext cx="310073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at the next QBR. Open with the account's own coverage number, not a product.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07738" y="4754880"/>
            <a:ext cx="3576218" cy="914400"/>
          </a:xfrm>
          <a:prstGeom prst="roundRect">
            <a:avLst>
              <a:gd name="adj" fmla="val 7000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45482" y="4864608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onboarding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45482" y="5120640"/>
            <a:ext cx="310073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during the listing build — the analysis rides the access the build already needs.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48549" y="4754880"/>
            <a:ext cx="3576218" cy="914400"/>
          </a:xfrm>
          <a:prstGeom prst="roundRect">
            <a:avLst>
              <a:gd name="adj" fmla="val 7000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6293" y="4864608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GPU-heavy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286293" y="5120640"/>
            <a:ext cx="310073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forecast variance, not the discount. This spend cannot take a native term at all.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5815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the motion like marketplace revenue: accounts connected, coverage baseline, savings realised, premium billed, rev-share accrued. The constraint is calendar time and analysis throughput, not lead generation — every account is already a customer. Bands: ProsperOps median Effective Savings Rate by annual AWS compute usage.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345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 ×  Automatum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527487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02  ·  THE COMPETITIVE WEDGE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Automatum subscription self-funding.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Automatum already competes on price — roughly a fifth of what legacy marketplace platforms charge. Archera changes the comparison entirely: the customer's own AWS bill starts paying for the marketplace programme.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04288"/>
            <a:ext cx="5419192" cy="2304288"/>
          </a:xfrm>
          <a:prstGeom prst="roundRect">
            <a:avLst>
              <a:gd name="adj" fmla="val 2778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523744"/>
            <a:ext cx="479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TODAY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816352"/>
            <a:ext cx="4797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management, at a fraction of the price of the incumbents.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730752"/>
            <a:ext cx="479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good pitch, and it is still a cost line. A finance team has to approve it against everything else competing for the same budget.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05576" y="2304288"/>
            <a:ext cx="5419192" cy="2304288"/>
          </a:xfrm>
          <a:prstGeom prst="roundRect">
            <a:avLst>
              <a:gd name="adj" fmla="val 2778"/>
            </a:avLst>
          </a:prstGeom>
          <a:solidFill>
            <a:srgbClr val="1E2668"/>
          </a:solidFill>
          <a:ln w="15875">
            <a:solidFill>
              <a:srgbClr val="3B4C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6472" y="2523744"/>
            <a:ext cx="479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WITH ARCHERA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516472" y="2816352"/>
            <a:ext cx="4797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management that returns tens of thousands a year off the AWS bill.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16472" y="3730752"/>
            <a:ext cx="479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subscription, argued from the customer's own billing data. The question moves from “can we afford this?” to “why haven't we done this already?”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4791456"/>
            <a:ext cx="11057839" cy="1005840"/>
          </a:xfrm>
          <a:prstGeom prst="roundRect">
            <a:avLst>
              <a:gd name="adj" fmla="val 6364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" y="4937760"/>
            <a:ext cx="1043604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changes what churn looks like.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subscription that visibly returns more than it costs is not a line item anyone hunts for in a cost-cutting review — and the savings only continue while the platform stays connected.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comparison per Automatum's published positioning against legacy marketplace platforms. Savings figures per the worked example on slide 10.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345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 ×  Automatum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527487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03  ·  ASSESSMENTS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FTR gate faster.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Technical Review gates ISV Accelerate and co-sell. Archera auto-populates it from the live environment and writes the results back into the native AWS Well-Architected Tool — at no tooling cost.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3621024" cy="1389888"/>
          </a:xfrm>
          <a:prstGeom prst="roundRect">
            <a:avLst>
              <a:gd name="adj" fmla="val 4605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0428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 from the live environment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5292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account and the framework fills itself in. No manual data gathering, no questionnaire chase.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2544" y="2139696"/>
            <a:ext cx="3621024" cy="1389888"/>
          </a:xfrm>
          <a:prstGeom prst="roundRect">
            <a:avLst>
              <a:gd name="adj" fmla="val 4605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08576" y="230428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whole framework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08576" y="285292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WAFR / WAR, industry and technology Lenses, and the Foundational Technical Review itself.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694176"/>
            <a:ext cx="3621024" cy="1389888"/>
          </a:xfrm>
          <a:prstGeom prst="roundRect">
            <a:avLst>
              <a:gd name="adj" fmla="val 4605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85876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back to the AWS tooling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40740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land in the native AWS Well-Architected Tool, where AWS expects to find them.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52544" y="3694176"/>
            <a:ext cx="3621024" cy="1389888"/>
          </a:xfrm>
          <a:prstGeom prst="roundRect">
            <a:avLst>
              <a:gd name="adj" fmla="val 4605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08576" y="385876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current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08576" y="440740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best-practice adoption, flag regressions, assign remediation, and keep an audit history.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2139696"/>
            <a:ext cx="3395167" cy="2944368"/>
          </a:xfrm>
          <a:prstGeom prst="roundRect">
            <a:avLst>
              <a:gd name="adj" fmla="val 2174"/>
            </a:avLst>
          </a:prstGeom>
          <a:solidFill>
            <a:srgbClr val="1E2668"/>
          </a:solidFill>
          <a:ln w="13970">
            <a:solidFill>
              <a:srgbClr val="3B4C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0" y="2359152"/>
            <a:ext cx="28465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2706624"/>
            <a:ext cx="284652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fits inside the ~14-day go-live rather than extending it.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3456432"/>
            <a:ext cx="284652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reviews help unlock AWS credits, assessment-driven discounts and funding programmes for the ISV.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4206240"/>
            <a:ext cx="284652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gate Automatum clears for the customer instead of handing back with instructions.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23036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7824" y="5230368"/>
            <a:ext cx="104360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checking: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of Automatum's 80+ ISVs have a current FTR, and how many stalled on it. That number is the size of this use case, and Automatum is one of the few parties who can actually find out.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45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 ×  Automatum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527487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04  ·  UNFORECASTABLE SPEND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spend nobody can forecast.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Automatum's base skews startup and scaleup SaaS — the segment carrying GPU, training and inference spend with month-to-month variance no one- or three-year term can absorb. Committing it natively means betting a fixed term against a forecast nobody stands behind.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2641016" cy="1920240"/>
          </a:xfrm>
          <a:prstGeom prst="roundRect">
            <a:avLst>
              <a:gd name="adj" fmla="val 3333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432304"/>
            <a:ext cx="2128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migrations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90672"/>
            <a:ext cx="21289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migrating workloads while the team is still deciding what to do with them.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72536" y="2212848"/>
            <a:ext cx="2641016" cy="1920240"/>
          </a:xfrm>
          <a:prstGeom prst="roundRect">
            <a:avLst>
              <a:gd name="adj" fmla="val 3333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28568" y="2432304"/>
            <a:ext cx="2128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Re-architect freely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28568" y="3090672"/>
            <a:ext cx="21289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terms plus rebate protection mean nobody is tied to old infrastructure by a bad commitment.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8144" y="2212848"/>
            <a:ext cx="2641016" cy="1920240"/>
          </a:xfrm>
          <a:prstGeom prst="roundRect">
            <a:avLst>
              <a:gd name="adj" fmla="val 3333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2432304"/>
            <a:ext cx="2128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bursty demand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34176" y="3090672"/>
            <a:ext cx="21289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short-term spikes with commitments sized to the event rather than to the year.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83751" y="2212848"/>
            <a:ext cx="2641016" cy="1920240"/>
          </a:xfrm>
          <a:prstGeom prst="roundRect">
            <a:avLst>
              <a:gd name="adj" fmla="val 3333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39783" y="2432304"/>
            <a:ext cx="2128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AI workloads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239783" y="3090672"/>
            <a:ext cx="21289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inference capacity at committed rates, sized to the run — without a multi-year bet on a moving baseline.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407408"/>
            <a:ext cx="11057839" cy="1060704"/>
          </a:xfrm>
          <a:prstGeom prst="roundRect">
            <a:avLst>
              <a:gd name="adj" fmla="val 6034"/>
            </a:avLst>
          </a:prstGeom>
          <a:solidFill>
            <a:srgbClr val="1E2668"/>
          </a:solidFill>
          <a:ln w="1397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7824" y="4407408"/>
            <a:ext cx="10436047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spend a customer genuinely cannot commit for a year, the alternative to 28.5% is not 36%. It is 0%.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qualifying question for every account: are they buying savings they could not otherwise reach, or paying for an escape hatch they will never use?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6692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rose to 29% of cloud infrastructure spend in the most recent Flexera survey — the first increase in five years, attributed to AI workloads making forecasting harder rather than easier.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345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 ×  Automatum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527487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05  ·  REVENUE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recurring revenue line.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models, depending on how much of the customer relationship Automatum wants to carry.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5419192" cy="2926080"/>
          </a:xfrm>
          <a:prstGeom prst="roundRect">
            <a:avLst>
              <a:gd name="adj" fmla="val 2188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139696"/>
            <a:ext cx="479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&amp; CO-SELL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395728"/>
            <a:ext cx="479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without delivery obligation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6112" y="3127248"/>
            <a:ext cx="137160" cy="137160"/>
          </a:xfrm>
          <a:prstGeom prst="ellipse">
            <a:avLst/>
          </a:prstGeom>
          <a:solidFill>
            <a:srgbClr val="0E93AE"/>
          </a:solidFill>
          <a:ln w="3175">
            <a:solidFill>
              <a:srgbClr val="0E93A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2980944"/>
            <a:ext cx="448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Automatum registers and introduces; Archera runs the sale and the support relationship.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96112" y="3730752"/>
            <a:ext cx="137160" cy="137160"/>
          </a:xfrm>
          <a:prstGeom prst="ellipse">
            <a:avLst/>
          </a:prstGeom>
          <a:solidFill>
            <a:srgbClr val="0E93AE"/>
          </a:solidFill>
          <a:ln w="3175">
            <a:solidFill>
              <a:srgbClr val="0E93A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3584448"/>
            <a:ext cx="448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stand up — no channel registration, no offer template, no reconciliation.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96112" y="4334256"/>
            <a:ext cx="137160" cy="137160"/>
          </a:xfrm>
          <a:prstGeom prst="ellipse">
            <a:avLst/>
          </a:prstGeom>
          <a:solidFill>
            <a:srgbClr val="0E93AE"/>
          </a:solidFill>
          <a:ln w="3175">
            <a:solidFill>
              <a:srgbClr val="0E93A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4187952"/>
            <a:ext cx="448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default while the pilot accounts prove the motion.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05576" y="1920240"/>
            <a:ext cx="5419192" cy="2926080"/>
          </a:xfrm>
          <a:prstGeom prst="roundRect">
            <a:avLst>
              <a:gd name="adj" fmla="val 2188"/>
            </a:avLst>
          </a:prstGeom>
          <a:solidFill>
            <a:srgbClr val="1E2668"/>
          </a:solidFill>
          <a:ln w="15875">
            <a:solidFill>
              <a:srgbClr val="3B4C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6472" y="2139696"/>
            <a:ext cx="479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 &amp; MANAGE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516472" y="2395728"/>
            <a:ext cx="4797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margin as channel partner of record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34760" y="3127248"/>
            <a:ext cx="137160" cy="137160"/>
          </a:xfrm>
          <a:prstGeom prst="ellipse">
            <a:avLst/>
          </a:prstGeom>
          <a:solidFill>
            <a:srgbClr val="5566D8"/>
          </a:solidFill>
          <a:ln w="3175">
            <a:solidFill>
              <a:srgbClr val="5566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27368" y="2980944"/>
            <a:ext cx="448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Automatum holds the private offer; the margin is contractual, not referral.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34760" y="3730752"/>
            <a:ext cx="137160" cy="137160"/>
          </a:xfrm>
          <a:prstGeom prst="ellipse">
            <a:avLst/>
          </a:prstGeom>
          <a:solidFill>
            <a:srgbClr val="5566D8"/>
          </a:solidFill>
          <a:ln w="3175">
            <a:solidFill>
              <a:srgbClr val="5566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27368" y="3584448"/>
            <a:ext cx="448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De-risks RI and Savings Plan management across any consolidated-billing or managed book.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34760" y="4334256"/>
            <a:ext cx="137160" cy="137160"/>
          </a:xfrm>
          <a:prstGeom prst="ellipse">
            <a:avLst/>
          </a:prstGeom>
          <a:solidFill>
            <a:srgbClr val="5566D8"/>
          </a:solidFill>
          <a:ln w="3175">
            <a:solidFill>
              <a:srgbClr val="5566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27368" y="4187952"/>
            <a:ext cx="448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rails — CPPO, metering, EDP drawdown — are on the next slide.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010912"/>
            <a:ext cx="11057839" cy="969264"/>
          </a:xfrm>
          <a:prstGeom prst="roundRect">
            <a:avLst>
              <a:gd name="adj" fmla="val 6604"/>
            </a:avLst>
          </a:prstGeom>
          <a:solidFill>
            <a:srgbClr val="141A4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7824" y="5010912"/>
            <a:ext cx="10436047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angle.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2025 policy ends the sharing of Reserved Instances and Savings Plans across customers. Archera offers a compliant model plus a net-new revenue stream — directly relevant to any consolidated billing or managed accounts Automatum operates.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345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 ×  Automatum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527487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money moves.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premium is metered, marketplace-billed, and channel-shared — the same rails Automatum already reconciles.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29968"/>
            <a:ext cx="6903720" cy="548640"/>
          </a:xfrm>
          <a:prstGeom prst="roundRect">
            <a:avLst>
              <a:gd name="adj" fmla="val 11667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57984"/>
            <a:ext cx="292608" cy="292608"/>
          </a:xfrm>
          <a:prstGeom prst="ellipse">
            <a:avLst/>
          </a:prstGeom>
          <a:solidFill>
            <a:srgbClr val="3B4CC0"/>
          </a:solidFill>
          <a:ln w="9525">
            <a:solidFill>
              <a:srgbClr val="5566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08483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Archera's Marketplace listing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208483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SaaS listing the private offer is issued against.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670048"/>
            <a:ext cx="6903720" cy="548640"/>
          </a:xfrm>
          <a:prstGeom prst="roundRect">
            <a:avLst>
              <a:gd name="adj" fmla="val 11667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798064"/>
            <a:ext cx="292608" cy="292608"/>
          </a:xfrm>
          <a:prstGeom prst="ellipse">
            <a:avLst/>
          </a:prstGeom>
          <a:solidFill>
            <a:srgbClr val="3B4CC0"/>
          </a:solidFill>
          <a:ln w="9525">
            <a:solidFill>
              <a:srgbClr val="5566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2491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CPPO, Automatum as channel partner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98848" y="272491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 carries Automatum's margin as the channel partner of record.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310128"/>
            <a:ext cx="6903720" cy="548640"/>
          </a:xfrm>
          <a:prstGeom prst="roundRect">
            <a:avLst>
              <a:gd name="adj" fmla="val 11667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438144"/>
            <a:ext cx="292608" cy="292608"/>
          </a:xfrm>
          <a:prstGeom prst="ellipse">
            <a:avLst/>
          </a:prstGeom>
          <a:solidFill>
            <a:srgbClr val="3B4CC0"/>
          </a:solidFill>
          <a:ln w="9525">
            <a:solidFill>
              <a:srgbClr val="5566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36499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ISV accepts on their own account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98848" y="336499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on the private offer. No new contract paper beyond it.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3950208"/>
            <a:ext cx="6903720" cy="548640"/>
          </a:xfrm>
          <a:prstGeom prst="roundRect">
            <a:avLst>
              <a:gd name="adj" fmla="val 11667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078224"/>
            <a:ext cx="292608" cy="292608"/>
          </a:xfrm>
          <a:prstGeom prst="ellipse">
            <a:avLst/>
          </a:prstGeom>
          <a:solidFill>
            <a:srgbClr val="3B4CC0"/>
          </a:solidFill>
          <a:ln w="9525">
            <a:solidFill>
              <a:srgbClr val="5566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00507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meters monthly on savings realised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98848" y="40050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Variable, not a flat subscription — the no-savings-no-fee mechanic, metered.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4590288"/>
            <a:ext cx="6903720" cy="548640"/>
          </a:xfrm>
          <a:prstGeom prst="roundRect">
            <a:avLst>
              <a:gd name="adj" fmla="val 11667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4718304"/>
            <a:ext cx="292608" cy="292608"/>
          </a:xfrm>
          <a:prstGeom prst="ellipse">
            <a:avLst/>
          </a:prstGeom>
          <a:solidFill>
            <a:srgbClr val="3B4CC0"/>
          </a:solidFill>
          <a:ln w="9525">
            <a:solidFill>
              <a:srgbClr val="5566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" y="4718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46451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on the AWS invoice · draws down EDP / MACC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98848" y="464515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disburses; Automatum's share arrives through the disbursement channel it already reconciles.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26680" y="2029968"/>
            <a:ext cx="3898087" cy="1572768"/>
          </a:xfrm>
          <a:prstGeom prst="roundRect">
            <a:avLst>
              <a:gd name="adj" fmla="val 4070"/>
            </a:avLst>
          </a:prstGeom>
          <a:solidFill>
            <a:srgbClr val="1E2668"/>
          </a:solidFill>
          <a:ln w="13970">
            <a:solidFill>
              <a:srgbClr val="3B4CC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64424" y="2212848"/>
            <a:ext cx="34225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AUTOMATUM STANDS UP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964424" y="2450592"/>
            <a:ext cx="3422599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Channel-partner registration against Archera's listing, an offer template, and metering reconciliation in the existing rhythm. No new billing system.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26680" y="3749040"/>
            <a:ext cx="3898087" cy="1389888"/>
          </a:xfrm>
          <a:prstGeom prst="roundRect">
            <a:avLst>
              <a:gd name="adj" fmla="val 4605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64424" y="3913632"/>
            <a:ext cx="34225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AGREE WITH ARCHERA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7964424" y="4133088"/>
            <a:ext cx="342259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rev-share rate, and whether it is struck on premium or on net savings. Who owns first-line support. Refer vs. resell, decided per account.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5303520"/>
            <a:ext cx="11057839" cy="603504"/>
          </a:xfrm>
          <a:prstGeom prst="roundRect">
            <a:avLst>
              <a:gd name="adj" fmla="val 10606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7824" y="5303520"/>
            <a:ext cx="1043604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ISV, the charge is marketplace spend.  </a:t>
            </a:r>
            <a:pPr indent="0" marL="0">
              <a:buNone/>
            </a:pPr>
            <a:r>
              <a:rPr lang="en-US" sz="12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consolidates onto the AWS invoice and draws down committed spend they were going to burn anyway.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599846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shape per Archera's partner positioning; the rev-share rate and terms are not quoted in any source behind this deck — confirm with Archera. A structure to negotiate against, not an offer.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6345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 ×  Automatum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0527487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FIVE  ·  THE EVIDENCE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already works at this scale.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realised savings — actual bill reduction after Archera's premium — measured over a recent full month from live platform data, across five enterprises on three clouds.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75104"/>
            <a:ext cx="2641016" cy="877824"/>
          </a:xfrm>
          <a:prstGeom prst="roundRect">
            <a:avLst>
              <a:gd name="adj" fmla="val 7292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066544"/>
            <a:ext cx="2202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~$20.2M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468880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 net savings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72536" y="1975104"/>
            <a:ext cx="2641016" cy="877824"/>
          </a:xfrm>
          <a:prstGeom prst="roundRect">
            <a:avLst>
              <a:gd name="adj" fmla="val 7292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1992" y="2066544"/>
            <a:ext cx="2202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~37%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91992" y="2468880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the reservable base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8144" y="1975104"/>
            <a:ext cx="2641016" cy="877824"/>
          </a:xfrm>
          <a:prstGeom prst="roundRect">
            <a:avLst>
              <a:gd name="adj" fmla="val 7292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97600" y="2066544"/>
            <a:ext cx="2202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93–100%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397600" y="2468880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utilisation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83751" y="1975104"/>
            <a:ext cx="2641016" cy="877824"/>
          </a:xfrm>
          <a:prstGeom prst="roundRect">
            <a:avLst>
              <a:gd name="adj" fmla="val 7292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03207" y="2066544"/>
            <a:ext cx="2202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clouds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203207" y="2468880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Azure · GCP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054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(BY VERTICAL)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584448" y="30540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184648" y="305409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SAVINGS / MO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540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" y="3291840"/>
            <a:ext cx="7223760" cy="10973"/>
          </a:xfrm>
          <a:prstGeom prst="rect">
            <a:avLst/>
          </a:prstGeom>
          <a:solidFill>
            <a:srgbClr val="3D456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33832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infrastructure / DevOps SaaS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584448" y="3383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Azure · GCP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184648" y="33832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$1,098,000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784848" y="33832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8404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 SaaS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584448" y="3840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184648" y="3840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$209,800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3840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42976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Vertical-market ERP SaaS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584448" y="42976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Azure · GCP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184648" y="42976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$164,600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784848" y="4297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47548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Building-materials distribution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584448" y="4754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184648" y="4754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$150,000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784848" y="4754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52120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EHS / regulatory-compliance SaaS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584448" y="5212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Azure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184648" y="52120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$60,000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784848" y="52120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138160" y="3054096"/>
            <a:ext cx="3486607" cy="2615184"/>
          </a:xfrm>
          <a:prstGeom prst="roundRect">
            <a:avLst>
              <a:gd name="adj" fmla="val 2448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430768" y="3310128"/>
            <a:ext cx="2901391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“Teams no longer have to worry about over-committing or being stuck on the wrong instance types. It's simplified our FinOps workflows tremendously.”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8430768" y="4882896"/>
            <a:ext cx="290139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Gupta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AI Infrastructure, Floyo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5815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from Archera's customer reference pack, which is marked confidential — confirm clearance with Archera before circulating this deck outside Automatum. All savings are net of Archera's premium and achieved through rate optimisation only: no re-architecting and no workload migration. Anonymised by vertical; named enterprise references are available from Archera on request.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566928" y="6345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 ×  Automatum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0527487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FIVE  ·  ACTIVATION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plugs in, and a 90-day plan.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2641016" cy="1005840"/>
          </a:xfrm>
          <a:prstGeom prst="roundRect">
            <a:avLst>
              <a:gd name="adj" fmla="val 6364"/>
            </a:avLst>
          </a:prstGeom>
          <a:solidFill>
            <a:srgbClr val="1E2668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17904"/>
            <a:ext cx="216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755648"/>
            <a:ext cx="216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FTR and Well-Architected inside the go-live window.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72536" y="1353312"/>
            <a:ext cx="2641016" cy="1005840"/>
          </a:xfrm>
          <a:prstGeom prst="roundRect">
            <a:avLst>
              <a:gd name="adj" fmla="val 6364"/>
            </a:avLst>
          </a:prstGeom>
          <a:solidFill>
            <a:srgbClr val="1E2668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0280" y="1517904"/>
            <a:ext cx="216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610280" y="1755648"/>
            <a:ext cx="216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Premiums billed through the same CPPO channel as the listing.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8144" y="1353312"/>
            <a:ext cx="2641016" cy="1005840"/>
          </a:xfrm>
          <a:prstGeom prst="roundRect">
            <a:avLst>
              <a:gd name="adj" fmla="val 6364"/>
            </a:avLst>
          </a:prstGeom>
          <a:solidFill>
            <a:srgbClr val="1E2668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5888" y="1517904"/>
            <a:ext cx="216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CO-SELL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15888" y="1755648"/>
            <a:ext cx="216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data gives AWS sellers a reason to engage the account.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83751" y="1353312"/>
            <a:ext cx="2641016" cy="1005840"/>
          </a:xfrm>
          <a:prstGeom prst="roundRect">
            <a:avLst>
              <a:gd name="adj" fmla="val 6364"/>
            </a:avLst>
          </a:prstGeom>
          <a:solidFill>
            <a:srgbClr val="1E2668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21495" y="1517904"/>
            <a:ext cx="216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221495" y="1755648"/>
            <a:ext cx="216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visibility, regression alerts and recurring premium revenue.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245059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install earns its keep at every stage of the motion Automatum already runs.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889504"/>
            <a:ext cx="3576218" cy="2798064"/>
          </a:xfrm>
          <a:prstGeom prst="roundRect">
            <a:avLst>
              <a:gd name="adj" fmla="val 2288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30906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08176" y="3108960"/>
            <a:ext cx="24789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0–30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3456432"/>
            <a:ext cx="30275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and pilot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59536" y="4032504"/>
            <a:ext cx="128016" cy="128016"/>
          </a:xfrm>
          <a:prstGeom prst="ellipse">
            <a:avLst/>
          </a:prstGeom>
          <a:solidFill>
            <a:srgbClr val="19C6E6"/>
          </a:solidFill>
          <a:ln w="3175">
            <a:solidFill>
              <a:srgbClr val="19C6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33856" y="3895344"/>
            <a:ext cx="27166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Archera from AWS Marketplace on two friendly ISV accounts.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9536" y="4599432"/>
            <a:ext cx="128016" cy="128016"/>
          </a:xfrm>
          <a:prstGeom prst="ellipse">
            <a:avLst/>
          </a:prstGeom>
          <a:solidFill>
            <a:srgbClr val="19C6E6"/>
          </a:solidFill>
          <a:ln w="3175">
            <a:solidFill>
              <a:srgbClr val="19C6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33856" y="4462272"/>
            <a:ext cx="27166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free savings analysis and baseline current commitment coverage.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9536" y="5166360"/>
            <a:ext cx="128016" cy="128016"/>
          </a:xfrm>
          <a:prstGeom prst="ellipse">
            <a:avLst/>
          </a:prstGeom>
          <a:solidFill>
            <a:srgbClr val="19C6E6"/>
          </a:solidFill>
          <a:ln w="3175">
            <a:solidFill>
              <a:srgbClr val="19C6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33856" y="5029200"/>
            <a:ext cx="27166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automated Well-Architected Review end to end.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07738" y="2889504"/>
            <a:ext cx="3576218" cy="2798064"/>
          </a:xfrm>
          <a:prstGeom prst="roundRect">
            <a:avLst>
              <a:gd name="adj" fmla="val 2288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82058" y="30906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48986" y="3108960"/>
            <a:ext cx="24789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30–60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582058" y="3456432"/>
            <a:ext cx="30275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Productise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600346" y="4032504"/>
            <a:ext cx="128016" cy="128016"/>
          </a:xfrm>
          <a:prstGeom prst="ellipse">
            <a:avLst/>
          </a:prstGeom>
          <a:solidFill>
            <a:srgbClr val="19C6E6"/>
          </a:solidFill>
          <a:ln w="3175">
            <a:solidFill>
              <a:srgbClr val="19C6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74666" y="3895344"/>
            <a:ext cx="27166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attach offer, with the savings number as the opening line.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00346" y="4599432"/>
            <a:ext cx="128016" cy="128016"/>
          </a:xfrm>
          <a:prstGeom prst="ellipse">
            <a:avLst/>
          </a:prstGeom>
          <a:solidFill>
            <a:srgbClr val="19C6E6"/>
          </a:solidFill>
          <a:ln w="3175">
            <a:solidFill>
              <a:srgbClr val="19C6E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74666" y="4462272"/>
            <a:ext cx="27166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rev-share model with Archera and align it to the CPPO channel.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00346" y="5166360"/>
            <a:ext cx="128016" cy="128016"/>
          </a:xfrm>
          <a:prstGeom prst="ellipse">
            <a:avLst/>
          </a:prstGeom>
          <a:solidFill>
            <a:srgbClr val="19C6E6"/>
          </a:solidFill>
          <a:ln w="3175">
            <a:solidFill>
              <a:srgbClr val="19C6E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74666" y="5029200"/>
            <a:ext cx="27166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the account team on the talk track and the qualifying question.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48549" y="2889504"/>
            <a:ext cx="3576218" cy="2798064"/>
          </a:xfrm>
          <a:prstGeom prst="roundRect">
            <a:avLst>
              <a:gd name="adj" fmla="val 2288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22869" y="30906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889797" y="3108960"/>
            <a:ext cx="24789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60–90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8322869" y="3456432"/>
            <a:ext cx="30275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and co-sell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8341157" y="4032504"/>
            <a:ext cx="128016" cy="128016"/>
          </a:xfrm>
          <a:prstGeom prst="ellipse">
            <a:avLst/>
          </a:prstGeom>
          <a:solidFill>
            <a:srgbClr val="19C6E6"/>
          </a:solidFill>
          <a:ln w="3175">
            <a:solidFill>
              <a:srgbClr val="19C6E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615477" y="3895344"/>
            <a:ext cx="27166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 base by spend band, largest AWS bills first.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341157" y="4599432"/>
            <a:ext cx="128016" cy="128016"/>
          </a:xfrm>
          <a:prstGeom prst="ellipse">
            <a:avLst/>
          </a:prstGeom>
          <a:solidFill>
            <a:srgbClr val="19C6E6"/>
          </a:solidFill>
          <a:ln w="3175">
            <a:solidFill>
              <a:srgbClr val="19C6E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615477" y="4462272"/>
            <a:ext cx="27166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Co-sell with AWS and Archera on qualified accounts.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341157" y="5166360"/>
            <a:ext cx="128016" cy="128016"/>
          </a:xfrm>
          <a:prstGeom prst="ellipse">
            <a:avLst/>
          </a:prstGeom>
          <a:solidFill>
            <a:srgbClr val="19C6E6"/>
          </a:solidFill>
          <a:ln w="3175">
            <a:solidFill>
              <a:srgbClr val="19C6E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615477" y="5029200"/>
            <a:ext cx="271668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savings delivered, AWS funding unlocked, and new margin.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566928" y="6345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 ×  Automatum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0527487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FIVE  ·  THE HONEST PART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use this, and what to validate.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1207008"/>
          </a:xfrm>
          <a:prstGeom prst="roundRect">
            <a:avLst>
              <a:gd name="adj" fmla="val 5303"/>
            </a:avLst>
          </a:prstGeom>
          <a:solidFill>
            <a:srgbClr val="1E2668"/>
          </a:solidFill>
          <a:ln w="13970">
            <a:solidFill>
              <a:srgbClr val="F5A6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481328"/>
            <a:ext cx="1039947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workload is genuinely stable and the customer will run it for three years, they should buy the three-year commitment themselves and keep all 57%.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is for the spend that genuinely cannot be committed — which, for a startup and scaleup base, is a great deal more of the bill than most teams would guess.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907792"/>
            <a:ext cx="2641016" cy="2157984"/>
          </a:xfrm>
          <a:prstGeom prst="roundRect">
            <a:avLst>
              <a:gd name="adj" fmla="val 2966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108960"/>
            <a:ext cx="2128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Rebate cover is off by default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50208"/>
            <a:ext cx="21289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to be switched on with Archera. A customer can hold release-only cover while believing they are rebate-protected.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72536" y="2907792"/>
            <a:ext cx="2641016" cy="2157984"/>
          </a:xfrm>
          <a:prstGeom prst="roundRect">
            <a:avLst>
              <a:gd name="adj" fmla="val 2966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28568" y="3108960"/>
            <a:ext cx="2128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Buybacks are not automatic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28568" y="3950208"/>
            <a:ext cx="21289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Somebody has to file the request — and for EC2, the RI Marketplace must be enabled on the account first.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8144" y="2907792"/>
            <a:ext cx="2641016" cy="2157984"/>
          </a:xfrm>
          <a:prstGeom prst="roundRect">
            <a:avLst>
              <a:gd name="adj" fmla="val 2966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34176" y="3108960"/>
            <a:ext cx="2128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premium economics per account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34176" y="3950208"/>
            <a:ext cx="21289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transparent, but the right term depends on expected utilisation. Run the numbers before recommending one.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83751" y="2907792"/>
            <a:ext cx="2641016" cy="2157984"/>
          </a:xfrm>
          <a:prstGeom prst="roundRect">
            <a:avLst>
              <a:gd name="adj" fmla="val 2966"/>
            </a:avLst>
          </a:prstGeom>
          <a:solidFill>
            <a:srgbClr val="19205C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39783" y="3108960"/>
            <a:ext cx="2128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and billing ownership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239783" y="3950208"/>
            <a:ext cx="21289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Minimal-privilege install, and the customer keeps full ownership and control of their AWS billing. Make that explicit in every engagement.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5138928"/>
            <a:ext cx="11057839" cy="786384"/>
          </a:xfrm>
          <a:prstGeom prst="roundRect">
            <a:avLst>
              <a:gd name="adj" fmla="val 8140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7824" y="5138928"/>
            <a:ext cx="1043604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disclosure.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recommending this is paid on it — Archera, the partner, and us. We will still tell you when the right answer is the native three-year, because a customer who over-buys flexibility works out the maths eventually.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345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Archera  ×  Automatum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527487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19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1440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7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customers' AWS bills
</a:t>
            </a:r>
            <a:pPr indent="0" marL="0">
              <a:lnSpc>
                <a:spcPts val="4700"/>
              </a:lnSpc>
              <a:buNone/>
            </a:pPr>
            <a:r>
              <a:rPr lang="en-US" sz="4000" b="1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reason to stay.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6151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free platform, attached to a base that already exists. It automates the reviews Automatum's ISVs need to clear, produces savings on bills they already pay, and opens a recurring revenue line through the marketplace channel Automatum already runs — with almost no cost to introduce.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3858768"/>
            <a:ext cx="3576218" cy="1719072"/>
          </a:xfrm>
          <a:prstGeom prst="roundRect">
            <a:avLst>
              <a:gd name="adj" fmla="val 3723"/>
            </a:avLst>
          </a:prstGeom>
          <a:solidFill>
            <a:srgbClr val="141A4F"/>
          </a:solidFill>
          <a:ln w="15875">
            <a:solidFill>
              <a:srgbClr val="3B4C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40599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56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4370832"/>
            <a:ext cx="302757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pilot ISVs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4919472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or AI-heavy AWS spend, and a relationship that will tolerate a first run.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07738" y="3858768"/>
            <a:ext cx="3576218" cy="1719072"/>
          </a:xfrm>
          <a:prstGeom prst="roundRect">
            <a:avLst>
              <a:gd name="adj" fmla="val 3723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2058" y="40599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82058" y="4370832"/>
            <a:ext cx="302757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free savings analysis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82058" y="4919472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measured coverage baseline, at no cost and no commitment.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8549" y="3858768"/>
            <a:ext cx="3576218" cy="1719072"/>
          </a:xfrm>
          <a:prstGeom prst="roundRect">
            <a:avLst>
              <a:gd name="adj" fmla="val 3723"/>
            </a:avLst>
          </a:prstGeom>
          <a:solidFill>
            <a:srgbClr val="141A4F"/>
          </a:solidFill>
          <a:ln w="9525">
            <a:solidFill>
              <a:srgbClr val="3D45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2869" y="40599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22869" y="4370832"/>
            <a:ext cx="302757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rev-share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2869" y="4919472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7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terms with Archera and wire the premium to the CPPO channel.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053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Only Best Practices  ·  AWS Alliance Advisory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527487" y="6053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Only Best Practices · AWS Alliance Advisory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Putting Archera to work for Automatum</dc:title>
  <dc:subject>PptxGenJS Presentation</dc:subject>
  <dc:creator>Only Best Practices</dc:creator>
  <cp:lastModifiedBy>Only Best Practices</cp:lastModifiedBy>
  <cp:revision>1</cp:revision>
  <dcterms:created xsi:type="dcterms:W3CDTF">2026-08-27T05:10:10Z</dcterms:created>
  <dcterms:modified xsi:type="dcterms:W3CDTF">2026-08-27T05:10:10Z</dcterms:modified>
</cp:coreProperties>
</file>