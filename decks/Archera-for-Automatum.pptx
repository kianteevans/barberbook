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 brief: how Automatum — a cloud-marketplace management platform serving 80+ ISVs on AWS, Azure, GCP and Red Hat — can put Archera to work. The lead motion is attach: Archera is free, it installs in minutes, and it produces savings on the AWS bills most of Automatum's customers already pay. Secondary motions are a self-funding subscription, cover for unforecastable AI spend, and rev-share on premiums through CPPO. Prepared as an alliance-advisory artifact.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mechanic slide, and a reference sheet rather than a teaching slide. Three things to say out loud: the commitment sits in their payer account, so counterparty risk is limited to the guarantee rather than to the discount itself; Archera 1-year beats a native 1-year at identical lock-in, 42.75 against 36; and the 30-day rate is only 'worse' than a native 1-year for spend that could actually have taken a year. For a non-technical audience, the plain version is an annual subscription somebody else signs and carries for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attach and stay there — everything else is upside. The reason attach is credible here and not for a typical partner: Automatum already holds the billing relationship, already connects to customer accounts as part of listing work, and already reconciles the marketplace rails the premium bills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exit-path split is the expert detail on this slide: only EC2 Standard RIs have a resale route (the RI Marketplace, which must be enabled), so everything else — Savings Plans included — settles through the rebate guarantee. That answers the obvious objection that Savings Plans cannot be resold. Also worth saying: RDS, OpenSearch, ElastiCache and Redshift often carry as much reservable spend as EC2 in a SaaS estate.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Automatum from a generic partner pitch: the rev-share plumbing most partners would have to build is the product Automatum already sells. The evidence line to speak to: ProsperOps measures the median company under $500K of annual compute as having captured nothing — and that is most of an ISV base. The sequencing slide carries the full bands.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defend the inputs — invite the audience to replace them. The point of the slide is that even the conservative column, at $10K a month of average AWS spend, produces a high-six-figure savings pool for the base (seven figures in the base case) and a six-figure revenue line for Automatum at the agreement's 20-30% tiers. If Automatum can pull actual spend data for even ten accounts, the base case tightens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left open: we do not put Automatum's price on the slide, because we do not have it and guessing it would undermine everything else. Ask them to fill it in live — if a mid-tier subscription sits anywhere below roughly $28K a year, self-funding is arithmetic rather than marketing. This is also the retention argument: ask directly what a renewal conversation looks like when the customer sees a larger number coming back off their AWS bill than they pay Automatum.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operational claim of the whole deck: this fits inside conversations that are already on the calendar. The discovery row is the one to dwell on — a read-only billing connection granted during scoping produces the number every later stage runs on. Stage names here follow Automatum's published motion; confirm the real internal names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argument for starting mid-band: the sub-$500K band is bigger but each win is small, and the $10M+ band is where a botched first conversation is most expensive. Two mid-band pilots produce the numbers that make both other bands easier. The three plays keep the motion from being one-size-fits-all without turning it into bespoke consulting.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 AI-heavy ISV this is usually the opening use case rather than the second — if the room is full of AI-native customers, lead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a per-account choice, not a one-time fork: refer on the accounts where Automatum wants no delivery role, resell where it already operates consolidated billing or wants the structural margin. The AWS 2025 policy ending cross-customer RI/SP sharing makes the resell question urgent for anyone running consolidated billing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of this slide is that the plumbing is Automatum's home turf — CPPO, private offers, metering, disbursement reconciliation are the product they already operate. The terms panel now reflects the distributor agreement template: 20/25/30 tiers on marketplace net revenue, monthly, via the Partner Portal — and rev-share applies to net-new Archera customers only, which makes moving before Archera sells into the base directly worth real money. Still open: execution, starting tier, joint GTM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 with care: the source deck is stamped confidential and do-not-distribute. The anonymised vertical-level figures are used here; the named GCP reference in that pack has been deliberately left out pending clearance. If Archera clears it, the named reference is a strong addition to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enablement bar in the agreement: three people through Archera Sales Enablement and one through Technical Sales Enablement, both free, plus a twice-monthly pipeline cadence with Archera. Keep the pilot to two accounts. The single most useful output of days 0 to 30 is a real coverage baseline across those accounts, because it replaces every assumption on the sizing slide with a measured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skip this slide to save time. It is the one that makes the other eighteen credible, and the two operational gotchas — rebate cover being off by default, and buybacks needing a filed request — are exactly the kind of thing a partner is well placed to own on the customer's behalf.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forwardable slide and the close: everything load-bearing in one frame, for the CEO to send to their team without the deck. Close on the two-pilot ask, not on the rev-share — the pilot turns every assumption in this deck into Automatum's own data, and it costs them an install and a report. If only one slide survives the meeting, this is the one it should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4CC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65836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ALLIANCE ADVISORY BRIEF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80160"/>
            <a:ext cx="7223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Archera to work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Automatum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962656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Commitments attached to the AWS estates of the 80+ ISVs Automatum already serves — inserted through the presales motion that already runs, with the premium metered through CPPO on the rails Automatum already reconciles.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4315968"/>
            <a:ext cx="1439266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4315968"/>
            <a:ext cx="14392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52498" y="4315968"/>
            <a:ext cx="991210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52498" y="4315968"/>
            <a:ext cx="9912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 ISVs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0011" y="4315968"/>
            <a:ext cx="1618488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90011" y="4315968"/>
            <a:ext cx="1618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Presales attach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54803" y="4315968"/>
            <a:ext cx="1887322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54803" y="4315968"/>
            <a:ext cx="18873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Rev-share via CPPO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18120" y="129844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74152" y="142646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43%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074152" y="17739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on-demand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18120" y="230428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74152" y="24323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074152" y="27797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coverage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818120" y="331012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74152" y="343814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378561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terms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818120" y="431596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74152" y="444398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8074152" y="47914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upfront cost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Only Best Practices  ·  AWS Alliance Advisory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 ·  THE STRUCTURE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Archera, in one slide.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native three-year RI or Savings Plan, bought into the customer's own payer account. Their obligation is 30 days or 12 months; Archera carries the balance and AWS bills them directly throughout. Archera calls these Guaranteed Commitments.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366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UNDERLYING THREE-YEAR COMMITMENT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1057839" cy="585216"/>
          </a:xfrm>
          <a:prstGeom prst="roundRect">
            <a:avLst>
              <a:gd name="adj" fmla="val 12500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2121408"/>
            <a:ext cx="1920240" cy="585216"/>
          </a:xfrm>
          <a:prstGeom prst="roundRect">
            <a:avLst>
              <a:gd name="adj" fmla="val 12500"/>
            </a:avLst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121408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  ·  theirs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779776" y="2121408"/>
            <a:ext cx="849751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carries months 2–36 — 30-day term shown. </a:t>
            </a:r>
            <a:pPr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1-year, theirs through month 12.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121408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167274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1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13141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2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0893247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3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14553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SAVINGS RATE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550408" y="3145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FOR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314553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EXIT?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66928" y="3364992"/>
            <a:ext cx="6949440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34747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as you go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350008" y="36027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43984" y="34747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550408" y="34747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34747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39319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30-day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350008" y="40599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0008" y="4059936"/>
            <a:ext cx="982980" cy="128016"/>
          </a:xfrm>
          <a:prstGeom prst="rect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443984" y="39319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28.5%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550408" y="39319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39319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3891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1-year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350008" y="45171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0008" y="4517136"/>
            <a:ext cx="1241659" cy="128016"/>
          </a:xfrm>
          <a:prstGeom prst="rect">
            <a:avLst/>
          </a:prstGeom>
          <a:solidFill>
            <a:srgbClr val="5B6486"/>
          </a:solidFill>
          <a:ln w="3175">
            <a:solidFill>
              <a:srgbClr val="5B648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43984" y="43891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550408" y="43891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0" y="43891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48463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1-year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350008" y="49743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350008" y="4974336"/>
            <a:ext cx="1474470" cy="128016"/>
          </a:xfrm>
          <a:prstGeom prst="rect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443984" y="48463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42.75%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5550408" y="48463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48463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53035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3-year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350008" y="54315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350008" y="5431536"/>
            <a:ext cx="1965960" cy="128016"/>
          </a:xfrm>
          <a:prstGeom prst="rect">
            <a:avLst/>
          </a:prstGeom>
          <a:solidFill>
            <a:srgbClr val="8E96C8"/>
          </a:solidFill>
          <a:ln w="3175">
            <a:solidFill>
              <a:srgbClr val="8E96C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443984" y="53035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5550408" y="53035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766560" y="53035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566928" y="5760720"/>
            <a:ext cx="7114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Fee: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of the created saving on the 30-day, 25% on the 1-year. No savings, no fee.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7863840" y="3145536"/>
            <a:ext cx="376092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SETTLEMENT PATHS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863840" y="3401568"/>
            <a:ext cx="3760927" cy="1207008"/>
          </a:xfrm>
          <a:prstGeom prst="roundRect">
            <a:avLst>
              <a:gd name="adj" fmla="val 530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3529584"/>
            <a:ext cx="32854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GUARANTEE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3730752"/>
            <a:ext cx="3285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exit.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3986784"/>
            <a:ext cx="32854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buys the commitment back, on terms as short as 30 days. Applies to select AWS commitments — covered services on slide 4.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863840" y="4718304"/>
            <a:ext cx="3760927" cy="1207008"/>
          </a:xfrm>
          <a:prstGeom prst="roundRect">
            <a:avLst>
              <a:gd name="adj" fmla="val 530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101584" y="4846320"/>
            <a:ext cx="32854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GUARANTEE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8101584" y="5047488"/>
            <a:ext cx="3285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stay, and get paid back.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8101584" y="5303520"/>
            <a:ext cx="32854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losses on what went unused, reimbursed in cash by ACH rather than credits. Broader coverage — and off by default.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sells no commitment shorter than one year, at any price.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platform, three ways to win.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is a free, multicloud commitment-management platform. For Automatum it attaches to a base that already exists: 80+ ISVs, most with AWS estates — and at the measured 55% median commitment coverage, most of that spend sits uncovered (AWS share of the base to confirm). The premium bills through the AWS Marketplace channel Automatum already operates.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432304"/>
            <a:ext cx="3576218" cy="2724912"/>
          </a:xfrm>
          <a:prstGeom prst="roundRect">
            <a:avLst>
              <a:gd name="adj" fmla="val 2349"/>
            </a:avLst>
          </a:prstGeom>
          <a:solidFill>
            <a:srgbClr val="19205C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54096"/>
            <a:ext cx="306415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through presales, to the base you already have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05072"/>
            <a:ext cx="306415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 savings analysis rides discovery, coverage lands at go-live, and the QBR gets a value agenda. No new pipeline to build.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07738" y="2432304"/>
            <a:ext cx="3576218" cy="2724912"/>
          </a:xfrm>
          <a:prstGeom prst="roundRect">
            <a:avLst>
              <a:gd name="adj" fmla="val 2349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3770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63770" y="3054096"/>
            <a:ext cx="306415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subscription self-funding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63770" y="4005072"/>
            <a:ext cx="306415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customer's AWS saving can cover what they pay Automatum — turning a cost line into one that argues for itself.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8549" y="2432304"/>
            <a:ext cx="3576218" cy="2724912"/>
          </a:xfrm>
          <a:prstGeom prst="roundRect">
            <a:avLst>
              <a:gd name="adj" fmla="val 2349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04581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04581" y="3054096"/>
            <a:ext cx="306415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recurring revenue line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04581" y="4005072"/>
            <a:ext cx="306415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20–30% tiered revenue share on premiums, through the CPPO channel Automatum already runs.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34009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one is the point.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two compound on top of it — the motions that follow run the attach through presales and across the base. One clock to respect: rev-share counts only entities net-new to Archera.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Archera is.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procurement and commitment-management layer that helps AWS teams forecast, optimise and insure their commitments — then keep the savings.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84832"/>
            <a:ext cx="7589520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084832"/>
            <a:ext cx="2606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&amp; FinOps management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584448" y="2084832"/>
            <a:ext cx="4297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RI and Savings Plan purchasing, and maximise private-pricing coverage.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3090672"/>
            <a:ext cx="7589520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1248" y="3090672"/>
            <a:ext cx="2606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Commitments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584448" y="3090672"/>
            <a:ext cx="4297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Contractual, reinsurance-backed alternatives to native terms — commit without over-commitment risk.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4096512"/>
            <a:ext cx="7589520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4096512"/>
            <a:ext cx="2606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&amp; custom BI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84448" y="4096512"/>
            <a:ext cx="4297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business and cloud-cost data into drill-down dashboards and forecasts.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084832"/>
            <a:ext cx="32122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COVERAGE, BY EXIT PATH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412480" y="2340864"/>
            <a:ext cx="3212287" cy="1207008"/>
          </a:xfrm>
          <a:prstGeom prst="roundRect">
            <a:avLst>
              <a:gd name="adj" fmla="val 530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31936" y="2505456"/>
            <a:ext cx="27733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PATH · RESALE EXISTS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8631936" y="2724912"/>
            <a:ext cx="2773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Standard RIs — resellable on the RI Marketplace, which must be enabled on the account before a buyback can execute.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412480" y="3675888"/>
            <a:ext cx="3212287" cy="1627632"/>
          </a:xfrm>
          <a:prstGeom prst="roundRect">
            <a:avLst>
              <a:gd name="adj" fmla="val 393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31936" y="3840480"/>
            <a:ext cx="27733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PATH · NO RESALE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8631936" y="4059936"/>
            <a:ext cx="2773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Savings Plans (EC2, Lambda, Fargate) and the reserved instances, nodes and capacity behind RDS, ElastiCache, OpenSearch, Redshift and DynamoDB. No resale route — the rebate guarantee covers them, off by default.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5431536"/>
            <a:ext cx="321228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split is why the release guarantee applies to select commitments while the rebate guarantee is the broader of the two. Mapping inferred from AWS resale rules — confirm the covered list with Archera.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6928" y="5276088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" y="5138928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itself is 100% free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61688" y="5276088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36008" y="5138928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keep full ownership of their AWS billing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788152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1248" y="5650992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Minimal-privilege install from AWS Marketplace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361688" y="5788152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36008" y="5650992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across AWS, Azure and Google Cloud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fits Automatum.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ISVs live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5141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71445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$120M+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516581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GMV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83354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29658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374794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since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41568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87872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999781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46085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 days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091221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first listing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857994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04298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CPPO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949434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in place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487168"/>
            <a:ext cx="3576218" cy="2414016"/>
          </a:xfrm>
          <a:prstGeom prst="roundRect">
            <a:avLst>
              <a:gd name="adj" fmla="val 265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2761488"/>
            <a:ext cx="384048" cy="45720"/>
          </a:xfrm>
          <a:prstGeom prst="rect">
            <a:avLst/>
          </a:prstGeom>
          <a:solidFill>
            <a:srgbClr val="3B4C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2944368"/>
            <a:ext cx="30275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hold the relationship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" y="3712464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logo and no new contract vehicle. This is an offer to customers Automatum already bills every month, through a conversation that is already scheduled.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07738" y="2487168"/>
            <a:ext cx="3576218" cy="2414016"/>
          </a:xfrm>
          <a:prstGeom prst="roundRect">
            <a:avLst>
              <a:gd name="adj" fmla="val 265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82058" y="2761488"/>
            <a:ext cx="384048" cy="45720"/>
          </a:xfrm>
          <a:prstGeom prst="rect">
            <a:avLst/>
          </a:prstGeom>
          <a:solidFill>
            <a:srgbClr val="0E93A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82058" y="2944368"/>
            <a:ext cx="30275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run the plumbing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582058" y="3712464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Archera's premium bills through AWS Marketplace and draws down the customer's EDP commit. Private offers, metering and CPPO resale are Automatum's core competency, not a new build.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48549" y="2487168"/>
            <a:ext cx="3576218" cy="2414016"/>
          </a:xfrm>
          <a:prstGeom prst="roundRect">
            <a:avLst>
              <a:gd name="adj" fmla="val 265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22869" y="2761488"/>
            <a:ext cx="384048" cy="457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322869" y="2944368"/>
            <a:ext cx="30275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customers are the under-covered band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322869" y="3712464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Startups and scaleups sit where measured savings capture is lowest — a skew to confirm from account data. The sequencing slide turns those bands into the sales map.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5084064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multicloud shape matches too — </a:t>
            </a:r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guarantee structure covers AWS, Azure and Google Cloud from one control plane.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55778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figures per the company's published positioning (automatum.io) — confirm before circulation.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 ·  THE OPPORTUNITY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 in your base, sized.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assumption is on the slide. Change any one of them and the arithmetic follows — the shape of the answer does not.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903720" y="1792224"/>
            <a:ext cx="2322576" cy="3822192"/>
          </a:xfrm>
          <a:prstGeom prst="roundRect">
            <a:avLst>
              <a:gd name="adj" fmla="val 275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2040" y="18836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086600" y="18836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9281160" y="1883664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2157984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26771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ISVs running on AWS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2677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22677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9281160" y="226771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267919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AWS spend per ISV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6791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 / mo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26791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 / mo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9281160" y="26791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 / mo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309067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annual AWS spend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0906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$9.6M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30906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$24.0M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309067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$48.0M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350215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 60% reservable  (compute, RDS, OpenSearch, ElastiCache, Redshift, DynamoDB)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$5.8M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$14.4M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281160" y="35021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$28.8M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3867912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9136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 45% not yet covered by any commitment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92040" y="3913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$2.6M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086600" y="3913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9281160" y="39136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$13.0M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432511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savings to the ISVs  ·  35% blended net rate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892040" y="43251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$0.91M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7086600" y="43251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$2.27M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9281160" y="432511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$4.54M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473659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premium pool  ·  22% of addressable spend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892040" y="47365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$0.57M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47365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$1.43M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9281160" y="47365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$2.85M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66928" y="5102352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66928" y="514807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revenue to Automatum  ·  20–30% tiered rev-share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4892040" y="51480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$114–171K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086600" y="51480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$285–428K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81160" y="514807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$570–855K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7607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Illustrative. Reservable share and the blended Archera rate are assumptions; the 45% coverage gap follows the measured 55% median AWS commitment coverage (ProsperOps). The 22% premium is the gap between the 57% a three-year creates and the 35% blended net the customer keeps. Rev-share 20–30% per the distributor agreement's Co-Seller tiers, laddered on the revenue-line slide — the base case's ~$119K premium MRR lands in Silver (25%).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 ·  THE OPPORTUNITY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customer, worked.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ISV at the base-case spend. No re-architecting and no workload migration — connecting billing is the whole project.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3576218" cy="1499616"/>
          </a:xfrm>
          <a:prstGeom prst="roundRect">
            <a:avLst>
              <a:gd name="adj" fmla="val 426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$300K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on AWS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9504"/>
            <a:ext cx="30641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 a month — the base-case ISV.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07738" y="2029968"/>
            <a:ext cx="3576218" cy="1499616"/>
          </a:xfrm>
          <a:prstGeom prst="roundRect">
            <a:avLst>
              <a:gd name="adj" fmla="val 426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3770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$180K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563770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reservable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63770" y="2889504"/>
            <a:ext cx="30641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the bill: compute plus RDS, OpenSearch, ElastiCache, Redshift, DynamoDB.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48549" y="2029968"/>
            <a:ext cx="3576218" cy="1499616"/>
          </a:xfrm>
          <a:prstGeom prst="roundRect">
            <a:avLst>
              <a:gd name="adj" fmla="val 4268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04581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$81K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304581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covered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304581" y="2889504"/>
            <a:ext cx="30641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of the reservable base, at the measured median coverage. This is what Archera is for.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62102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BACK ON THAT $81K, BY TERM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6928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30-day  ·  28.5%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$23.1K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any time after 30 days.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07738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63770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 ·  35%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63770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$28.4K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5" name="Text 23"/>
          <p:cNvSpPr txBox="1"/>
          <p:nvPr/>
        </p:nvSpPr>
        <p:spPr>
          <a:xfrm>
            <a:off x="4563770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realistic mix across an estate.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048549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04581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1-year  ·  42.75%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304581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$34.6K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9" name="Text 27"/>
          <p:cNvSpPr txBox="1"/>
          <p:nvPr/>
        </p:nvSpPr>
        <p:spPr>
          <a:xfrm>
            <a:off x="8304581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lock-in as a native one-year, 6.75 points better.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5230368"/>
            <a:ext cx="11057839" cy="859536"/>
          </a:xfrm>
          <a:prstGeom prst="roundRect">
            <a:avLst>
              <a:gd name="adj" fmla="val 7447"/>
            </a:avLst>
          </a:prstGeom>
          <a:solidFill>
            <a:srgbClr val="141A4F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7824" y="5230368"/>
            <a:ext cx="10436047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$28.4K a year back — for many ISVs, more than the Automatum subscription.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 flips from “marketplace management at a fraction of the incumbents' price” to “marketplace management the AWS bill pays for” — and a subscription that visibly returns more than it costs is not a line anyone hunts in a cost-cutting review.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6305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Illustrative, at the base-case assumptions from the previous slide. Net of Archera's premium. Drop Automatum's own list price into the takeaway to close the argument in front of a customer.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01  ·  PRESALES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Archera enters your presales motion.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pipeline and no new meeting. Each stage Automatum already runs gets one insertion point — mapped here against the published motion; swap in your internal stage names.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2140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042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discovery artefact, not a pitch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70248" y="2084832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read-only billing access in the scoping conversation that already happens. Coverage and Effective Savings Rate numbers come back inside the week — and earn a seat with the ISV's finance owner, not just product.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779776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87121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BUILD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5409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designed while the listing is built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270248" y="2834640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savings analysis becomes a term plan — 30-day or 1-year, workload by workload — while Automatum builds the listing, ready to execute at go-live. No second ask of the customer.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29584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621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8039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lands before marketplace revenue ramps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270248" y="3584448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saving shows up on the ISV's AWS bill from the first covered month — offsetting the Automatum fee while the listing is still ramping.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279392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3708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&amp; CO-SELL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5371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the AWS seller can act on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270248" y="4334256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savings number from the customer's own bill gives the AWS account team a concrete reason to engage — and strengthens the co-sell narrative on the listing side too.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029200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12064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QBR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30352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maintenance check-in to value review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270248" y="5084064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drift, utilisation and savings-to-date give the quarterly conversation an agenda beyond listing upkeep — and set up the renewal.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587044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what: </a:t>
            </a:r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runs the connect and the analysis; Archera builds and manages the commitments; the ISV signs one private offer.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01  ·  THE INSTALLED BASE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the 80+: sequence by spend, not tenure.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saving already captured, by annual AWS compute usage — the bands say where to start and what to lead with.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3576218" cy="2304288"/>
          </a:xfrm>
          <a:prstGeom prst="roundRect">
            <a:avLst>
              <a:gd name="adj" fmla="val 277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12848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$500K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14016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captured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71216"/>
            <a:ext cx="306415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base. Smallest per account, fastest to close — nobody there has a FinOps function, and the median company is simply paying list.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404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the motion: standard analysis, standard offer.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07738" y="2029968"/>
            <a:ext cx="3576218" cy="2304288"/>
          </a:xfrm>
          <a:prstGeom prst="roundRect">
            <a:avLst>
              <a:gd name="adj" fmla="val 2778"/>
            </a:avLst>
          </a:prstGeom>
          <a:solidFill>
            <a:srgbClr val="1E2668"/>
          </a:solidFill>
          <a:ln w="15240">
            <a:solidFill>
              <a:srgbClr val="0E93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63770" y="2212848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$500K–$10M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63770" y="2414016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captured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563770" y="2871216"/>
            <a:ext cx="306415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sweet spot: enough spend for the number to matter, no dedicated FinOps team to defend the status quo.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63770" y="38404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here. Two pilots prove the motion on real numbers.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8549" y="2029968"/>
            <a:ext cx="3576218" cy="2304288"/>
          </a:xfrm>
          <a:prstGeom prst="roundRect">
            <a:avLst>
              <a:gd name="adj" fmla="val 277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04581" y="2212848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$10M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04581" y="2414016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captured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304581" y="2871216"/>
            <a:ext cx="306415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accounts, biggest absolute savings, hardest sell — they have FinOps and will interrogate every term.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304581" y="38404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last, armed with your own pilot data.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48056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PLAYS, BY ACCOUNT STATE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718304"/>
            <a:ext cx="3576218" cy="987552"/>
          </a:xfrm>
          <a:prstGeom prst="roundRect">
            <a:avLst>
              <a:gd name="adj" fmla="val 648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482803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and stable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5084064"/>
            <a:ext cx="31007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at the next QBR. Open with the account's own coverage number, not a product.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07738" y="4718304"/>
            <a:ext cx="3576218" cy="987552"/>
          </a:xfrm>
          <a:prstGeom prst="roundRect">
            <a:avLst>
              <a:gd name="adj" fmla="val 648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45482" y="482803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onboarding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45482" y="5084064"/>
            <a:ext cx="31007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during the listing build — the analysis rides the access the build already needs.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048549" y="4718304"/>
            <a:ext cx="3576218" cy="987552"/>
          </a:xfrm>
          <a:prstGeom prst="roundRect">
            <a:avLst>
              <a:gd name="adj" fmla="val 648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6293" y="482803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GPU-heavy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286293" y="5084064"/>
            <a:ext cx="31007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forecast variance, not the discount — too volatile to commit for a year, let alone three.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8155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the motion like marketplace revenue: accounts connected, coverage baseline, savings realised, premium billed, rev-share accrued. The constraint is calendar time and analysis throughput, not lead generation — every account is already a customer. Bands: ProsperOps median Effective Savings Rate by annual AWS compute usage.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02  ·  UNFORECASTABLE SPEND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spend nobody can forecast.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Automatum's base skews startup and scaleup SaaS — the segment carrying GPU, training and inference spend with month-to-month variance no one- or three-year term can absorb. Committing it natively means betting a fixed term against a forecast nobody stands behind.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migrations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workloads mid-move while the team decides what stays.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72536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28568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Re-architect freely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28568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 terms plus the release guarantee mean nobody is tied to old infrastructure by a bad commitment.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8144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bursty demand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Commitments sized to the event rather than to the year.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83751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39783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AI workloads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239783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and inference at committed rates, sized to the run — no multi-year bet on a moving baseline.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407408"/>
            <a:ext cx="11057839" cy="1060704"/>
          </a:xfrm>
          <a:prstGeom prst="roundRect">
            <a:avLst>
              <a:gd name="adj" fmla="val 6034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7824" y="4407408"/>
            <a:ext cx="1043604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spend a customer genuinely cannot commit for a year, the alternative to 28.5% is not 36%. It is 0%.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qualifying question for every account: are they buying savings they could not otherwise reach, or paying for an escape hatch they will never use?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6692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rose to 29% of cloud infrastructure spend in Flexera's 2026 State of the Cloud survey — the first increase in five years, attributed to AI workloads. Base-composition skew is a working assumption; confirm from account data.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03  ·  REVENUE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recurring revenue line.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distributor agreement offers two postures — and the recurring revenue line this deck argues for requires the second.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5419192" cy="2926080"/>
          </a:xfrm>
          <a:prstGeom prst="roundRect">
            <a:avLst>
              <a:gd name="adj" fmla="val 21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139696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TIER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395728"/>
            <a:ext cx="479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one-time bonus, not a revenue line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" y="3127248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2980944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registers the lead; Archera runs the sale, onboarding and support.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96112" y="3730752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3584448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a one-off bonus of the first month's MRR — nothing recurring.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96112" y="4334256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88720" y="4187952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for the odd out-of-scope account. It is not the line this deck argues for.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05576" y="1920240"/>
            <a:ext cx="5419192" cy="2926080"/>
          </a:xfrm>
          <a:prstGeom prst="roundRect">
            <a:avLst>
              <a:gd name="adj" fmla="val 2188"/>
            </a:avLst>
          </a:prstGeom>
          <a:solidFill>
            <a:srgbClr val="1E2668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16472" y="2139696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CO-SELLER TIER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516472" y="2395728"/>
            <a:ext cx="479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 recurring, rising with the book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16472" y="2852928"/>
            <a:ext cx="4797400" cy="457200"/>
          </a:xfrm>
          <a:prstGeom prst="roundRect">
            <a:avLst>
              <a:gd name="adj" fmla="val 1200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81064" y="2852928"/>
            <a:ext cx="4468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 20%</a:t>
            </a:r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under $100K MRR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681064" y="2852928"/>
            <a:ext cx="430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~$48K MRR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516472" y="3401568"/>
            <a:ext cx="4797400" cy="457200"/>
          </a:xfrm>
          <a:prstGeom prst="roundRect">
            <a:avLst>
              <a:gd name="adj" fmla="val 12000"/>
            </a:avLst>
          </a:prstGeom>
          <a:solidFill>
            <a:srgbClr val="3B4CC0"/>
          </a:solidFill>
          <a:ln w="12700">
            <a:solidFill>
              <a:srgbClr val="5566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81064" y="3401568"/>
            <a:ext cx="4468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 25%</a:t>
            </a:r>
            <a:pPr indent="0" marL="0">
              <a:buNone/>
            </a:pPr>
            <a:r>
              <a:rPr lang="en-US" sz="95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under $500K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681064" y="3401568"/>
            <a:ext cx="430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~$119K · optimistic ~$238K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6472" y="3950208"/>
            <a:ext cx="4797400" cy="457200"/>
          </a:xfrm>
          <a:prstGeom prst="roundRect">
            <a:avLst>
              <a:gd name="adj" fmla="val 1200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81064" y="3950208"/>
            <a:ext cx="4468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 30%</a:t>
            </a:r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$1M+ MRR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681064" y="3950208"/>
            <a:ext cx="430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multi-year ambition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516472" y="4535424"/>
            <a:ext cx="479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runs the motion with joint GTM support; Archera provides Tier-2 support.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08990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bands measured on commitment MRR — Archera's GRI/GSP (Guaranteed RI and Savings Plan) revenue across the partner's book. Scenario placements per the slide 6 model (premium pool ÷ 12).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6928" y="5010912"/>
            <a:ext cx="11057839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7824" y="5010912"/>
            <a:ext cx="1043604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Timely angle.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AWS's 2025 policy ends the sharing of Reserved Instances and Savings Plans across customers. Archera offers a compliant model plus a net-new revenue stream — directly relevant to any consolidated-billing or managed accounts Automatum operates.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03  ·  THE RAILS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money moves.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premium is metered, marketplace-billed, and channel-shared — the same rails Automatum already reconciles.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15798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157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8483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Archera's Marketplace listing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98848" y="208483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SaaS listing the private offer is issued against.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" y="267004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279806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2798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72491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CPPO, Automatum as channel partner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98848" y="272491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offer carries Automatum's margin as the channel partner of record.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1012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343814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34381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6499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 accepts on their own account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498848" y="336499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on the private offer; onboarded via the Archera Partner Portal.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" y="395020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407822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" y="4078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00507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meters monthly on savings realised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498848" y="400507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Variable, not a flat subscription — the no-savings-no-fee mechanic, metered.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459028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" y="471830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9808" y="4718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64515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on the AWS invoice · draws down EDP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498848" y="464515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disburses; Automatum's share arrives through its existing disbursement channel.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726680" y="2029968"/>
            <a:ext cx="3898087" cy="1572768"/>
          </a:xfrm>
          <a:prstGeom prst="roundRect">
            <a:avLst>
              <a:gd name="adj" fmla="val 4070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964424" y="2212848"/>
            <a:ext cx="34225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AUTOMATUM STANDS UP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964424" y="2450592"/>
            <a:ext cx="3422599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Channel-partner registration against Archera's listing, an offer template, and metering reconciliation in the existing rhythm. No new billing system.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726680" y="3749040"/>
            <a:ext cx="3898087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964424" y="3913632"/>
            <a:ext cx="34225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TERMS, PER THE AGREEMENT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7964424" y="4133088"/>
            <a:ext cx="3422599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 tiered rev-share on marketplace net revenue, paid monthly and reported in the Partner Portal. Rev-share applies to net-new entities only — Archera checks each against its existing book. Still open: execution, the starting tier, and the joint GTM plan.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5303520"/>
            <a:ext cx="11057839" cy="603504"/>
          </a:xfrm>
          <a:prstGeom prst="roundRect">
            <a:avLst>
              <a:gd name="adj" fmla="val 10606"/>
            </a:avLst>
          </a:prstGeom>
          <a:solidFill>
            <a:srgbClr val="141A4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7824" y="5303520"/>
            <a:ext cx="1043604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Rev-share counts net-new Archera customers only.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ISV Archera signs directly first is permanently off Automatum's rev-share — the strongest argument for moving first. For the ISV, the charge is simply marketplace spend on the AWS invoice.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998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per Archera's Distributor Partner Agreement template (Appendix A) — unsigned, so everything here is subject to execution. Azure and GCP channel private offers are approved routes under the same agreement.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 ·  THE RECKONING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already works at this scale.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realised savings — actual bill reduction after Archera's premium — measured over a recent full month from live platform data, across five enterprises on three clouds.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~$20.2M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net savings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72536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91992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~37%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91992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the reservable base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144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97600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93–100%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97600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utilisation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983751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03207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clouds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203207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0540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(BY VERTICAL)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584448" y="305409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CLOUDS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5184648" y="305409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SAVINGS / MO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784848" y="30540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BASE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66928" y="3291840"/>
            <a:ext cx="7223760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3383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infrastructure / DevOps SaaS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584448" y="33832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184648" y="33832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$1,098,000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84848" y="3383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38404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analytics SaaS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584448" y="3840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84648" y="3840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$209,800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784848" y="3840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2976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Vertical-market ERP SaaS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584448" y="42976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184648" y="42976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$164,600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784848" y="42976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7548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Building-materials distribution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584448" y="47548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184648" y="4754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$150,000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6784848" y="4754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2120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EHS / regulatory-compliance SaaS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3584448" y="52120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184648" y="52120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$60,000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784848" y="5212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138160" y="3054096"/>
            <a:ext cx="3486607" cy="2615184"/>
          </a:xfrm>
          <a:prstGeom prst="roundRect">
            <a:avLst>
              <a:gd name="adj" fmla="val 244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430768" y="3310128"/>
            <a:ext cx="290139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“Teams no longer have to worry about over-committing or being stuck on the wrong instance types. It’s simplified our FinOps workflows tremendously.”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8430768" y="4882896"/>
            <a:ext cx="290139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Gupta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AI Infrastructure, Floyo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58155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Archera's customer reference pack, which is marked confidential — confirm clearance with Archera before circulating this deck outside Automatum. All savings are net of Archera's premium and achieved through rate optimisation only: no re-architecting and no workload migration. Anonymised by vertical; a named reference exists in Archera's pack, pending clearance. Quote from Archera's published materials — separate from the five anonymised enterprises.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 ·  THE RECKONING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plugs in, and a 90-day plan.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savings analysis runs during the listing build — coverage ready at go-live.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72536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0280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10280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Premiums billed through the same CPPO channel as the listing.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78144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15888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data gives AWS sellers a reason to engage the account.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83751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1495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221495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visibility, regression alerts and recurring premium revenue.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257860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install earns its keep at every stage of the motion Automatum already runs.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999232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32004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08176" y="3218688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0–30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3566160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and pilot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59536" y="41422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33856" y="40050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Archera from AWS Marketplace on two friendly ISV accounts.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" y="47091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3856" y="45720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free savings analysis and baseline coverage.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9536" y="5276088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33856" y="5138928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each pilot's analysis into a term plan — 30-day vs 1-year, workload by workload.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07738" y="2999232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82058" y="32004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986" y="3218688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30–60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582058" y="3566160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Productise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4600346" y="41422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874666" y="40050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the attach offer, with the savings number as the opening line.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00346" y="47091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74666" y="45720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the distributor agreement and clear its free enablement bar.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600346" y="5276088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74666" y="5138928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the account team on the talk track and the qualifying question.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48549" y="2999232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22869" y="32004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889797" y="3218688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60–90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8322869" y="3566160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and co-sell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8341157" y="41422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615477" y="40050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the base mid-band first, largest accounts last — the slide 9 order.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341157" y="47091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615477" y="45720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 with AWS and Archera on qualified accounts.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341157" y="5276088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615477" y="5138928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savings delivered, premium billed and new margin.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 ·  THE RECKONING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use this, and what to validate.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1207008"/>
          </a:xfrm>
          <a:prstGeom prst="roundRect">
            <a:avLst>
              <a:gd name="adj" fmla="val 5303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481328"/>
            <a:ext cx="10399471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workload is genuinely stable and the customer will run it for three years, they should buy the three-year commitment themselves and keep all 57%.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is for the spend that genuinely cannot be committed — which, for a startup and scaleup base, is a great deal more of the bill than most teams would guess.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cover: off by default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to be switched on with Archera. A customer can hold release-only cover while believing they are rebate-protected.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72536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28568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Buybacks are not automatic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28568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Somebody has to file the request — and for EC2, the RI Marketplace must be enabled on the account first.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8144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4176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the economics per account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34176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is transparent, but the right term depends on expected utilisation. Run the numbers before recommending one.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983751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9783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 and billing ownership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239783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Minimal-privilege install, and the customer keeps full ownership and control of their AWS billing. Make that explicit in every engagement.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5175504"/>
            <a:ext cx="11057839" cy="950976"/>
          </a:xfrm>
          <a:prstGeom prst="roundRect">
            <a:avLst>
              <a:gd name="adj" fmla="val 673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7824" y="5175504"/>
            <a:ext cx="1043604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disclosure.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recommending this is paid on it — Archera, us, and once the rev-share is live, Automatum too. We will still tell you when the right answer is the native three-year. And the guarantees themselves are contractual under Archera's terms, backed by third-party reinsurance — not regulated insurance.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1813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review the agreement's term before signing: it auto-renews in 18-month cycles unless terminated with at least six months' written notice, under Delaware law.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THIS 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× Automatum, in one frame.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33856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your customers’ AWS bills into a reason to stay — the whole argument, for whoever was not in the room.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3551834" cy="4169664"/>
          </a:xfrm>
          <a:prstGeom prst="roundRect">
            <a:avLst>
              <a:gd name="adj" fmla="val 1802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10512"/>
            <a:ext cx="30397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84832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native 3-year RI or Savings Plan, bought into the customer's own payer account.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88336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obligation: 30 days or 12 months. Archera carries the balance; AWS bills them directly.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91840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Fee: 50% of the created saving on the 30-day term, 25% on the 1-year. No savings, no fee.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02336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as you go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94560" y="4123944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73552" y="4023360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36168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30-day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194560" y="4462272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94560" y="4462272"/>
            <a:ext cx="502920" cy="91440"/>
          </a:xfrm>
          <a:prstGeom prst="rect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73552" y="4361688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28.5%  · exit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700016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1-year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194560" y="4800600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94560" y="4800600"/>
            <a:ext cx="635267" cy="91440"/>
          </a:xfrm>
          <a:prstGeom prst="rect">
            <a:avLst/>
          </a:prstGeom>
          <a:solidFill>
            <a:srgbClr val="5B6486"/>
          </a:solidFill>
          <a:ln w="3175">
            <a:solidFill>
              <a:srgbClr val="5B648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73552" y="4700016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03834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1-year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194560" y="5138928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5138928"/>
            <a:ext cx="754380" cy="91440"/>
          </a:xfrm>
          <a:prstGeom prst="rect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273552" y="5038344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42.75%  · exit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37667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3-year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194560" y="5477256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94560" y="5477256"/>
            <a:ext cx="1005840" cy="91440"/>
          </a:xfrm>
          <a:prstGeom prst="rect">
            <a:avLst/>
          </a:prstGeom>
          <a:solidFill>
            <a:srgbClr val="8E96C8"/>
          </a:solidFill>
          <a:ln w="3175">
            <a:solidFill>
              <a:srgbClr val="8E96C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273552" y="5376672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319930" y="1627632"/>
            <a:ext cx="3551834" cy="4169664"/>
          </a:xfrm>
          <a:prstGeom prst="roundRect">
            <a:avLst>
              <a:gd name="adj" fmla="val 1802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5962" y="1810512"/>
            <a:ext cx="30397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— AND THE FINE PRINT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4575962" y="2103120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three-year workloads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575962" y="2350008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the native 3-year and keep all 57%. Archera is only for the spend that cannot honestly be committed.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4575962" y="2999232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cover is off by default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575962" y="3246120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be switched on with Archera — release-only cover is not rebate cover.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575962" y="3895344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Buybacks are filed, not automatic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4575962" y="4142232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Somebody requests the release, and EC2 buybacks need the RI Marketplace enabled first.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4575962" y="4791456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guarantees are contractual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4575962" y="5038344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third-party reinsurance — not a regulated insurance policy.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72933" y="1627632"/>
            <a:ext cx="3551834" cy="4169664"/>
          </a:xfrm>
          <a:prstGeom prst="roundRect">
            <a:avLst>
              <a:gd name="adj" fmla="val 1802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328965" y="1810512"/>
            <a:ext cx="30397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PARTNERSHIP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8328965" y="2084832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is free; the premium meters monthly on savings realised, billed through AWS Marketplace CPPO.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328965" y="2779776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Co-Seller rev-share: 20% / 25% / 30% by commitment MRR — on entities net-new to Archera only.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8328965" y="3584448"/>
            <a:ext cx="30397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ASKS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347253" y="3941064"/>
            <a:ext cx="274320" cy="274320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347253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8731301" y="3840480"/>
            <a:ext cx="261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two pilot ISVs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347253" y="4507992"/>
            <a:ext cx="274320" cy="274320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347253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8731301" y="4407408"/>
            <a:ext cx="261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free savings analysis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347253" y="5074920"/>
            <a:ext cx="274320" cy="274320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347253" y="5074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8731301" y="4974336"/>
            <a:ext cx="261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the distributor agreement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59436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per this deck: savings vs on-demand from Archera's AWS pricing; tiers per the distributor agreement template (unsigned). Full sources on the slides behind each claim.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566928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Only Best Practices  ·  AWS Alliance Advisory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10527487" y="6309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Only Best Practices · AWS Alliance Advisory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Putting Archera to work for Automatum</dc:title>
  <dc:subject>PptxGenJS Presentation</dc:subject>
  <dc:creator>Only Best Practices</dc:creator>
  <cp:lastModifiedBy>Only Best Practices</cp:lastModifiedBy>
  <cp:revision>1</cp:revision>
  <dcterms:created xsi:type="dcterms:W3CDTF">2026-08-28T00:37:39Z</dcterms:created>
  <dcterms:modified xsi:type="dcterms:W3CDTF">2026-08-28T00:37:39Z</dcterms:modified>
</cp:coreProperties>
</file>