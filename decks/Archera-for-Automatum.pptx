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brief: how Automatum — a cloud-marketplace management platform serving 80+ ISVs on AWS, Azure, GCP and Red Hat — can put Archera to work. The lead motion is attach: Archera is free, it installs in minutes, and it produces savings on an AWS bill every one of Automatum's customers already pays. Secondary motions are a self-funding subscription, FTR acceleration, cover for unforecastable AI spend, and rev-share on premiums through CPPO. Prepared as an alliance-advisory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whole category in one slide. The binary is the problem: there is no product between on-demand and a one-year lock. Everything Archera does exists to fill that gap. The annual-plan analogy lands with non-technical audiences — you want the annual price, you cannot promise the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ownership point: the commitment sits in the customer's account, not Archera's. If Archera disappeared, the customer would still hold the discount. The liability bar is the whole product — the customer owns 30 days of a 36-month obligation, and Archera owns the other 35.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ladder is the single most useful slide for a technical buyer. Two honest points to make out loud: Archera 1-year beats native 1-year at identical lock-in (42.75 vs 36) and adds money back on what goes unused; and the 30-day rate is only 'worse' than native 1-year if the customer could actually have signed a year — which, for the spend this is aimed at, they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does the qualification work. Automatum's customers are startups, scaleups and some public companies — the bottom two bands. The median company under $500K of annual compute has captured zero. That is not a niche of the base; for a marketplace-first ISV portfolio it is most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attach and stay there. Everything else is upside. The reason attach is credible here and not for a typical partner: Automatum already has the billing relationship and already installs things into customer cloud accounts as part of its listing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facts that de-risk the conversation for Automatum's customers: the platform is free, and the customer keeps full ownership and control of their AWS billing. Neither the account nor the commitment moves. The service list matters for ISVs — RDS, OpenSearch, ElastiCache and Redshift often carry as much reservable spend as EC2 in a SaaS estate.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Automatum from a generic partner pitch. The rev-share plumbing that most partners have to build from scratch is the product Automatum already sells. Do not skip the multicloud line — it sets up the expansion beyond AWS without over-promising.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defend the inputs — invite the audience to replace them. The point of the slide is that even the conservative column, at $10K a month of average AWS spend, produces a seven-figure savings pool for the base and a five-figure revenue line for Automatum. If Automatum can pull actual spend data for even ten accounts, the base case tightens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left open: we do not put Automatum's price on the slide, because we do not have it and guessing it would undermine everything else. Ask them to fill it in live. If a mid-tier subscription is anywhere below roughly $28K a year, the self-funding claim on the next section is arithmetic rather than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Signpost slide. If time is short, cover 01 and 02 properly and leave 03 to 05 as a read-ahead.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operational ask on Automatum here is small: an install and a report. That is the argument for starting with attach rather than with rev-share — it proves value before anyone negotiates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retention argument as much as the sales one. Ask them directly: what does a renewal conversation look like when the customer can see a larger number coming back off their AWS bill than they pay you?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oversell this one. Archera automates the assessment, not the remediation — the ISV still has to fix what the review finds. The value is in removing the data-gathering slog and keeping the review current, which is where most FTRs actually 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AI-heavy ISV this is usually the opening use case rather than the fourth. If the room is full of AI-native customers, promote this slide ahead of use case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at refer-and-co-sell. Resell-and-manage only makes sense if Automatum is already operating consolidated billing for some customers — worth asking directly, because the AWS 2025 policy change makes it urgent for anyone who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with care: the source deck is stamped confidential and do-not-distribute. The anonymised vertical-level figures are used here; the named GCP reference in that pack has been deliberately left out pending clearance. If Archera clears it, the named reference is a strong addition to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pilot to two accounts. The single most useful output of days 0 to 30 is a real coverage baseline across those accounts, because it replaces every assumption on the sizing slide with a measured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makes the other eighteen credible, and the two operational gotchas — rebate cover being off by default, and buybacks needing a filed request — are exactly the kind of thing a partner is well placed to own on the customer's behalf.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two-pilot ask, not on the rev-share. The rev-share is worth more over time, but the pilot is what turns every assumption in this deck into Automatum's own data — and it costs them an install and a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6583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ALLIANCE ADVISORY BRIEF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8016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Archera to work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Automatum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96265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savings attached to the 80+ ISVs Automatum already serves — on a platform that is free to introduce, installs with minimal privileges, and bills its premium through the AWS Marketplace channel Automatum already runs.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4315968"/>
            <a:ext cx="1349654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4315968"/>
            <a:ext cx="13496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62886" y="4315968"/>
            <a:ext cx="1618488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62886" y="4315968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ISVs on AWS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27678" y="4315968"/>
            <a:ext cx="1349654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27678" y="4315968"/>
            <a:ext cx="13496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Self-funding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23637" y="4315968"/>
            <a:ext cx="1887322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23637" y="4315968"/>
            <a:ext cx="18873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via CPPO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18120" y="129844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74152" y="142646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43%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074152" y="17739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on-demand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30428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74152" y="24323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074152" y="27797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coverage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18120" y="331012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74152" y="34381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37856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terms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18120" y="431596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44439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074152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cost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 ·  THE MECHANIC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pricing is a binary.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is either on demand, or committed to for at least a year. There is nothing in between — AWS does not sell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48256"/>
            <a:ext cx="5419192" cy="2615184"/>
          </a:xfrm>
          <a:prstGeom prst="roundRect">
            <a:avLst>
              <a:gd name="adj" fmla="val 244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286000"/>
            <a:ext cx="4870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542032"/>
            <a:ext cx="487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108960"/>
            <a:ext cx="487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511296"/>
            <a:ext cx="479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 machine off at 3am and you owe nothing more.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contract. No commitment. No planning required.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most of an ISV's bill sits today.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5576" y="2048256"/>
            <a:ext cx="5419192" cy="2615184"/>
          </a:xfrm>
          <a:prstGeom prst="roundRect">
            <a:avLst>
              <a:gd name="adj" fmla="val 244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6472" y="2286000"/>
            <a:ext cx="4870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FOR 1 OR 3 YEARS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16472" y="2542032"/>
            <a:ext cx="487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57%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516472" y="3108960"/>
            <a:ext cx="487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list price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516472" y="3511296"/>
            <a:ext cx="479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pay for the promise whether you use it or not.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cancel button, and most cannot be resold.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sells no term shorter than one year.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864608"/>
            <a:ext cx="11057839" cy="1005840"/>
          </a:xfrm>
          <a:prstGeom prst="roundRect">
            <a:avLst>
              <a:gd name="adj" fmla="val 636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" y="5029200"/>
            <a:ext cx="1043604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annual-plan problem. 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discount. You cannot make the promise. So you pay month to month at full price and leave the saving on the table — every year, on the part of the bill nobody can honestly commit.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 ·  THE MECHANIC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Guaranteed Commitment is an RI or Savings Plan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downside hedge on top.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buys the three-year commitment into the customer's own AWS account. The customer is locked in only for the term they choose — 30 days, or one year. The fee is a share of savings actually created: no savings, no fee.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542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THREE-YEAR COMMITMENT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798064"/>
            <a:ext cx="11057839" cy="731520"/>
          </a:xfrm>
          <a:prstGeom prst="roundRect">
            <a:avLst>
              <a:gd name="adj" fmla="val 11250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798064"/>
            <a:ext cx="2103120" cy="731520"/>
          </a:xfrm>
          <a:prstGeom prst="roundRect">
            <a:avLst>
              <a:gd name="adj" fmla="val 11250"/>
            </a:avLst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7980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2656" y="2798064"/>
            <a:ext cx="83146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customer's liability</a:t>
            </a:r>
            <a:endParaRPr lang="en-US" sz="15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/ rebate window unlocks — Archera carries the rest of the term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027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CUSTOMER'S LIABILITY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962656" y="3602736"/>
            <a:ext cx="83146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LIABILITY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8404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38404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289194" y="38404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1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74101" y="38404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2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0893247" y="38404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3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3576218" cy="1572768"/>
          </a:xfrm>
          <a:prstGeom prst="roundRect">
            <a:avLst>
              <a:gd name="adj" fmla="val 4070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07408"/>
            <a:ext cx="329184" cy="329184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407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407408"/>
            <a:ext cx="25886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purchases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4864608"/>
            <a:ext cx="30275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long-term commitment is bought into the customer's own AWS account — in their name, not Archera's.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07738" y="4187952"/>
            <a:ext cx="3576218" cy="1572768"/>
          </a:xfrm>
          <a:prstGeom prst="roundRect">
            <a:avLst>
              <a:gd name="adj" fmla="val 4070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82058" y="4407408"/>
            <a:ext cx="329184" cy="329184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82058" y="4407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0970" y="4407408"/>
            <a:ext cx="25886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Locked, briefly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82058" y="4864608"/>
            <a:ext cx="30275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for the term they chose: 30 days or one year. AWS still bills them directly, as it always did.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48549" y="4187952"/>
            <a:ext cx="3576218" cy="1572768"/>
          </a:xfrm>
          <a:prstGeom prst="roundRect">
            <a:avLst>
              <a:gd name="adj" fmla="val 4070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2869" y="4407408"/>
            <a:ext cx="329184" cy="329184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22869" y="4407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61781" y="4407408"/>
            <a:ext cx="25886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releases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22869" y="4864608"/>
            <a:ext cx="302757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request it, and Archera takes on the remaining term — or rebates the spend that went unused.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 ·  THE MECHANIC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option actually lands.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are savings off on-demand pricing. Both Archera terms sit on a three-year commitment underneath — which is why a 30-day term can exist at all.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1945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DISCOUNT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5550408" y="21945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FOR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21945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EXIT?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694944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57860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as you go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350008" y="2715768"/>
            <a:ext cx="1965960" cy="13716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43984" y="25786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550408" y="257860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57860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21868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30-day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350008" y="3355848"/>
            <a:ext cx="1965960" cy="13716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0008" y="3355848"/>
            <a:ext cx="982980" cy="137160"/>
          </a:xfrm>
          <a:prstGeom prst="rect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3984" y="321868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28.5%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50408" y="321868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21868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38587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1-year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350008" y="3995928"/>
            <a:ext cx="1965960" cy="13716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0008" y="3995928"/>
            <a:ext cx="1241659" cy="137160"/>
          </a:xfrm>
          <a:prstGeom prst="rect">
            <a:avLst/>
          </a:prstGeom>
          <a:solidFill>
            <a:srgbClr val="5B6486"/>
          </a:solidFill>
          <a:ln w="3175">
            <a:solidFill>
              <a:srgbClr val="5B64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43984" y="385876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550408" y="385876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85876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449884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1-year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2350008" y="4636008"/>
            <a:ext cx="1965960" cy="13716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0008" y="4636008"/>
            <a:ext cx="1474470" cy="137160"/>
          </a:xfrm>
          <a:prstGeom prst="rect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43984" y="449884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42.75%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550408" y="449884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49884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513892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3-year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350008" y="5276088"/>
            <a:ext cx="1965960" cy="13716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0008" y="5276088"/>
            <a:ext cx="1965960" cy="137160"/>
          </a:xfrm>
          <a:prstGeom prst="rect">
            <a:avLst/>
          </a:prstGeom>
          <a:solidFill>
            <a:srgbClr val="8E96C8"/>
          </a:solidFill>
          <a:ln w="3175">
            <a:solidFill>
              <a:srgbClr val="8E96C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43984" y="513892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550408" y="51389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6766560" y="51389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099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keeps 50% of the saving on a 30-day term, 25% on a one-year term. No savings, no fee.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863840" y="2194560"/>
            <a:ext cx="37609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PROTECTIONS, NOT ONE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863840" y="2523744"/>
            <a:ext cx="3760927" cy="1572768"/>
          </a:xfrm>
          <a:prstGeom prst="roundRect">
            <a:avLst>
              <a:gd name="adj" fmla="val 4070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19872" y="2724912"/>
            <a:ext cx="32488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GUARANTEE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119872" y="2962656"/>
            <a:ext cx="32488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leaves.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119872" y="3255264"/>
            <a:ext cx="324886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as short as 30 days. Releases them from the rest of the commitment; Archera buys it back. Applies to select AWS commitments.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63840" y="4261104"/>
            <a:ext cx="3760927" cy="1572768"/>
          </a:xfrm>
          <a:prstGeom prst="roundRect">
            <a:avLst>
              <a:gd name="adj" fmla="val 4070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19872" y="4462272"/>
            <a:ext cx="32488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GUARANTEE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8119872" y="4700016"/>
            <a:ext cx="32488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stay, and get paid back.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119872" y="4992624"/>
            <a:ext cx="324886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on a native 1- or 3-year. Reimburses net losses from what went unused — cash by ACH, not cloud credits. Broader coverage.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598017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sells no commitment shorter than one year, at any price. So 28.5% sits below a native one-year's 36% — but on spend a customer genuinely cannot commit for a year, the comparison is not 36%. It is 0%.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 ·  THE MECHANIC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bill never gets the discount — and the</a:t>
            </a:r>
            <a:endParaRPr lang="en-US" sz="27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the company, the less of it they have captured.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3576218" cy="1901952"/>
          </a:xfrm>
          <a:prstGeom prst="roundRect">
            <a:avLst>
              <a:gd name="adj" fmla="val 336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956816"/>
            <a:ext cx="3027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523744"/>
            <a:ext cx="30275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cloud infrastructure spend is wasted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62656"/>
            <a:ext cx="3027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from 27% — the first increase in five years. AI workloads made forecasting harder, not easier.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07738" y="1773936"/>
            <a:ext cx="3576218" cy="1901952"/>
          </a:xfrm>
          <a:prstGeom prst="roundRect">
            <a:avLst>
              <a:gd name="adj" fmla="val 336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2058" y="1956816"/>
            <a:ext cx="3027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4582058" y="2523744"/>
            <a:ext cx="30275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no working commitments at all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2962656"/>
            <a:ext cx="3027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commitments, or commitments sized so badly they return nothing.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8549" y="1773936"/>
            <a:ext cx="3576218" cy="1901952"/>
          </a:xfrm>
          <a:prstGeom prst="roundRect">
            <a:avLst>
              <a:gd name="adj" fmla="val 336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2869" y="1956816"/>
            <a:ext cx="3027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322869" y="2523744"/>
            <a:ext cx="30275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AWS commitment coverage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322869" y="2962656"/>
            <a:ext cx="3027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billing data across roughly $3bn of AWS compute — not from a survey.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85876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SAVING CAPTURED, BY ANNUAL AWS COMPUTE SPEND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66928" y="4114800"/>
            <a:ext cx="3576218" cy="1133856"/>
          </a:xfrm>
          <a:prstGeom prst="roundRect">
            <a:avLst>
              <a:gd name="adj" fmla="val 5645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79392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$500K A YEAR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480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4480560"/>
            <a:ext cx="18754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Nothing. The median company here is simply paying list price.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07738" y="4114800"/>
            <a:ext cx="3576218" cy="1133856"/>
          </a:xfrm>
          <a:prstGeom prst="roundRect">
            <a:avLst>
              <a:gd name="adj" fmla="val 5645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63770" y="4279392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 TO $10M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63770" y="4480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752490" y="4480560"/>
            <a:ext cx="18754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progress — and still less than half of what is on the table.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48549" y="4114800"/>
            <a:ext cx="3576218" cy="1133856"/>
          </a:xfrm>
          <a:prstGeom prst="roundRect">
            <a:avLst>
              <a:gd name="adj" fmla="val 5645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04581" y="4279392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$10M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304581" y="4480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493301" y="4480560"/>
            <a:ext cx="18754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FinOps team, and it shows.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39496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Automatum's base sits in the bottom two bands.  </a:t>
            </a:r>
            <a:pPr indent="0" marL="0"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median ISV under $500K of annual compute has captured nothing at all.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7607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and top-challenge figures: Flexera 2026 State of the Cloud Report, 750+ cloud decision-makers. Commitment coverage and median Effective Savings Rate: ProsperOps, measured across roughly $3bn of AWS compute. Bands are compute usage, not the whole bill.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four ways to win.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a 100%-free, multicloud commitment-management and FinOps platform. For Automatum it attaches to a base that already exists: 80+ ISVs, every one running on AWS, most carrying reservable spend that has never taken a commitment — and the premium bills through the AWS Marketplace channel Automatum already operates.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 the base you already have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on every ISV's own AWS bill, at no tooling cost and with no re-architecting. Connecting billing is the whole project.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subscription self-funding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28568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AWS saving can cover what they pay Automatum — turning a cost line into one that argues for itself.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8144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4176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4176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34176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Well-Architected Reviews, Lenses and the Foundational Technical Review, written back to the AWS Well-Architected Tool.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83751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9783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39783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39783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share on insured-commitment premiums, billed through the AWS Marketplace CPPO channel Automatum already runs.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34009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one is the point.  </a:t>
            </a:r>
            <a:pPr indent="0" marL="0"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three compound on top of it — but the attach motion works on day one, on customers Automatum already bills.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Archera is.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procurement and commitment-management layer that helps AWS teams forecast, optimise and insure their commitments — then keep the savings.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677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&amp; FinOps management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980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RI and Savings Plan purchasing, and maximise private-pricing coverage.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43984" y="2084832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0016" y="22677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&amp; Insured Commitments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00016" y="27980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Flexible, insurance-backed alternatives — commit without over-commitment risk.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566160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assessments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793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 / WAR, industry and technology Lenses, and the Foundational Technical Review.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43984" y="3566160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0016" y="374904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custom BI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700016" y="42793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business and cloud-cost data into drill-down dashboards and forecasts.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084832"/>
            <a:ext cx="32122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 COVER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412480" y="2359152"/>
            <a:ext cx="3212287" cy="374904"/>
          </a:xfrm>
          <a:prstGeom prst="roundRect">
            <a:avLst>
              <a:gd name="adj" fmla="val 1707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95360" y="2359152"/>
            <a:ext cx="13258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948672" y="2359152"/>
            <a:ext cx="1511503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EC2, Lambda &amp; Fargate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412480" y="2793492"/>
            <a:ext cx="3212287" cy="374904"/>
          </a:xfrm>
          <a:prstGeom prst="roundRect">
            <a:avLst>
              <a:gd name="adj" fmla="val 1707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0" y="2793492"/>
            <a:ext cx="13258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RDS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948672" y="2793492"/>
            <a:ext cx="1511503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MySQL, Postgres &amp; SQL Server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412480" y="3227832"/>
            <a:ext cx="3212287" cy="374904"/>
          </a:xfrm>
          <a:prstGeom prst="roundRect">
            <a:avLst>
              <a:gd name="adj" fmla="val 1707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95360" y="3227832"/>
            <a:ext cx="13258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OpenSearch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948672" y="3227832"/>
            <a:ext cx="1511503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analytics node capacity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412480" y="3662172"/>
            <a:ext cx="3212287" cy="374904"/>
          </a:xfrm>
          <a:prstGeom prst="roundRect">
            <a:avLst>
              <a:gd name="adj" fmla="val 1707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595360" y="3662172"/>
            <a:ext cx="13258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ElastiCache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948672" y="3662172"/>
            <a:ext cx="1511503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Redis &amp; Memcached nodes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412480" y="4096512"/>
            <a:ext cx="3212287" cy="374904"/>
          </a:xfrm>
          <a:prstGeom prst="roundRect">
            <a:avLst>
              <a:gd name="adj" fmla="val 1707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595360" y="4096512"/>
            <a:ext cx="13258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Redshift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948672" y="4096512"/>
            <a:ext cx="1511503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capacity &amp; compute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412480" y="4530852"/>
            <a:ext cx="3212287" cy="374904"/>
          </a:xfrm>
          <a:prstGeom prst="roundRect">
            <a:avLst>
              <a:gd name="adj" fmla="val 1707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595360" y="4530852"/>
            <a:ext cx="13258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DynamoDB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9948672" y="4530852"/>
            <a:ext cx="1511503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capacity for NoSQL at scale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412480" y="4965192"/>
            <a:ext cx="3212287" cy="374904"/>
          </a:xfrm>
          <a:prstGeom prst="roundRect">
            <a:avLst>
              <a:gd name="adj" fmla="val 1707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595360" y="4965192"/>
            <a:ext cx="13258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more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4965192"/>
            <a:ext cx="1511503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AWS commitment-eligible service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6692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24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itself is 100% free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36168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3600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full ownership of their AWS billing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6692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4124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 from AWS Marketplace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36168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63600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AWS, Azure and Google Cloud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fits Automatum.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live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514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7144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$120M+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1658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revenue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8335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965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37479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since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4156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787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9978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4608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 days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09122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first listing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85799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0429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94943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in place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87168"/>
            <a:ext cx="3576218" cy="2560320"/>
          </a:xfrm>
          <a:prstGeom prst="roundRect">
            <a:avLst>
              <a:gd name="adj" fmla="val 2500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2761488"/>
            <a:ext cx="384048" cy="45720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2962656"/>
            <a:ext cx="30275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hold the relationship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380390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logo and no new contract vehicle. This is an offer to customers Automatum already bills every month, through a conversation that is already scheduled.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07738" y="2487168"/>
            <a:ext cx="3576218" cy="2560320"/>
          </a:xfrm>
          <a:prstGeom prst="roundRect">
            <a:avLst>
              <a:gd name="adj" fmla="val 2500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82058" y="2761488"/>
            <a:ext cx="384048" cy="45720"/>
          </a:xfrm>
          <a:prstGeom prst="rect">
            <a:avLst/>
          </a:prstGeom>
          <a:solidFill>
            <a:srgbClr val="0E93A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82058" y="2962656"/>
            <a:ext cx="30275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run the plumbing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4582058" y="380390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premium bills through AWS Marketplace and draws down the customer's EDP or MACC commit. Private offers, metering and CPPO resale are Automatum's core competency, not a new build.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48549" y="2487168"/>
            <a:ext cx="3576218" cy="2560320"/>
          </a:xfrm>
          <a:prstGeom prst="roundRect">
            <a:avLst>
              <a:gd name="adj" fmla="val 2500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2869" y="2761488"/>
            <a:ext cx="384048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22869" y="2962656"/>
            <a:ext cx="30275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customers are the under-covered band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22869" y="380390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Startups and scaleups sit exactly where measured commitment coverage is lowest — and where the median saving captured runs between 0% and 23%.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5157216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multicloud shape matches too. 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manages AWS, Azure, Google Cloud and Red Hat. Archera's Insured Commitments cover AWS, Azure and Google Cloud from one control plane — so the attach is not an AWS-only story once the motion is proven.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577900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figures per the company's published positioning (automatum.io) — please confirm before this deck is circulated. Commitment-coverage figures: ProsperOps rate-optimisation benchmarks.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in your base, sized.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is on the slide. Change any one of them and the arithmetic follows — the shape of the answer does not.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903720" y="1792224"/>
            <a:ext cx="2322576" cy="3822192"/>
          </a:xfrm>
          <a:prstGeom prst="roundRect">
            <a:avLst>
              <a:gd name="adj" fmla="val 275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9281160" y="188366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2157984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2677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running on AWS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281160" y="22677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6791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AWS spend per ISV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/ mo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/ mo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6791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/ mo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0906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annual AWS spend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$9.6M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$24.0M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30906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0215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60% reservable  (compute, RDS, OpenSearch, ElastiCache, Redshift, DynamoDB)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$5.8M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$14.4M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35021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$28.8M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386791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9136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45% not yet covered by any commitment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$2.6M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$13.0M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3251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to the ISVs  ·  35% blended Archera rate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89204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$0.91M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$2.27M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281160" y="43251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$4.54M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47365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premium pool  ·  22% of addressable spend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9204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$0.57M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$1.43M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736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$2.85M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66928" y="510235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66928" y="51480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revenue to Automatum  ·  10–20% rev-share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89204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$57–114K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$143–285K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81160" y="51480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$285–570K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7607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Illustrative. Reservable share and the blended Archera rate are assumptions; the 45% coverage gap follows the measured 55% median AWS commitment coverage (ProsperOps). The 22% premium is the gap between the 57% a three-year creates and the 35% blended net the customer keeps. The 10–20% rev-share band is a placeholder pending terms with Archera.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customer, worked.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ISV at the base-case spend. No re-architecting and no workload migration — connecting billing is the whole project.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1371600"/>
          </a:xfrm>
          <a:prstGeom prst="roundRect">
            <a:avLst>
              <a:gd name="adj" fmla="val 4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$300K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on AWS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9504"/>
            <a:ext cx="30641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a month — the base-case ISV.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07738" y="2029968"/>
            <a:ext cx="3576218" cy="1371600"/>
          </a:xfrm>
          <a:prstGeom prst="roundRect">
            <a:avLst>
              <a:gd name="adj" fmla="val 4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377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$180K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6377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reservable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889504"/>
            <a:ext cx="30641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the bill: compute, RDS, OpenSearch, ElastiCache, Redshift, DynamoDB.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8549" y="2029968"/>
            <a:ext cx="3576218" cy="1371600"/>
          </a:xfrm>
          <a:prstGeom prst="roundRect">
            <a:avLst>
              <a:gd name="adj" fmla="val 4667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04581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$81K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304581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covered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04581" y="2889504"/>
            <a:ext cx="30641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the reservable base, at the measured median coverage. This is what Archera is for.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2102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ON THAT $81K, BY TERM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692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30-day  ·  28.5%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$23.1K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any time after 30 days.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0773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6377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 ·  35%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6377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5" name="Text 23"/>
          <p:cNvSpPr txBox="1"/>
          <p:nvPr/>
        </p:nvSpPr>
        <p:spPr>
          <a:xfrm>
            <a:off x="456377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realistic mix across an estate.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48549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04581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1-year  ·  42.75%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04581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$34.6K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9" name="Text 27"/>
          <p:cNvSpPr txBox="1"/>
          <p:nvPr/>
        </p:nvSpPr>
        <p:spPr>
          <a:xfrm>
            <a:off x="8304581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lock-in as a native one-year, 6.75 points better.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41A4F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7824" y="5266944"/>
            <a:ext cx="104360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 a year back, on one mid-sized customer.  </a:t>
            </a:r>
            <a:pPr indent="0" marL="0"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that ISV pays Automatum, this is the number that now sits next to it on the renewal.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Illustrative, at the base-case assumptions from the previous slide. Net of Archera's premium. Drop Automatum's own list price into the final box to close the argument in front of a customer.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 ·  THE MOTIONS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ways to put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to work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79806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stands on its own — and they compound when they are delivered together. The first is the one that works on day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309360" y="804672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47104" y="804672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14032" y="914400"/>
            <a:ext cx="427299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savings to every ISV you already serve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14032" y="1371600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install, minimal privileges, live in days.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1883664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47104" y="1883664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14032" y="1993392"/>
            <a:ext cx="427299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Automatum subscription self-funding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114032" y="2450592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AWS bill starts paying for the programme.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09360" y="2962656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2962656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3072384"/>
            <a:ext cx="427299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14032" y="3529584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WAFR, Lenses and FTR at no tooling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4041648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47104" y="4041648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4151376"/>
            <a:ext cx="427299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4608576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AI, bursty and migrating workloads, insured.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09360" y="5120640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47104" y="5120640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5230368"/>
            <a:ext cx="427299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5687568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on premiums, billed via AWS Marketplace CPPO.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THE PRIMARY MOTION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savings to every ISV you already serve.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build, nothing to staff, and no new commercial relationship to open. The base already exists.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85216" y="2194560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customer's AWS account in minutes, with minimal privileges — installed from AWS Marketplace.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85216" y="2816352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67004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savings analysis shows the coverage gap in hard numbers before anyone commits to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5216" y="3438144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291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optimisation only: no re-architecting, no workload migration, no change to how the ISV runs.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5216" y="4059936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913632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days, not weeks — which fits inside the onboarding window Automatum already promises.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5216" y="4681728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535424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free. The customer pays a premium only on savings actually created.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1956816"/>
            <a:ext cx="3943807" cy="3310128"/>
          </a:xfrm>
          <a:prstGeom prst="roundRect">
            <a:avLst>
              <a:gd name="adj" fmla="val 193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55280" y="2176272"/>
            <a:ext cx="3395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TO AUTOMATUM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0545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value-add that can be offered to the whole base at once, not sold account by account.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23697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conversation opens with a number from the customer's own bill, not a pitch.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396849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reference book runs 93–100% commitment utilisation — savings get used, not idled.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470001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the quarterly check-in a reason to exist beyond listing maintenance.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billing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962656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163824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gap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63824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savings analysis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58384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59552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it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559552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or 1-year terms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02  ·  THE COMPETITIVE WEDGE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Automatum subscription self-funding.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already competes on price — roughly a fifth of what legacy marketplace platforms charge. Archera changes the comparison entirely: the customer's own AWS bill starts paying for the marketplace programme.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304288"/>
            <a:ext cx="5419192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523744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TODAY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816352"/>
            <a:ext cx="4797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management, at a fraction of the price of the incumbents.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730752"/>
            <a:ext cx="479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good pitch, and it is still a cost line. A finance team has to approve it against everything else competing for the same budget.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05576" y="2304288"/>
            <a:ext cx="5419192" cy="2304288"/>
          </a:xfrm>
          <a:prstGeom prst="roundRect">
            <a:avLst>
              <a:gd name="adj" fmla="val 277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6472" y="2523744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WITH ARCHERA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516472" y="2816352"/>
            <a:ext cx="4797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management that returns tens of thousands a year off the AWS bill.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516472" y="3730752"/>
            <a:ext cx="479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subscription, argued from the customer's own billing data. The question moves from “can we afford this?” to “why haven't we done this already?”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791456"/>
            <a:ext cx="11057839" cy="1005840"/>
          </a:xfrm>
          <a:prstGeom prst="roundRect">
            <a:avLst>
              <a:gd name="adj" fmla="val 636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7824" y="4937760"/>
            <a:ext cx="1043604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changes what churn looks like. 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subscription that visibly returns more than it costs is not a line item anyone hunts for in a cost-cutting review — and the savings only continue while the platform stays connected.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comparison per Automatum's published positioning against legacy marketplace platforms. Savings figures per the worked example on slide 10.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03  ·  ASSESSMENTS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Foundational Technical Review gates ISV Accelerate and co-sell. Archera auto-populates it from the live environment and writes the results back into the native AWS Well-Architected Tool — at no tooling cost.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3969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0428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 from the live environment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5292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account and the framework fills itself in. No manual data gathering, no questionnaire chase.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213969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08576" y="230428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whole framework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08576" y="285292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 / WAR, industry and technology Lenses, and the Foundational Technical Review itself.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69417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5876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back to the AWS tooling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0740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land in the native AWS Well-Architected Tool, where AWS expects to find them.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52544" y="369417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08576" y="385876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current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08576" y="440740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best-practice adoption, flag regressions, assign remediation, and keep an audit history.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0" y="2139696"/>
            <a:ext cx="3395167" cy="2944368"/>
          </a:xfrm>
          <a:prstGeom prst="roundRect">
            <a:avLst>
              <a:gd name="adj" fmla="val 2174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3920" y="2359152"/>
            <a:ext cx="28465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2706624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fits inside the ~14-day go-live rather than extending it.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456432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reviews help unlock AWS credits, assessment-driven discounts and funding programmes for the ISV.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206240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gate Automatum clears for the customer instead of handing back with instructions.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036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7824" y="5230368"/>
            <a:ext cx="1043604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checking: 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of Automatum's 80+ ISVs have a current FTR, and how many stalled on it. That number is the size of this use case, and Automatum is one of the few parties who can actually find out.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04  ·  UNFORECASTABLE SPEND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Automatum's base skews startup and scaleup SaaS — the segment now carrying GPU, training and inference spend that moves month to month. That is precisely the spend a native one- or three-year commitment cannot touch.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641016" cy="1920240"/>
          </a:xfrm>
          <a:prstGeom prst="roundRect">
            <a:avLst>
              <a:gd name="adj" fmla="val 333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migrations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90672"/>
            <a:ext cx="2128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migrating workloads while the team is still deciding what to do with them.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2536" y="2212848"/>
            <a:ext cx="2641016" cy="1920240"/>
          </a:xfrm>
          <a:prstGeom prst="roundRect">
            <a:avLst>
              <a:gd name="adj" fmla="val 333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28568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Re-architect freely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28568" y="3090672"/>
            <a:ext cx="2128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terms plus rebate protection mean nobody is tied to old infrastructure by a bad commitment.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8144" y="2212848"/>
            <a:ext cx="2641016" cy="1920240"/>
          </a:xfrm>
          <a:prstGeom prst="roundRect">
            <a:avLst>
              <a:gd name="adj" fmla="val 333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bursty demand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3090672"/>
            <a:ext cx="2128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short-term spikes with commitments sized to the event rather than to the year.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83751" y="2212848"/>
            <a:ext cx="2641016" cy="1920240"/>
          </a:xfrm>
          <a:prstGeom prst="roundRect">
            <a:avLst>
              <a:gd name="adj" fmla="val 333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39783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AI workloads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239783" y="3090672"/>
            <a:ext cx="2128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capacity is expensive and scarce. Longer training runs at a better rate, without a three-year bet.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407408"/>
            <a:ext cx="11057839" cy="1060704"/>
          </a:xfrm>
          <a:prstGeom prst="roundRect">
            <a:avLst>
              <a:gd name="adj" fmla="val 6034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7824" y="4407408"/>
            <a:ext cx="1043604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spend a customer genuinely cannot commit for a year, the alternative to 28.5% is not 36%. It is 0%.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qualifying question for every account: are they buying savings they could not otherwise reach, or paying for an escape hatch they will never use?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669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rose to 29% of cloud infrastructure spend in the most recent Flexera survey — the first increase in five years, attributed to AI workloads making forecasting harder rather than easier.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05  ·  REVENUE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models, depending on how much of the customer relationship Automatum wants to carry.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&amp; CO-SELL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395728"/>
            <a:ext cx="479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lift, immediate participation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" y="3127248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2980944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registers and introduces the lead.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3584448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runs the customer sale and the support relationship.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96112" y="4334256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88720" y="4187952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participates in the savings the customer captures, with no delivery obligation.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5576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16472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RESELL &amp; MANAGE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516472" y="2395728"/>
            <a:ext cx="479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consolidated billing and managed accounts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34760" y="3127248"/>
            <a:ext cx="137160" cy="137160"/>
          </a:xfrm>
          <a:prstGeom prst="ellipse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7368" y="2980944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Insured commitments de-risk RI and Savings Plan management across the book.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4760" y="3730752"/>
            <a:ext cx="137160" cy="137160"/>
          </a:xfrm>
          <a:prstGeom prst="ellipse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27368" y="3584448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Premiums bill through AWS Marketplace CPPO with partner revenue share.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34760" y="4334256"/>
            <a:ext cx="137160" cy="137160"/>
          </a:xfrm>
          <a:prstGeom prst="ellipse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27368" y="4187952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down the customer's EDP or MACC commit — the mechanic Automatum already sells.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10912"/>
            <a:ext cx="11057839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7824" y="5010912"/>
            <a:ext cx="1043604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 angle. 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AWS's 2025 policy ends the sharing of Reserved Instances and Savings Plans across customers. Archera offers a compliant model plus a net-new revenue stream — directly relevant to any consolidated billing or managed accounts Automatum operates.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EVIDENCE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already works at this scale.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realised savings — actual bill reduction after Archera's premium — measured over a recent full month from live platform data, across five enterprises on three clouds.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~$20.2M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net savings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72536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1992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91992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the reservable base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144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7600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93–100%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97600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utilisation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83751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03207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clouds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203207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054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(BY VERTICAL)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0540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184648" y="305409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/ MO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784848" y="30540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722376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3383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infrastructure / DevOps SaaS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584448" y="3383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184648" y="33832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$1,098,000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84848" y="3383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404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analytics SaaS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584448" y="3840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84648" y="3840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$209,800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3840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2976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Vertical-market ERP SaaS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297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184648" y="42976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$164,600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784848" y="4297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7548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Building-materials distribution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584448" y="47548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184648" y="4754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$150,000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6784848" y="4754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2120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/ regulatory-compliance SaaS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584448" y="5212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184648" y="5212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784848" y="5212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138160" y="3054096"/>
            <a:ext cx="3486607" cy="2615184"/>
          </a:xfrm>
          <a:prstGeom prst="roundRect">
            <a:avLst>
              <a:gd name="adj" fmla="val 244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430768" y="3310128"/>
            <a:ext cx="290139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“Teams no longer have to worry about over-committing or being stuck on the wrong instance types. It's simplified our FinOps workflows tremendously.”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430768" y="4882896"/>
            <a:ext cx="290139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Gupta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AI Infrastructure, Floyo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Archera's customer reference pack, which is marked confidential — confirm clearance with Archera before circulating this deck outside Automatum. All savings are net of Archera's premium and achieved through rate optimisation only: no re-architecting and no workload migration. Anonymised by vertical; named enterprise references are available from Archera on request.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ACTIVATION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plugs in, and a 90-day plan.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53312"/>
            <a:ext cx="2641016" cy="1005840"/>
          </a:xfrm>
          <a:prstGeom prst="roundRect">
            <a:avLst>
              <a:gd name="adj" fmla="val 6364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755648"/>
            <a:ext cx="2165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FTR and Well-Architected inside the go-live window.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72536" y="1353312"/>
            <a:ext cx="2641016" cy="1005840"/>
          </a:xfrm>
          <a:prstGeom prst="roundRect">
            <a:avLst>
              <a:gd name="adj" fmla="val 6364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0280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10280" y="1755648"/>
            <a:ext cx="2165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Premiums billed through the same CPPO channel as the listing.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8144" y="1353312"/>
            <a:ext cx="2641016" cy="1005840"/>
          </a:xfrm>
          <a:prstGeom prst="roundRect">
            <a:avLst>
              <a:gd name="adj" fmla="val 6364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15888" y="1755648"/>
            <a:ext cx="2165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data gives AWS sellers a reason to engage the account.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83751" y="1353312"/>
            <a:ext cx="2641016" cy="1005840"/>
          </a:xfrm>
          <a:prstGeom prst="roundRect">
            <a:avLst>
              <a:gd name="adj" fmla="val 6364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1495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221495" y="1755648"/>
            <a:ext cx="2165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visibility, regression alerts and recurring premium revenue.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245059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install earns its keep at every stage of the motion Automatum already runs.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889504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09067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3108960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456432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and pilot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59536" y="4032504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33856" y="3895344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Archera from AWS Marketplace on two friendly ISV accounts.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" y="45994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3856" y="44622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 and baseline current commitment coverage.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9536" y="51663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33856" y="50292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one automated Well-Architected Review end to end.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07738" y="2889504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2058" y="309067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986" y="3108960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30–60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582058" y="3456432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600346" y="4032504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74666" y="3895344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the attach offer, with the savings number as the opening line.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00346" y="45994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74666" y="44622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rev-share model with Archera and align it to the CPPO channel.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00346" y="51663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74666" y="50292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the account team on the talk track and the qualifying question.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8549" y="2889504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22869" y="309067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889797" y="3108960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60–90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8322869" y="3456432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and co-sell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8341157" y="4032504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15477" y="3895344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the base by spend band, largest AWS bills first.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41157" y="45994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615477" y="44622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 with AWS and Archera on qualified accounts.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41157" y="51663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15477" y="50292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savings delivered, AWS funding unlocked, and new margin.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HONEST PART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this, and what to validate.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481328"/>
            <a:ext cx="10399471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workload is genuinely stable and the customer will run it for three years, they should buy the three-year commitment themselves and keep all 57%.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for the spend that genuinely cannot be committed — which, for a startup and scaleup base, is a great deal more of the bill than most teams would guess.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cover is off by default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to be switched on with Archera. A customer can hold release-only cover while believing they are rebate-protected.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 are not automatic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has to file the request — and for EC2, the RI Marketplace must be enabled on the account first.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8144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4176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premium economics per account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34176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is transparent, but the right term depends on expected utilisation. Run the numbers before recommending 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83751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9783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and billing ownership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239783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install, and the customer keeps full ownership and control of their AWS billing. Make that explicit in every engagement.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5138928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7824" y="5138928"/>
            <a:ext cx="1043604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disclosure. 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recommending this is paid on it — Archera, the partner, and us. We will still tell you when the right answer is the native three-year, because a customer who over-buys flexibility works out the maths eventually.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7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customers' AWS bills
</a:t>
            </a:r>
            <a:pPr indent="0" marL="0">
              <a:lnSpc>
                <a:spcPts val="47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reason to stay.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151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attached to a base that already exists. It automates the reviews Automatum's ISVs need to clear, produces savings on bills they already pay, and opens a recurring revenue line through the marketplace channel Automatum already runs — with almost no cost to introduce.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pilot ISVs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or AI-heavy AWS spend, and a relationship that will tolerate a first run.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07738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coverage baseline, at no cost and no commitment.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8549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2869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22869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rev-share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2869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terms with Archera and wire the premium to the CPPO channel.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527487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Only Best Practices · AWS Alliance Advisory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Putting Archera to work for Automatum</dc:title>
  <dc:subject>PptxGenJS Presentation</dc:subject>
  <dc:creator>Only Best Practices</dc:creator>
  <cp:lastModifiedBy>Only Best Practices</cp:lastModifiedBy>
  <cp:revision>1</cp:revision>
  <dcterms:created xsi:type="dcterms:W3CDTF">2026-08-27T04:29:09Z</dcterms:created>
  <dcterms:modified xsi:type="dcterms:W3CDTF">2026-08-27T04:29:09Z</dcterms:modified>
</cp:coreProperties>
</file>