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Positioning brief: how Automatum — a cloud-marketplace management platform serving 80+ ISVs on AWS, Azure, GCP and Red Hat — can put Archera to work. The lead motion is attach: Archera is free, it installs in minutes, and it produces savings on the AWS bills most of Automatum's customers already pay. Secondary motions are a self-funding subscription, FTR acceleration, cover for unforecastable AI spend, and rev-share on premiums through CPPO. Prepared as an alliance-advisory artifact.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only mechanic slide, and a reference sheet rather than a teaching slide. Three things to say out loud: the commitment sits in their payer account, so counterparty risk is limited to the guarantee rather than to the discount itself; Archera 1-year beats a native 1-year at identical lock-in, 42.75 against 36; and the 30-day rate is only 'worse' than a native 1-year for spend that could actually have taken a year. For a non-technical audience, the plain version is an annual subscription somebody else signs and carries for you.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Lead with attach and stay there — everything else is upside. The reason attach is credible here and not for a typical partner: Automatum already holds the billing relationship, already connects to customer accounts as part of listing work, and already reconciles the marketplace rails the premium bills over.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exit-path split is the expert detail on this slide: only EC2 Standard RIs have a resale route (the RI Marketplace, which must be enabled), so everything else — Savings Plans included — settles through the rebate guarantee. That answers the obvious objection that Savings Plans cannot be resold. Also worth saying: RDS, OpenSearch, ElastiCache and Redshift often carry as much reservable spend as EC2 in a SaaS estate.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slide that separates Automatum from a generic partner pitch: the rev-share plumbing most partners would have to build is the product Automatum already sells. The ESR bands are the evidence line — the median company under $500K of annual compute has captured nothing, and that is most of an ISV base. The sequencing slide later in the deck turns these same bands into a sales order.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 not defend the inputs — invite the audience to replace them. The point of the slide is that even the conservative column, at $10K a month of average AWS spend, produces a high-six-figure savings pool for the base (seven figures in the base case) and a six-figure revenue line for Automatum at the agreement's 20-30% tiers. If Automatum can pull actual spend data for even ten accounts, the base case tightens immediately.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Deliberately left open: we do not put Automatum's price on the slide, because we do not have it and guessing it would undermine everything else. Ask them to fill it in live. If a mid-tier subscription is anywhere below roughly $28K a year, the self-funding claim on the next section is arithmetic rather than marketing.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Signpost slide. If time is short, cover 01 and 02 properly and leave 03 to 05 as a read-ahead.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operational ask on Automatum is small: an install and a report. That is the argument for starting with attach rather than with rev-share — it proves value before anyone negotiates terms. The next two slides make this concrete: where it enters presales, and in what order to work the base.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operational claim of the whole deck: this fits inside conversations that are already on the calendar. The discovery row is the one to dwell on — a read-only billing connection granted during scoping produces the number every later stage runs on. Stage names here follow Automatum's published motion; confirm the real internal names before presenting.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argument for starting mid-band: the sub-$500K band is bigger but each win is small, and the $10M+ band is where a botched first conversation is most expensive. Two mid-band pilots produce the numbers that make both other bands easier. The three plays keep the motion from being one-size-fits-all without turning it into bespoke consulting.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retention argument as much as the sales one. Ask them directly: what does a renewal conversation look like when the customer can see a larger number coming back off their AWS bill than they pay you?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 not oversell this one. Archera automates the assessment, not the remediation — the ISV still has to fix what the review finds. The value is in removing the data-gathering slog and keeping the review current, which is where most FTRs actually stall.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For an AI-heavy ISV this is usually the opening use case rather than the fourth. If the room is full of AI-native customers, promote this slide ahead of use case 03.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Frame this as a per-account choice, not a one-time fork: refer on the accounts where Automatum wants no delivery role, resell where it already operates consolidated billing or wants the structural margin. The AWS 2025 policy ending cross-customer RI/SP sharing makes the resell question urgent for anyone running consolidated billing today.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point of this slide is that the plumbing is Automatum's home turf — CPPO, private offers, metering, disbursement reconciliation are the product they already operate. The terms panel now reflects the distributor agreement template: 20/25/30 tiers on marketplace net revenue, monthly, via the Partner Portal — and rev-share applies to net-new Archera customers only, which makes moving before Archera sells into the base directly worth real money. Still open: execution, starting tier, joint GTM plan.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Handle with care: the source deck is stamped confidential and do-not-distribute. The anonymised vertical-level figures are used here; the named GCP reference in that pack has been deliberately left out pending clearance. If Archera clears it, the named reference is a strong addition to this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enablement bar in the agreement: three people through Archera Sales Enablement and one through Technical Sales Enablement, both free, plus a twice-monthly pipeline cadence with Archera. Keep the pilot to two accounts. The single most useful output of days 0 to 30 is a real coverage baseline across those accounts, because it replaces every assumption on the sizing slide with a measured number.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 not skip this slide to save time. It is the one that makes the other eighteen credible, and the two operational gotchas — rebate cover being off by default, and buybacks needing a filed request — are exactly the kind of thing a partner is well placed to own on the customer's behalf.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the two-pilot ask, not on the rev-share. The rev-share is worth more over time, but the pilot is what turns every assumption in this deck into Automatum's own data — and it costs them an install and a report.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forwardable slide: everything load-bearing in one frame, for the CEO to send to their team without the deck. If only one slide survives the meeting, this is the one it should be.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506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3B4CC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66928" y="65836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19C6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ALLIANCE ADVISORY BRIEF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280160"/>
            <a:ext cx="72237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Putting Archera to work
</a:t>
            </a:r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5566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Automatum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2962656"/>
            <a:ext cx="6858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Guaranteed Commitments attached to the AWS estates of the 80+ ISVs Automatum already serves — inserted through the presales motion that already runs, with the premium metered through CPPO on the rails Automatum already reconciles.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66928" y="4315968"/>
            <a:ext cx="1439266" cy="384048"/>
          </a:xfrm>
          <a:prstGeom prst="roundRect">
            <a:avLst>
              <a:gd name="adj" fmla="val 23810"/>
            </a:avLst>
          </a:prstGeom>
          <a:solidFill>
            <a:srgbClr val="141A4F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66928" y="4315968"/>
            <a:ext cx="143926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60" kern="0" dirty="0">
                <a:solidFill>
                  <a:srgbClr val="C4CB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structure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152498" y="4315968"/>
            <a:ext cx="991210" cy="384048"/>
          </a:xfrm>
          <a:prstGeom prst="roundRect">
            <a:avLst>
              <a:gd name="adj" fmla="val 23810"/>
            </a:avLst>
          </a:prstGeom>
          <a:solidFill>
            <a:srgbClr val="141A4F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152498" y="4315968"/>
            <a:ext cx="99121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60" kern="0" dirty="0">
                <a:solidFill>
                  <a:srgbClr val="C4CB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80+ ISVs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290011" y="4315968"/>
            <a:ext cx="1618488" cy="384048"/>
          </a:xfrm>
          <a:prstGeom prst="roundRect">
            <a:avLst>
              <a:gd name="adj" fmla="val 23810"/>
            </a:avLst>
          </a:prstGeom>
          <a:solidFill>
            <a:srgbClr val="141A4F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290011" y="4315968"/>
            <a:ext cx="1618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60" kern="0" dirty="0">
                <a:solidFill>
                  <a:srgbClr val="C4CB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Presales attach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054803" y="4315968"/>
            <a:ext cx="1887322" cy="384048"/>
          </a:xfrm>
          <a:prstGeom prst="roundRect">
            <a:avLst>
              <a:gd name="adj" fmla="val 23810"/>
            </a:avLst>
          </a:prstGeom>
          <a:solidFill>
            <a:srgbClr val="141A4F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054803" y="4315968"/>
            <a:ext cx="188732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60" kern="0" dirty="0">
                <a:solidFill>
                  <a:srgbClr val="C4CB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Rev-share via CPPO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7818120" y="1298448"/>
            <a:ext cx="3803904" cy="841248"/>
          </a:xfrm>
          <a:prstGeom prst="roundRect">
            <a:avLst>
              <a:gd name="adj" fmla="val 7609"/>
            </a:avLst>
          </a:prstGeom>
          <a:solidFill>
            <a:srgbClr val="141A4F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074152" y="1426464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5566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 to 43%</a:t>
            </a:r>
            <a:endParaRPr lang="en-US" sz="2200" dirty="0"/>
          </a:p>
        </p:txBody>
      </p:sp>
      <p:sp>
        <p:nvSpPr>
          <p:cNvPr id="16" name="Text 14"/>
          <p:cNvSpPr txBox="1"/>
          <p:nvPr/>
        </p:nvSpPr>
        <p:spPr>
          <a:xfrm>
            <a:off x="8074152" y="1773936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AB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below on-demand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7818120" y="2304288"/>
            <a:ext cx="3803904" cy="841248"/>
          </a:xfrm>
          <a:prstGeom prst="roundRect">
            <a:avLst>
              <a:gd name="adj" fmla="val 7609"/>
            </a:avLst>
          </a:prstGeom>
          <a:solidFill>
            <a:srgbClr val="141A4F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074152" y="2432304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5566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95–100%</a:t>
            </a:r>
            <a:endParaRPr lang="en-US" sz="2200" dirty="0"/>
          </a:p>
        </p:txBody>
      </p:sp>
      <p:sp>
        <p:nvSpPr>
          <p:cNvPr id="19" name="Text 17"/>
          <p:cNvSpPr txBox="1"/>
          <p:nvPr/>
        </p:nvSpPr>
        <p:spPr>
          <a:xfrm>
            <a:off x="8074152" y="2779776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AB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commitment coverage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7818120" y="3310128"/>
            <a:ext cx="3803904" cy="841248"/>
          </a:xfrm>
          <a:prstGeom prst="roundRect">
            <a:avLst>
              <a:gd name="adj" fmla="val 7609"/>
            </a:avLst>
          </a:prstGeom>
          <a:solidFill>
            <a:srgbClr val="141A4F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074152" y="3438144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5566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30-day</a:t>
            </a:r>
            <a:endParaRPr lang="en-US" sz="2200" dirty="0"/>
          </a:p>
        </p:txBody>
      </p:sp>
      <p:sp>
        <p:nvSpPr>
          <p:cNvPr id="22" name="Text 20"/>
          <p:cNvSpPr txBox="1"/>
          <p:nvPr/>
        </p:nvSpPr>
        <p:spPr>
          <a:xfrm>
            <a:off x="8074152" y="3785616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AB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commitment terms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7818120" y="4315968"/>
            <a:ext cx="3803904" cy="841248"/>
          </a:xfrm>
          <a:prstGeom prst="roundRect">
            <a:avLst>
              <a:gd name="adj" fmla="val 7609"/>
            </a:avLst>
          </a:prstGeom>
          <a:solidFill>
            <a:srgbClr val="141A4F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8074152" y="4443984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5566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</a:t>
            </a:r>
            <a:endParaRPr lang="en-US" sz="2200" dirty="0"/>
          </a:p>
        </p:txBody>
      </p:sp>
      <p:sp>
        <p:nvSpPr>
          <p:cNvPr id="25" name="Text 23"/>
          <p:cNvSpPr txBox="1"/>
          <p:nvPr/>
        </p:nvSpPr>
        <p:spPr>
          <a:xfrm>
            <a:off x="8074152" y="4791456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AB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upfront cost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566928" y="61447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80" kern="0" dirty="0">
                <a:solidFill>
                  <a:srgbClr val="5B64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Prepared by Only Best Practices  ·  AWS Alliance Advisory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014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6576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60" kern="0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ONE  ·  THE STRUCTURE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58368"/>
            <a:ext cx="1105783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400"/>
              </a:lnSpc>
              <a:buNone/>
            </a:pPr>
            <a:r>
              <a:rPr lang="en-US" sz="3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Archera, in one slide.</a:t>
            </a:r>
            <a:endParaRPr lang="en-US" sz="31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298448"/>
            <a:ext cx="10789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native three-year RI or Savings Plan, bought into the customer's own payer account. Their obligation is 30 days or 12 months; Archera carries the balance and AWS bills them directly throughout. Archera calls these Guaranteed Commitments.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883664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8E9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UNDERLYING THREE-YEAR COMMITMENT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66928" y="2121408"/>
            <a:ext cx="11057839" cy="585216"/>
          </a:xfrm>
          <a:prstGeom prst="roundRect">
            <a:avLst>
              <a:gd name="adj" fmla="val 12500"/>
            </a:avLst>
          </a:prstGeom>
          <a:solidFill>
            <a:srgbClr val="1E2668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2121408"/>
            <a:ext cx="1920240" cy="585216"/>
          </a:xfrm>
          <a:prstGeom prst="roundRect">
            <a:avLst>
              <a:gd name="adj" fmla="val 12500"/>
            </a:avLst>
          </a:prstGeom>
          <a:solidFill>
            <a:srgbClr val="3B4CC0"/>
          </a:solidFill>
          <a:ln w="9525">
            <a:solidFill>
              <a:srgbClr val="5566D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66928" y="2121408"/>
            <a:ext cx="19202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days  ·  theirs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2779776" y="2121408"/>
            <a:ext cx="8497519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Archera carries months 2–36 — 30-day term shown. </a:t>
            </a:r>
            <a:pPr indent="0" marL="0">
              <a:buNone/>
            </a:pPr>
            <a:r>
              <a:rPr lang="en-US" sz="12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the 1-year, theirs through month 12.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566928" y="2761488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B64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0</a:t>
            </a:r>
            <a:endParaRPr lang="en-US" sz="850" dirty="0"/>
          </a:p>
        </p:txBody>
      </p:sp>
      <p:sp>
        <p:nvSpPr>
          <p:cNvPr id="11" name="Text 9"/>
          <p:cNvSpPr txBox="1"/>
          <p:nvPr/>
        </p:nvSpPr>
        <p:spPr>
          <a:xfrm>
            <a:off x="2121408" y="2761488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566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30</a:t>
            </a:r>
            <a:endParaRPr lang="en-US" sz="850" dirty="0"/>
          </a:p>
        </p:txBody>
      </p:sp>
      <p:sp>
        <p:nvSpPr>
          <p:cNvPr id="12" name="Text 10"/>
          <p:cNvSpPr txBox="1"/>
          <p:nvPr/>
        </p:nvSpPr>
        <p:spPr>
          <a:xfrm>
            <a:off x="5167274" y="2761488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B64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YR 1</a:t>
            </a:r>
            <a:endParaRPr lang="en-US" sz="850" dirty="0"/>
          </a:p>
        </p:txBody>
      </p:sp>
      <p:sp>
        <p:nvSpPr>
          <p:cNvPr id="13" name="Text 11"/>
          <p:cNvSpPr txBox="1"/>
          <p:nvPr/>
        </p:nvSpPr>
        <p:spPr>
          <a:xfrm>
            <a:off x="8213141" y="2761488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B64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YR 2</a:t>
            </a:r>
            <a:endParaRPr lang="en-US" sz="850" dirty="0"/>
          </a:p>
        </p:txBody>
      </p:sp>
      <p:sp>
        <p:nvSpPr>
          <p:cNvPr id="14" name="Text 12"/>
          <p:cNvSpPr txBox="1"/>
          <p:nvPr/>
        </p:nvSpPr>
        <p:spPr>
          <a:xfrm>
            <a:off x="10893247" y="2761488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B64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YR 3</a:t>
            </a:r>
            <a:endParaRPr lang="en-US" sz="850" dirty="0"/>
          </a:p>
        </p:txBody>
      </p:sp>
      <p:sp>
        <p:nvSpPr>
          <p:cNvPr id="15" name="Text 13"/>
          <p:cNvSpPr txBox="1"/>
          <p:nvPr/>
        </p:nvSpPr>
        <p:spPr>
          <a:xfrm>
            <a:off x="566928" y="3145536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8E9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EFFECTIVE SAVINGS RATE</a:t>
            </a:r>
            <a:endParaRPr lang="en-US" sz="850" dirty="0"/>
          </a:p>
        </p:txBody>
      </p:sp>
      <p:sp>
        <p:nvSpPr>
          <p:cNvPr id="16" name="Text 14"/>
          <p:cNvSpPr txBox="1"/>
          <p:nvPr/>
        </p:nvSpPr>
        <p:spPr>
          <a:xfrm>
            <a:off x="5550408" y="3145536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8E9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LOCKED FOR</a:t>
            </a:r>
            <a:endParaRPr lang="en-US" sz="850" dirty="0"/>
          </a:p>
        </p:txBody>
      </p:sp>
      <p:sp>
        <p:nvSpPr>
          <p:cNvPr id="17" name="Text 15"/>
          <p:cNvSpPr txBox="1"/>
          <p:nvPr/>
        </p:nvSpPr>
        <p:spPr>
          <a:xfrm>
            <a:off x="6766560" y="314553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8E9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EXIT?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566928" y="3364992"/>
            <a:ext cx="6949440" cy="10973"/>
          </a:xfrm>
          <a:prstGeom prst="rect">
            <a:avLst/>
          </a:prstGeom>
          <a:solidFill>
            <a:srgbClr val="3D4569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566928" y="3474720"/>
            <a:ext cx="1691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 as you go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2350008" y="3602736"/>
            <a:ext cx="1965960" cy="128016"/>
          </a:xfrm>
          <a:prstGeom prst="rect">
            <a:avLst/>
          </a:prstGeom>
          <a:solidFill>
            <a:srgbClr val="1E2668"/>
          </a:solidFill>
          <a:ln w="3175">
            <a:solidFill>
              <a:srgbClr val="1E2668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443984" y="3474720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0%</a:t>
            </a:r>
            <a:endParaRPr lang="en-US" sz="1150" dirty="0"/>
          </a:p>
        </p:txBody>
      </p:sp>
      <p:sp>
        <p:nvSpPr>
          <p:cNvPr id="22" name="Text 20"/>
          <p:cNvSpPr txBox="1"/>
          <p:nvPr/>
        </p:nvSpPr>
        <p:spPr>
          <a:xfrm>
            <a:off x="5550408" y="3474720"/>
            <a:ext cx="1143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AB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6766560" y="3474720"/>
            <a:ext cx="960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AB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566928" y="3931920"/>
            <a:ext cx="1691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Archera 30-day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350008" y="4059936"/>
            <a:ext cx="1965960" cy="128016"/>
          </a:xfrm>
          <a:prstGeom prst="rect">
            <a:avLst/>
          </a:prstGeom>
          <a:solidFill>
            <a:srgbClr val="1E2668"/>
          </a:solidFill>
          <a:ln w="3175">
            <a:solidFill>
              <a:srgbClr val="1E266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350008" y="4059936"/>
            <a:ext cx="982980" cy="128016"/>
          </a:xfrm>
          <a:prstGeom prst="rect">
            <a:avLst/>
          </a:prstGeom>
          <a:solidFill>
            <a:srgbClr val="0E93AE"/>
          </a:solidFill>
          <a:ln w="3175">
            <a:solidFill>
              <a:srgbClr val="0E93AE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4443984" y="3931920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0E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28.5%</a:t>
            </a:r>
            <a:endParaRPr lang="en-US" sz="1150" dirty="0"/>
          </a:p>
        </p:txBody>
      </p:sp>
      <p:sp>
        <p:nvSpPr>
          <p:cNvPr id="28" name="Text 26"/>
          <p:cNvSpPr txBox="1"/>
          <p:nvPr/>
        </p:nvSpPr>
        <p:spPr>
          <a:xfrm>
            <a:off x="5550408" y="3931920"/>
            <a:ext cx="1143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AB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days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6766560" y="3931920"/>
            <a:ext cx="960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C6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566928" y="4389120"/>
            <a:ext cx="1691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 1-year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2350008" y="4517136"/>
            <a:ext cx="1965960" cy="128016"/>
          </a:xfrm>
          <a:prstGeom prst="rect">
            <a:avLst/>
          </a:prstGeom>
          <a:solidFill>
            <a:srgbClr val="1E2668"/>
          </a:solidFill>
          <a:ln w="3175">
            <a:solidFill>
              <a:srgbClr val="1E2668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350008" y="4517136"/>
            <a:ext cx="1241659" cy="128016"/>
          </a:xfrm>
          <a:prstGeom prst="rect">
            <a:avLst/>
          </a:prstGeom>
          <a:solidFill>
            <a:srgbClr val="5B6486"/>
          </a:solidFill>
          <a:ln w="3175">
            <a:solidFill>
              <a:srgbClr val="5B6486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4443984" y="4389120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36%</a:t>
            </a:r>
            <a:endParaRPr lang="en-US" sz="1150" dirty="0"/>
          </a:p>
        </p:txBody>
      </p:sp>
      <p:sp>
        <p:nvSpPr>
          <p:cNvPr id="34" name="Text 32"/>
          <p:cNvSpPr txBox="1"/>
          <p:nvPr/>
        </p:nvSpPr>
        <p:spPr>
          <a:xfrm>
            <a:off x="5550408" y="4389120"/>
            <a:ext cx="1143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AB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year</a:t>
            </a:r>
            <a:endParaRPr lang="en-US" sz="1100" dirty="0"/>
          </a:p>
        </p:txBody>
      </p:sp>
      <p:sp>
        <p:nvSpPr>
          <p:cNvPr id="35" name="Text 33"/>
          <p:cNvSpPr txBox="1"/>
          <p:nvPr/>
        </p:nvSpPr>
        <p:spPr>
          <a:xfrm>
            <a:off x="6766560" y="4389120"/>
            <a:ext cx="960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AB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</a:t>
            </a:r>
            <a:endParaRPr lang="en-US" sz="1100" dirty="0"/>
          </a:p>
        </p:txBody>
      </p:sp>
      <p:sp>
        <p:nvSpPr>
          <p:cNvPr id="36" name="Text 34"/>
          <p:cNvSpPr txBox="1"/>
          <p:nvPr/>
        </p:nvSpPr>
        <p:spPr>
          <a:xfrm>
            <a:off x="566928" y="4846320"/>
            <a:ext cx="1691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Archera 1-year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350008" y="4974336"/>
            <a:ext cx="1965960" cy="128016"/>
          </a:xfrm>
          <a:prstGeom prst="rect">
            <a:avLst/>
          </a:prstGeom>
          <a:solidFill>
            <a:srgbClr val="1E2668"/>
          </a:solidFill>
          <a:ln w="3175">
            <a:solidFill>
              <a:srgbClr val="1E2668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2350008" y="4974336"/>
            <a:ext cx="1474470" cy="128016"/>
          </a:xfrm>
          <a:prstGeom prst="rect">
            <a:avLst/>
          </a:prstGeom>
          <a:solidFill>
            <a:srgbClr val="5566D8"/>
          </a:solidFill>
          <a:ln w="3175">
            <a:solidFill>
              <a:srgbClr val="5566D8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4443984" y="4846320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5566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42.75%</a:t>
            </a:r>
            <a:endParaRPr lang="en-US" sz="1150" dirty="0"/>
          </a:p>
        </p:txBody>
      </p:sp>
      <p:sp>
        <p:nvSpPr>
          <p:cNvPr id="40" name="Text 38"/>
          <p:cNvSpPr txBox="1"/>
          <p:nvPr/>
        </p:nvSpPr>
        <p:spPr>
          <a:xfrm>
            <a:off x="5550408" y="4846320"/>
            <a:ext cx="1143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AB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year</a:t>
            </a:r>
            <a:endParaRPr lang="en-US" sz="1100" dirty="0"/>
          </a:p>
        </p:txBody>
      </p:sp>
      <p:sp>
        <p:nvSpPr>
          <p:cNvPr id="41" name="Text 39"/>
          <p:cNvSpPr txBox="1"/>
          <p:nvPr/>
        </p:nvSpPr>
        <p:spPr>
          <a:xfrm>
            <a:off x="6766560" y="4846320"/>
            <a:ext cx="960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C6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</a:t>
            </a:r>
            <a:endParaRPr lang="en-US" sz="1100" dirty="0"/>
          </a:p>
        </p:txBody>
      </p:sp>
      <p:sp>
        <p:nvSpPr>
          <p:cNvPr id="42" name="Text 40"/>
          <p:cNvSpPr txBox="1"/>
          <p:nvPr/>
        </p:nvSpPr>
        <p:spPr>
          <a:xfrm>
            <a:off x="566928" y="5303520"/>
            <a:ext cx="1691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 3-year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2350008" y="5431536"/>
            <a:ext cx="1965960" cy="128016"/>
          </a:xfrm>
          <a:prstGeom prst="rect">
            <a:avLst/>
          </a:prstGeom>
          <a:solidFill>
            <a:srgbClr val="1E2668"/>
          </a:solidFill>
          <a:ln w="3175">
            <a:solidFill>
              <a:srgbClr val="1E2668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2350008" y="5431536"/>
            <a:ext cx="1965960" cy="128016"/>
          </a:xfrm>
          <a:prstGeom prst="rect">
            <a:avLst/>
          </a:prstGeom>
          <a:solidFill>
            <a:srgbClr val="8E96C8"/>
          </a:solidFill>
          <a:ln w="3175">
            <a:solidFill>
              <a:srgbClr val="8E96C8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4443984" y="5303520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8E9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57%</a:t>
            </a:r>
            <a:endParaRPr lang="en-US" sz="1150" dirty="0"/>
          </a:p>
        </p:txBody>
      </p:sp>
      <p:sp>
        <p:nvSpPr>
          <p:cNvPr id="46" name="Text 44"/>
          <p:cNvSpPr txBox="1"/>
          <p:nvPr/>
        </p:nvSpPr>
        <p:spPr>
          <a:xfrm>
            <a:off x="5550408" y="5303520"/>
            <a:ext cx="1143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AB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years</a:t>
            </a:r>
            <a:endParaRPr lang="en-US" sz="1100" dirty="0"/>
          </a:p>
        </p:txBody>
      </p:sp>
      <p:sp>
        <p:nvSpPr>
          <p:cNvPr id="47" name="Text 45"/>
          <p:cNvSpPr txBox="1"/>
          <p:nvPr/>
        </p:nvSpPr>
        <p:spPr>
          <a:xfrm>
            <a:off x="6766560" y="5303520"/>
            <a:ext cx="960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AB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</a:t>
            </a:r>
            <a:endParaRPr lang="en-US" sz="1100" dirty="0"/>
          </a:p>
        </p:txBody>
      </p:sp>
      <p:sp>
        <p:nvSpPr>
          <p:cNvPr id="48" name="Text 46"/>
          <p:cNvSpPr txBox="1"/>
          <p:nvPr/>
        </p:nvSpPr>
        <p:spPr>
          <a:xfrm>
            <a:off x="566928" y="5760720"/>
            <a:ext cx="71140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Fee: </a:t>
            </a:r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50% of the created saving on the 30-day, 25% on the 1-year. No savings, no fee.</a:t>
            </a:r>
            <a:endParaRPr lang="en-US" sz="1100" dirty="0"/>
          </a:p>
        </p:txBody>
      </p:sp>
      <p:sp>
        <p:nvSpPr>
          <p:cNvPr id="49" name="Text 47"/>
          <p:cNvSpPr txBox="1"/>
          <p:nvPr/>
        </p:nvSpPr>
        <p:spPr>
          <a:xfrm>
            <a:off x="7863840" y="3145536"/>
            <a:ext cx="376092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8E9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SETTLEMENT PATHS</a:t>
            </a:r>
            <a:endParaRPr lang="en-US" sz="850" dirty="0"/>
          </a:p>
        </p:txBody>
      </p:sp>
      <p:sp>
        <p:nvSpPr>
          <p:cNvPr id="50" name="Shape 48"/>
          <p:cNvSpPr/>
          <p:nvPr/>
        </p:nvSpPr>
        <p:spPr>
          <a:xfrm>
            <a:off x="7863840" y="3401568"/>
            <a:ext cx="3760927" cy="1207008"/>
          </a:xfrm>
          <a:prstGeom prst="roundRect">
            <a:avLst>
              <a:gd name="adj" fmla="val 5303"/>
            </a:avLst>
          </a:prstGeom>
          <a:solidFill>
            <a:srgbClr val="19205C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8101584" y="3529584"/>
            <a:ext cx="32854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19C6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 GUARANTEE</a:t>
            </a:r>
            <a:endParaRPr lang="en-US" sz="850" dirty="0"/>
          </a:p>
        </p:txBody>
      </p:sp>
      <p:sp>
        <p:nvSpPr>
          <p:cNvPr id="52" name="Text 50"/>
          <p:cNvSpPr txBox="1"/>
          <p:nvPr/>
        </p:nvSpPr>
        <p:spPr>
          <a:xfrm>
            <a:off x="8101584" y="3730752"/>
            <a:ext cx="32854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exit.</a:t>
            </a:r>
            <a:endParaRPr lang="en-US" sz="1250" dirty="0"/>
          </a:p>
        </p:txBody>
      </p:sp>
      <p:sp>
        <p:nvSpPr>
          <p:cNvPr id="53" name="Text 51"/>
          <p:cNvSpPr txBox="1"/>
          <p:nvPr/>
        </p:nvSpPr>
        <p:spPr>
          <a:xfrm>
            <a:off x="8101584" y="3986784"/>
            <a:ext cx="32854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Archera buys the commitment back, on terms as short as 30 days. Applies to select AWS commitments — covered services on slide 4.</a:t>
            </a:r>
            <a:endParaRPr lang="en-US" sz="1000" dirty="0"/>
          </a:p>
        </p:txBody>
      </p:sp>
      <p:sp>
        <p:nvSpPr>
          <p:cNvPr id="54" name="Shape 52"/>
          <p:cNvSpPr/>
          <p:nvPr/>
        </p:nvSpPr>
        <p:spPr>
          <a:xfrm>
            <a:off x="7863840" y="4718304"/>
            <a:ext cx="3760927" cy="1207008"/>
          </a:xfrm>
          <a:prstGeom prst="roundRect">
            <a:avLst>
              <a:gd name="adj" fmla="val 5303"/>
            </a:avLst>
          </a:prstGeom>
          <a:solidFill>
            <a:srgbClr val="19205C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8101584" y="4846320"/>
            <a:ext cx="32854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REBATE GUARANTEE</a:t>
            </a:r>
            <a:endParaRPr lang="en-US" sz="850" dirty="0"/>
          </a:p>
        </p:txBody>
      </p:sp>
      <p:sp>
        <p:nvSpPr>
          <p:cNvPr id="56" name="Text 54"/>
          <p:cNvSpPr txBox="1"/>
          <p:nvPr/>
        </p:nvSpPr>
        <p:spPr>
          <a:xfrm>
            <a:off x="8101584" y="5047488"/>
            <a:ext cx="32854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stay, and get paid back.</a:t>
            </a:r>
            <a:endParaRPr lang="en-US" sz="1250" dirty="0"/>
          </a:p>
        </p:txBody>
      </p:sp>
      <p:sp>
        <p:nvSpPr>
          <p:cNvPr id="57" name="Text 55"/>
          <p:cNvSpPr txBox="1"/>
          <p:nvPr/>
        </p:nvSpPr>
        <p:spPr>
          <a:xfrm>
            <a:off x="8101584" y="5303520"/>
            <a:ext cx="32854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losses on what went unused, reimbursed in cash by ACH rather than credits. Broader coverage — and off by default.</a:t>
            </a:r>
            <a:endParaRPr lang="en-US" sz="1000" dirty="0"/>
          </a:p>
        </p:txBody>
      </p:sp>
      <p:sp>
        <p:nvSpPr>
          <p:cNvPr id="58" name="Text 56"/>
          <p:cNvSpPr txBox="1"/>
          <p:nvPr/>
        </p:nvSpPr>
        <p:spPr>
          <a:xfrm>
            <a:off x="566928" y="6053328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i="1" dirty="0">
                <a:solidFill>
                  <a:srgbClr val="5B64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sells no commitment shorter than one year, at any price.</a:t>
            </a:r>
            <a:endParaRPr lang="en-US" sz="850" dirty="0"/>
          </a:p>
        </p:txBody>
      </p:sp>
      <p:sp>
        <p:nvSpPr>
          <p:cNvPr id="59" name="Text 57"/>
          <p:cNvSpPr txBox="1"/>
          <p:nvPr/>
        </p:nvSpPr>
        <p:spPr>
          <a:xfrm>
            <a:off x="566928" y="634593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5B64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Archera  ×  Automatum</a:t>
            </a:r>
            <a:endParaRPr lang="en-US" sz="900" dirty="0"/>
          </a:p>
        </p:txBody>
      </p:sp>
      <p:sp>
        <p:nvSpPr>
          <p:cNvPr id="60" name="Text 58"/>
          <p:cNvSpPr txBox="1"/>
          <p:nvPr/>
        </p:nvSpPr>
        <p:spPr>
          <a:xfrm>
            <a:off x="10527487" y="634593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1A4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6576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60" kern="0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TWO  ·  THE CASE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58368"/>
            <a:ext cx="1105783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400"/>
              </a:lnSpc>
              <a:buNone/>
            </a:pPr>
            <a:r>
              <a:rPr lang="en-US" sz="3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free platform, four ways to win.</a:t>
            </a:r>
            <a:endParaRPr lang="en-US" sz="31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335024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Archera is a free, multicloud commitment-management platform. For Automatum it attaches to a base that already exists: 80+ ISVs, most with AWS estates — and at the measured 55% median commitment coverage, most of that spend sits uncovered (AWS share of the base to confirm). The premium bills through the AWS Marketplace channel Automatum already operates.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66928" y="2432304"/>
            <a:ext cx="2641016" cy="2724912"/>
          </a:xfrm>
          <a:prstGeom prst="roundRect">
            <a:avLst>
              <a:gd name="adj" fmla="val 2424"/>
            </a:avLst>
          </a:prstGeom>
          <a:solidFill>
            <a:srgbClr val="19205C"/>
          </a:solidFill>
          <a:ln w="15875">
            <a:solidFill>
              <a:srgbClr val="3B4CC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2651760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rgbClr val="5566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3054096"/>
            <a:ext cx="2128952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Attach through presales, to the base you already have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4005072"/>
            <a:ext cx="2128952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50"/>
              </a:lnSpc>
              <a:buNone/>
            </a:pPr>
            <a:r>
              <a:rPr lang="en-US" sz="110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free savings analysis rides discovery, coverage lands at go-live, and the QBR gets a value agenda. No new pipeline to build.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372536" y="2432304"/>
            <a:ext cx="2641016" cy="2724912"/>
          </a:xfrm>
          <a:prstGeom prst="roundRect">
            <a:avLst>
              <a:gd name="adj" fmla="val 2424"/>
            </a:avLst>
          </a:prstGeom>
          <a:solidFill>
            <a:srgbClr val="19205C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628568" y="2651760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rgbClr val="8E9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3628568" y="3054096"/>
            <a:ext cx="2128952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the subscription self-funding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3628568" y="4005072"/>
            <a:ext cx="2128952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50"/>
              </a:lnSpc>
              <a:buNone/>
            </a:pPr>
            <a:r>
              <a:rPr lang="en-US" sz="110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customer's AWS saving can cover what they pay Automatum — turning a cost line into one that argues for itself.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178144" y="2432304"/>
            <a:ext cx="2641016" cy="2724912"/>
          </a:xfrm>
          <a:prstGeom prst="roundRect">
            <a:avLst>
              <a:gd name="adj" fmla="val 2424"/>
            </a:avLst>
          </a:prstGeom>
          <a:solidFill>
            <a:srgbClr val="19205C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434176" y="2651760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rgbClr val="8E9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6434176" y="3054096"/>
            <a:ext cx="2128952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 the FTR gate faster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434176" y="4005072"/>
            <a:ext cx="2128952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50"/>
              </a:lnSpc>
              <a:buNone/>
            </a:pPr>
            <a:r>
              <a:rPr lang="en-US" sz="110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Well-Architected Reviews, Lenses and the Foundational Technical Review, written back to the AWS Well-Architected Tool.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8983751" y="2432304"/>
            <a:ext cx="2641016" cy="2724912"/>
          </a:xfrm>
          <a:prstGeom prst="roundRect">
            <a:avLst>
              <a:gd name="adj" fmla="val 2424"/>
            </a:avLst>
          </a:prstGeom>
          <a:solidFill>
            <a:srgbClr val="19205C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239783" y="2651760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rgbClr val="8E9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9239783" y="3054096"/>
            <a:ext cx="2128952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a recurring revenue line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9239783" y="4005072"/>
            <a:ext cx="2128952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50"/>
              </a:lnSpc>
              <a:buNone/>
            </a:pPr>
            <a:r>
              <a:rPr lang="en-US" sz="110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20–30% tiered revenue share on premiums, through the CPPO channel Automatum already runs.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566928" y="5340096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first one is the point. </a:t>
            </a:r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other three compound on top of it — and part four runs them as five motions, starting with the attach, which works on day one. One clock to respect: rev-share counts only entities net-new to Archera.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566928" y="634593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5B64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Archera  ×  Automatum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10527487" y="634593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014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6576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60" kern="0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TWO  ·  THE CASE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58368"/>
            <a:ext cx="1105783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400"/>
              </a:lnSpc>
              <a:buNone/>
            </a:pPr>
            <a:r>
              <a:rPr lang="en-US" sz="3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Archera is.</a:t>
            </a:r>
            <a:endParaRPr lang="en-US" sz="31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335024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free procurement and commitment-management layer that helps AWS teams forecast, optimise and insure their commitments — then keep the savings.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66928" y="2084832"/>
            <a:ext cx="3712464" cy="1316736"/>
          </a:xfrm>
          <a:prstGeom prst="roundRect">
            <a:avLst>
              <a:gd name="adj" fmla="val 4861"/>
            </a:avLst>
          </a:prstGeom>
          <a:solidFill>
            <a:srgbClr val="19205C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2267712"/>
            <a:ext cx="32004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Commitment &amp; FinOps management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798064"/>
            <a:ext cx="32004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 RI and Savings Plan purchasing, and maximise private-pricing coverage.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443984" y="2084832"/>
            <a:ext cx="3712464" cy="1316736"/>
          </a:xfrm>
          <a:prstGeom prst="roundRect">
            <a:avLst>
              <a:gd name="adj" fmla="val 4861"/>
            </a:avLst>
          </a:prstGeom>
          <a:solidFill>
            <a:srgbClr val="19205C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700016" y="2267712"/>
            <a:ext cx="32004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Guaranteed Commitments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4700016" y="2798064"/>
            <a:ext cx="32004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Contractual, reinsurance-backed alternatives to native terms — commit without over-commitment risk.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66928" y="3566160"/>
            <a:ext cx="3712464" cy="1316736"/>
          </a:xfrm>
          <a:prstGeom prst="roundRect">
            <a:avLst>
              <a:gd name="adj" fmla="val 4861"/>
            </a:avLst>
          </a:prstGeom>
          <a:solidFill>
            <a:srgbClr val="19205C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22960" y="3749040"/>
            <a:ext cx="32004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assessments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822960" y="4279392"/>
            <a:ext cx="32004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WAFR, industry and technology Lenses, and the FTR.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443984" y="3566160"/>
            <a:ext cx="3712464" cy="1316736"/>
          </a:xfrm>
          <a:prstGeom prst="roundRect">
            <a:avLst>
              <a:gd name="adj" fmla="val 4861"/>
            </a:avLst>
          </a:prstGeom>
          <a:solidFill>
            <a:srgbClr val="19205C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700016" y="3749040"/>
            <a:ext cx="32004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Visibility &amp; custom BI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4700016" y="4279392"/>
            <a:ext cx="32004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Blend business and cloud-cost data into drill-down dashboards and forecasts.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8412480" y="2084832"/>
            <a:ext cx="321228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8E9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COVERAGE, BY EXIT PATH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8412480" y="2340864"/>
            <a:ext cx="3212287" cy="1207008"/>
          </a:xfrm>
          <a:prstGeom prst="roundRect">
            <a:avLst>
              <a:gd name="adj" fmla="val 5303"/>
            </a:avLst>
          </a:prstGeom>
          <a:solidFill>
            <a:srgbClr val="19205C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631936" y="2505456"/>
            <a:ext cx="277337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19C6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 PATH · RESALE EXISTS</a:t>
            </a:r>
            <a:endParaRPr lang="en-US" sz="850" dirty="0"/>
          </a:p>
        </p:txBody>
      </p:sp>
      <p:sp>
        <p:nvSpPr>
          <p:cNvPr id="20" name="Text 18"/>
          <p:cNvSpPr txBox="1"/>
          <p:nvPr/>
        </p:nvSpPr>
        <p:spPr>
          <a:xfrm>
            <a:off x="8631936" y="2724912"/>
            <a:ext cx="2773375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EC2 Standard RIs — resellable on the RI Marketplace, which must be enabled on the account before a buyback can execute.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8412480" y="3675888"/>
            <a:ext cx="3212287" cy="1627632"/>
          </a:xfrm>
          <a:prstGeom prst="roundRect">
            <a:avLst>
              <a:gd name="adj" fmla="val 3933"/>
            </a:avLst>
          </a:prstGeom>
          <a:solidFill>
            <a:srgbClr val="19205C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8631936" y="3840480"/>
            <a:ext cx="277337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REBATE PATH · NO RESALE</a:t>
            </a:r>
            <a:endParaRPr lang="en-US" sz="850" dirty="0"/>
          </a:p>
        </p:txBody>
      </p:sp>
      <p:sp>
        <p:nvSpPr>
          <p:cNvPr id="23" name="Text 21"/>
          <p:cNvSpPr txBox="1"/>
          <p:nvPr/>
        </p:nvSpPr>
        <p:spPr>
          <a:xfrm>
            <a:off x="8631936" y="4059936"/>
            <a:ext cx="277337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 Savings Plans (EC2, Lambda, Fargate) and the reserved instances, nodes and capacity behind RDS, ElastiCache, OpenSearch, Redshift and DynamoDB. No resale route — the rebate guarantee covers them, off by default.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412480" y="5431536"/>
            <a:ext cx="3212287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i="1" dirty="0">
                <a:solidFill>
                  <a:srgbClr val="AAB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split is why the release guarantee applies to select commitments while the rebate guarantee is the broader of the two. Mapping inferred from AWS resale rules — confirm the covered list with Archera.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566928" y="5276088"/>
            <a:ext cx="146304" cy="146304"/>
          </a:xfrm>
          <a:prstGeom prst="ellipse">
            <a:avLst/>
          </a:prstGeom>
          <a:solidFill>
            <a:srgbClr val="19C6E6"/>
          </a:solidFill>
          <a:ln w="3175">
            <a:solidFill>
              <a:srgbClr val="19C6E6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841248" y="5138928"/>
            <a:ext cx="33558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platform itself is 100% free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4361688" y="5276088"/>
            <a:ext cx="146304" cy="146304"/>
          </a:xfrm>
          <a:prstGeom prst="ellipse">
            <a:avLst/>
          </a:prstGeom>
          <a:solidFill>
            <a:srgbClr val="19C6E6"/>
          </a:solidFill>
          <a:ln w="3175">
            <a:solidFill>
              <a:srgbClr val="19C6E6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4636008" y="5138928"/>
            <a:ext cx="33558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Customers keep full ownership of their AWS billing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566928" y="5788152"/>
            <a:ext cx="146304" cy="146304"/>
          </a:xfrm>
          <a:prstGeom prst="ellipse">
            <a:avLst/>
          </a:prstGeom>
          <a:solidFill>
            <a:srgbClr val="19C6E6"/>
          </a:solidFill>
          <a:ln w="3175">
            <a:solidFill>
              <a:srgbClr val="19C6E6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841248" y="5650992"/>
            <a:ext cx="33558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Minimal-privilege install from AWS Marketplace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4361688" y="5788152"/>
            <a:ext cx="146304" cy="146304"/>
          </a:xfrm>
          <a:prstGeom prst="ellipse">
            <a:avLst/>
          </a:prstGeom>
          <a:solidFill>
            <a:srgbClr val="19C6E6"/>
          </a:solidFill>
          <a:ln w="3175">
            <a:solidFill>
              <a:srgbClr val="19C6E6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4636008" y="5650992"/>
            <a:ext cx="33558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 across AWS, Azure and Google Cloud</a:t>
            </a:r>
            <a:endParaRPr lang="en-US" sz="1150" dirty="0"/>
          </a:p>
        </p:txBody>
      </p:sp>
      <p:sp>
        <p:nvSpPr>
          <p:cNvPr id="33" name="Text 31"/>
          <p:cNvSpPr txBox="1"/>
          <p:nvPr/>
        </p:nvSpPr>
        <p:spPr>
          <a:xfrm>
            <a:off x="566928" y="634593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5B64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Archera  ×  Automatum</a:t>
            </a:r>
            <a:endParaRPr lang="en-US" sz="900" dirty="0"/>
          </a:p>
        </p:txBody>
      </p:sp>
      <p:sp>
        <p:nvSpPr>
          <p:cNvPr id="34" name="Text 32"/>
          <p:cNvSpPr txBox="1"/>
          <p:nvPr/>
        </p:nvSpPr>
        <p:spPr>
          <a:xfrm>
            <a:off x="10527487" y="634593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014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6576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60" kern="0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TWO  ·  THE CASE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58368"/>
            <a:ext cx="1105783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400"/>
              </a:lnSpc>
              <a:buNone/>
            </a:pPr>
            <a:r>
              <a:rPr lang="en-US" sz="3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fits Automatum.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566928" y="1371600"/>
            <a:ext cx="1766773" cy="896112"/>
          </a:xfrm>
          <a:prstGeom prst="roundRect">
            <a:avLst>
              <a:gd name="adj" fmla="val 7143"/>
            </a:avLst>
          </a:prstGeom>
          <a:solidFill>
            <a:srgbClr val="1E2668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81328"/>
            <a:ext cx="147416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5566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80+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658368" y="1865376"/>
            <a:ext cx="1583893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AB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ISVs live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2425141" y="1371600"/>
            <a:ext cx="1766773" cy="896112"/>
          </a:xfrm>
          <a:prstGeom prst="roundRect">
            <a:avLst>
              <a:gd name="adj" fmla="val 7143"/>
            </a:avLst>
          </a:prstGeom>
          <a:solidFill>
            <a:srgbClr val="1E2668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571445" y="1481328"/>
            <a:ext cx="147416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5566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$120M+</a:t>
            </a:r>
            <a:endParaRPr lang="en-US" sz="1900" dirty="0"/>
          </a:p>
        </p:txBody>
      </p:sp>
      <p:sp>
        <p:nvSpPr>
          <p:cNvPr id="9" name="Text 7"/>
          <p:cNvSpPr txBox="1"/>
          <p:nvPr/>
        </p:nvSpPr>
        <p:spPr>
          <a:xfrm>
            <a:off x="2516581" y="1865376"/>
            <a:ext cx="1583893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AB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marketplace GMV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283354" y="1371600"/>
            <a:ext cx="1766773" cy="896112"/>
          </a:xfrm>
          <a:prstGeom prst="roundRect">
            <a:avLst>
              <a:gd name="adj" fmla="val 7143"/>
            </a:avLst>
          </a:prstGeom>
          <a:solidFill>
            <a:srgbClr val="1E2668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429658" y="1481328"/>
            <a:ext cx="147416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5566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2021</a:t>
            </a:r>
            <a:endParaRPr lang="en-US" sz="1900" dirty="0"/>
          </a:p>
        </p:txBody>
      </p:sp>
      <p:sp>
        <p:nvSpPr>
          <p:cNvPr id="12" name="Text 10"/>
          <p:cNvSpPr txBox="1"/>
          <p:nvPr/>
        </p:nvSpPr>
        <p:spPr>
          <a:xfrm>
            <a:off x="4374794" y="1865376"/>
            <a:ext cx="1583893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AB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operating since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141568" y="1371600"/>
            <a:ext cx="1766773" cy="896112"/>
          </a:xfrm>
          <a:prstGeom prst="roundRect">
            <a:avLst>
              <a:gd name="adj" fmla="val 7143"/>
            </a:avLst>
          </a:prstGeom>
          <a:solidFill>
            <a:srgbClr val="1E2668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287872" y="1481328"/>
            <a:ext cx="147416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5566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900" dirty="0"/>
          </a:p>
        </p:txBody>
      </p:sp>
      <p:sp>
        <p:nvSpPr>
          <p:cNvPr id="15" name="Text 13"/>
          <p:cNvSpPr txBox="1"/>
          <p:nvPr/>
        </p:nvSpPr>
        <p:spPr>
          <a:xfrm>
            <a:off x="6233008" y="1865376"/>
            <a:ext cx="1583893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AB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marketplaces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7999781" y="1371600"/>
            <a:ext cx="1766773" cy="896112"/>
          </a:xfrm>
          <a:prstGeom prst="roundRect">
            <a:avLst>
              <a:gd name="adj" fmla="val 7143"/>
            </a:avLst>
          </a:prstGeom>
          <a:solidFill>
            <a:srgbClr val="1E2668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146085" y="1481328"/>
            <a:ext cx="147416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5566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~14 days</a:t>
            </a:r>
            <a:endParaRPr lang="en-US" sz="1900" dirty="0"/>
          </a:p>
        </p:txBody>
      </p:sp>
      <p:sp>
        <p:nvSpPr>
          <p:cNvPr id="18" name="Text 16"/>
          <p:cNvSpPr txBox="1"/>
          <p:nvPr/>
        </p:nvSpPr>
        <p:spPr>
          <a:xfrm>
            <a:off x="8091221" y="1865376"/>
            <a:ext cx="1583893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AB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first listing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9857994" y="1371600"/>
            <a:ext cx="1766773" cy="896112"/>
          </a:xfrm>
          <a:prstGeom prst="roundRect">
            <a:avLst>
              <a:gd name="adj" fmla="val 7143"/>
            </a:avLst>
          </a:prstGeom>
          <a:solidFill>
            <a:srgbClr val="1E2668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10004298" y="1481328"/>
            <a:ext cx="147416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5566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CPPO</a:t>
            </a:r>
            <a:endParaRPr lang="en-US" sz="1900" dirty="0"/>
          </a:p>
        </p:txBody>
      </p:sp>
      <p:sp>
        <p:nvSpPr>
          <p:cNvPr id="21" name="Text 19"/>
          <p:cNvSpPr txBox="1"/>
          <p:nvPr/>
        </p:nvSpPr>
        <p:spPr>
          <a:xfrm>
            <a:off x="9949434" y="1865376"/>
            <a:ext cx="1583893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AB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channel in place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566928" y="2450592"/>
            <a:ext cx="3576218" cy="2212848"/>
          </a:xfrm>
          <a:prstGeom prst="roundRect">
            <a:avLst>
              <a:gd name="adj" fmla="val 2893"/>
            </a:avLst>
          </a:prstGeom>
          <a:solidFill>
            <a:srgbClr val="19205C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41248" y="2724912"/>
            <a:ext cx="384048" cy="45720"/>
          </a:xfrm>
          <a:prstGeom prst="rect">
            <a:avLst/>
          </a:prstGeom>
          <a:solidFill>
            <a:srgbClr val="3B4CC0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841248" y="2907792"/>
            <a:ext cx="302757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already hold the relationship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841248" y="3639312"/>
            <a:ext cx="3027578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new logo and no new contract vehicle. This is an offer to customers Automatum already bills every month, through a conversation that is already scheduled.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4307738" y="2450592"/>
            <a:ext cx="3576218" cy="2212848"/>
          </a:xfrm>
          <a:prstGeom prst="roundRect">
            <a:avLst>
              <a:gd name="adj" fmla="val 2893"/>
            </a:avLst>
          </a:prstGeom>
          <a:solidFill>
            <a:srgbClr val="19205C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582058" y="2724912"/>
            <a:ext cx="384048" cy="45720"/>
          </a:xfrm>
          <a:prstGeom prst="rect">
            <a:avLst/>
          </a:prstGeom>
          <a:solidFill>
            <a:srgbClr val="0E93AE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4582058" y="2907792"/>
            <a:ext cx="302757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already run the plumbing</a:t>
            </a:r>
            <a:endParaRPr lang="en-US" sz="1500" dirty="0"/>
          </a:p>
        </p:txBody>
      </p:sp>
      <p:sp>
        <p:nvSpPr>
          <p:cNvPr id="29" name="Text 27"/>
          <p:cNvSpPr txBox="1"/>
          <p:nvPr/>
        </p:nvSpPr>
        <p:spPr>
          <a:xfrm>
            <a:off x="4582058" y="3639312"/>
            <a:ext cx="3027578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Archera's premium bills through AWS Marketplace and draws down the customer's EDP commit. Private offers, metering and CPPO resale are Automatum's core competency, not a new build.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8048549" y="2450592"/>
            <a:ext cx="3576218" cy="2212848"/>
          </a:xfrm>
          <a:prstGeom prst="roundRect">
            <a:avLst>
              <a:gd name="adj" fmla="val 2893"/>
            </a:avLst>
          </a:prstGeom>
          <a:solidFill>
            <a:srgbClr val="19205C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322869" y="2724912"/>
            <a:ext cx="384048" cy="45720"/>
          </a:xfrm>
          <a:prstGeom prst="rect">
            <a:avLst/>
          </a:prstGeom>
          <a:solidFill>
            <a:srgbClr val="F5A623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8322869" y="2907792"/>
            <a:ext cx="302757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customers are the under-covered band</a:t>
            </a:r>
            <a:endParaRPr lang="en-US" sz="1500" dirty="0"/>
          </a:p>
        </p:txBody>
      </p:sp>
      <p:sp>
        <p:nvSpPr>
          <p:cNvPr id="33" name="Text 31"/>
          <p:cNvSpPr txBox="1"/>
          <p:nvPr/>
        </p:nvSpPr>
        <p:spPr>
          <a:xfrm>
            <a:off x="8322869" y="3639312"/>
            <a:ext cx="3027578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Startups and scaleups sit where measured savings capture is lowest — a skew to confirm from account data. The bands below are the sales map for the base.</a:t>
            </a:r>
            <a:endParaRPr lang="en-US" sz="1050" dirty="0"/>
          </a:p>
        </p:txBody>
      </p:sp>
      <p:sp>
        <p:nvSpPr>
          <p:cNvPr id="34" name="Text 32"/>
          <p:cNvSpPr txBox="1"/>
          <p:nvPr/>
        </p:nvSpPr>
        <p:spPr>
          <a:xfrm>
            <a:off x="566928" y="4791456"/>
            <a:ext cx="6858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8E9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 SAVING ALREADY CAPTURED, BY ANNUAL AWS COMPUTE USAGE</a:t>
            </a:r>
            <a:endParaRPr lang="en-US" sz="850" dirty="0"/>
          </a:p>
        </p:txBody>
      </p:sp>
      <p:sp>
        <p:nvSpPr>
          <p:cNvPr id="35" name="Shape 33"/>
          <p:cNvSpPr/>
          <p:nvPr/>
        </p:nvSpPr>
        <p:spPr>
          <a:xfrm>
            <a:off x="566928" y="5029200"/>
            <a:ext cx="3576218" cy="566928"/>
          </a:xfrm>
          <a:prstGeom prst="roundRect">
            <a:avLst>
              <a:gd name="adj" fmla="val 11290"/>
            </a:avLst>
          </a:prstGeom>
          <a:solidFill>
            <a:srgbClr val="141A4F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804672" y="5102352"/>
            <a:ext cx="238749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 $500K</a:t>
            </a:r>
            <a:endParaRPr lang="en-US" sz="850" dirty="0"/>
          </a:p>
        </p:txBody>
      </p:sp>
      <p:sp>
        <p:nvSpPr>
          <p:cNvPr id="37" name="Text 35"/>
          <p:cNvSpPr txBox="1"/>
          <p:nvPr/>
        </p:nvSpPr>
        <p:spPr>
          <a:xfrm>
            <a:off x="804672" y="5248656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0%</a:t>
            </a:r>
            <a:endParaRPr lang="en-US" sz="1700" dirty="0"/>
          </a:p>
        </p:txBody>
      </p:sp>
      <p:sp>
        <p:nvSpPr>
          <p:cNvPr id="38" name="Text 36"/>
          <p:cNvSpPr txBox="1"/>
          <p:nvPr/>
        </p:nvSpPr>
        <p:spPr>
          <a:xfrm>
            <a:off x="1664208" y="5248656"/>
            <a:ext cx="224119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AB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captured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4307738" y="5029200"/>
            <a:ext cx="3576218" cy="566928"/>
          </a:xfrm>
          <a:prstGeom prst="roundRect">
            <a:avLst>
              <a:gd name="adj" fmla="val 11290"/>
            </a:avLst>
          </a:prstGeom>
          <a:solidFill>
            <a:srgbClr val="141A4F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4545482" y="5102352"/>
            <a:ext cx="238749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0E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$500K–$10M</a:t>
            </a:r>
            <a:endParaRPr lang="en-US" sz="850" dirty="0"/>
          </a:p>
        </p:txBody>
      </p:sp>
      <p:sp>
        <p:nvSpPr>
          <p:cNvPr id="41" name="Text 39"/>
          <p:cNvSpPr txBox="1"/>
          <p:nvPr/>
        </p:nvSpPr>
        <p:spPr>
          <a:xfrm>
            <a:off x="4545482" y="5248656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23%</a:t>
            </a:r>
            <a:endParaRPr lang="en-US" sz="1700" dirty="0"/>
          </a:p>
        </p:txBody>
      </p:sp>
      <p:sp>
        <p:nvSpPr>
          <p:cNvPr id="42" name="Text 40"/>
          <p:cNvSpPr txBox="1"/>
          <p:nvPr/>
        </p:nvSpPr>
        <p:spPr>
          <a:xfrm>
            <a:off x="5405018" y="5248656"/>
            <a:ext cx="224119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AB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captured</a:t>
            </a:r>
            <a:endParaRPr lang="en-US" sz="950" dirty="0"/>
          </a:p>
        </p:txBody>
      </p:sp>
      <p:sp>
        <p:nvSpPr>
          <p:cNvPr id="43" name="Shape 41"/>
          <p:cNvSpPr/>
          <p:nvPr/>
        </p:nvSpPr>
        <p:spPr>
          <a:xfrm>
            <a:off x="8048549" y="5029200"/>
            <a:ext cx="3576218" cy="566928"/>
          </a:xfrm>
          <a:prstGeom prst="roundRect">
            <a:avLst>
              <a:gd name="adj" fmla="val 11290"/>
            </a:avLst>
          </a:prstGeom>
          <a:solidFill>
            <a:srgbClr val="141A4F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8286293" y="5102352"/>
            <a:ext cx="238749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5566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 $10M</a:t>
            </a:r>
            <a:endParaRPr lang="en-US" sz="850" dirty="0"/>
          </a:p>
        </p:txBody>
      </p:sp>
      <p:sp>
        <p:nvSpPr>
          <p:cNvPr id="45" name="Text 43"/>
          <p:cNvSpPr txBox="1"/>
          <p:nvPr/>
        </p:nvSpPr>
        <p:spPr>
          <a:xfrm>
            <a:off x="8286293" y="5248656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38%</a:t>
            </a:r>
            <a:endParaRPr lang="en-US" sz="1700" dirty="0"/>
          </a:p>
        </p:txBody>
      </p:sp>
      <p:sp>
        <p:nvSpPr>
          <p:cNvPr id="46" name="Text 44"/>
          <p:cNvSpPr txBox="1"/>
          <p:nvPr/>
        </p:nvSpPr>
        <p:spPr>
          <a:xfrm>
            <a:off x="9145829" y="5248656"/>
            <a:ext cx="224119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AB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captured</a:t>
            </a:r>
            <a:endParaRPr lang="en-US" sz="950" dirty="0"/>
          </a:p>
        </p:txBody>
      </p:sp>
      <p:sp>
        <p:nvSpPr>
          <p:cNvPr id="47" name="Text 45"/>
          <p:cNvSpPr txBox="1"/>
          <p:nvPr/>
        </p:nvSpPr>
        <p:spPr>
          <a:xfrm>
            <a:off x="566928" y="5724144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multicloud shape matches too — </a:t>
            </a:r>
            <a:pPr indent="0" marL="0">
              <a:buNone/>
            </a:pPr>
            <a:r>
              <a:rPr lang="en-US" sz="110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guarantee structure covers AWS, Azure and Google Cloud from one control plane.</a:t>
            </a:r>
            <a:endParaRPr lang="en-US" sz="1100" dirty="0"/>
          </a:p>
        </p:txBody>
      </p:sp>
      <p:sp>
        <p:nvSpPr>
          <p:cNvPr id="48" name="Text 46"/>
          <p:cNvSpPr txBox="1"/>
          <p:nvPr/>
        </p:nvSpPr>
        <p:spPr>
          <a:xfrm>
            <a:off x="566928" y="5998464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i="1" dirty="0">
                <a:solidFill>
                  <a:srgbClr val="5B64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Automatum figures per the company's published positioning (automatum.io) — confirm before circulation. Bands: ProsperOps median Effective Savings Rate by annual AWS compute usage, read from billing data.</a:t>
            </a:r>
            <a:endParaRPr lang="en-US" sz="850" dirty="0"/>
          </a:p>
        </p:txBody>
      </p:sp>
      <p:sp>
        <p:nvSpPr>
          <p:cNvPr id="49" name="Text 47"/>
          <p:cNvSpPr txBox="1"/>
          <p:nvPr/>
        </p:nvSpPr>
        <p:spPr>
          <a:xfrm>
            <a:off x="566928" y="634593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5B64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Archera  ×  Automatum</a:t>
            </a:r>
            <a:endParaRPr lang="en-US" sz="900" dirty="0"/>
          </a:p>
        </p:txBody>
      </p:sp>
      <p:sp>
        <p:nvSpPr>
          <p:cNvPr id="50" name="Text 48"/>
          <p:cNvSpPr txBox="1"/>
          <p:nvPr/>
        </p:nvSpPr>
        <p:spPr>
          <a:xfrm>
            <a:off x="10527487" y="634593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1A4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6576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60" kern="0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THREE  ·  THE OPPORTUNITY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58368"/>
            <a:ext cx="1105783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400"/>
              </a:lnSpc>
              <a:buNone/>
            </a:pPr>
            <a:r>
              <a:rPr lang="en-US" sz="3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opportunity in your base, sized.</a:t>
            </a:r>
            <a:endParaRPr lang="en-US" sz="31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29844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assumption is on the slide. Change any one of them and the arithmetic follows — the shape of the answer does not.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903720" y="1792224"/>
            <a:ext cx="2322576" cy="3822192"/>
          </a:xfrm>
          <a:prstGeom prst="roundRect">
            <a:avLst>
              <a:gd name="adj" fmla="val 2756"/>
            </a:avLst>
          </a:prstGeom>
          <a:solidFill>
            <a:srgbClr val="19205C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892040" y="1883664"/>
            <a:ext cx="2103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00" kern="0" dirty="0">
                <a:solidFill>
                  <a:srgbClr val="8E9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CONSERVATIVE</a:t>
            </a:r>
            <a:endParaRPr lang="en-US" sz="850" dirty="0"/>
          </a:p>
        </p:txBody>
      </p:sp>
      <p:sp>
        <p:nvSpPr>
          <p:cNvPr id="7" name="Text 5"/>
          <p:cNvSpPr txBox="1"/>
          <p:nvPr/>
        </p:nvSpPr>
        <p:spPr>
          <a:xfrm>
            <a:off x="7086600" y="1883664"/>
            <a:ext cx="2103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00" kern="0" dirty="0">
                <a:solidFill>
                  <a:srgbClr val="5566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CASE</a:t>
            </a:r>
            <a:endParaRPr lang="en-US" sz="850" dirty="0"/>
          </a:p>
        </p:txBody>
      </p:sp>
      <p:sp>
        <p:nvSpPr>
          <p:cNvPr id="8" name="Text 6"/>
          <p:cNvSpPr txBox="1"/>
          <p:nvPr/>
        </p:nvSpPr>
        <p:spPr>
          <a:xfrm>
            <a:off x="9281160" y="1883664"/>
            <a:ext cx="2331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00" kern="0" dirty="0">
                <a:solidFill>
                  <a:srgbClr val="8E9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OPTIMISTIC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566928" y="2157984"/>
            <a:ext cx="11057839" cy="10973"/>
          </a:xfrm>
          <a:prstGeom prst="rect">
            <a:avLst/>
          </a:prstGeom>
          <a:solidFill>
            <a:srgbClr val="3D4569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66928" y="2267712"/>
            <a:ext cx="4160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10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ISVs running on AWS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4892040" y="2267712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7086600" y="2267712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9281160" y="2267712"/>
            <a:ext cx="2331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566928" y="2679192"/>
            <a:ext cx="4160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10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Average AWS spend per ISV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892040" y="2679192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$10K / mo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7086600" y="2679192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$25K / mo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9281160" y="2679192"/>
            <a:ext cx="2331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$50K / mo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66928" y="3090672"/>
            <a:ext cx="4160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10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Aggregate annual AWS spend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4892040" y="3090672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$9.6M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7086600" y="3090672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$24.0M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9281160" y="3090672"/>
            <a:ext cx="2331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$48.0M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566928" y="3502152"/>
            <a:ext cx="4160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  60% reservable  (compute, RDS, OpenSearch, ElastiCache, Redshift, DynamoDB)</a:t>
            </a:r>
            <a:endParaRPr lang="en-US" sz="950" dirty="0"/>
          </a:p>
        </p:txBody>
      </p:sp>
      <p:sp>
        <p:nvSpPr>
          <p:cNvPr id="23" name="Text 21"/>
          <p:cNvSpPr txBox="1"/>
          <p:nvPr/>
        </p:nvSpPr>
        <p:spPr>
          <a:xfrm>
            <a:off x="4892040" y="3502152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$5.8M</a:t>
            </a:r>
            <a:endParaRPr lang="en-US" sz="1250" dirty="0"/>
          </a:p>
        </p:txBody>
      </p:sp>
      <p:sp>
        <p:nvSpPr>
          <p:cNvPr id="24" name="Text 22"/>
          <p:cNvSpPr txBox="1"/>
          <p:nvPr/>
        </p:nvSpPr>
        <p:spPr>
          <a:xfrm>
            <a:off x="7086600" y="3502152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$14.4M</a:t>
            </a:r>
            <a:endParaRPr lang="en-US" sz="1250" dirty="0"/>
          </a:p>
        </p:txBody>
      </p:sp>
      <p:sp>
        <p:nvSpPr>
          <p:cNvPr id="25" name="Text 23"/>
          <p:cNvSpPr txBox="1"/>
          <p:nvPr/>
        </p:nvSpPr>
        <p:spPr>
          <a:xfrm>
            <a:off x="9281160" y="3502152"/>
            <a:ext cx="2331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$28.8M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566928" y="3867912"/>
            <a:ext cx="11057839" cy="10973"/>
          </a:xfrm>
          <a:prstGeom prst="rect">
            <a:avLst/>
          </a:prstGeom>
          <a:solidFill>
            <a:srgbClr val="3D4569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566928" y="3913632"/>
            <a:ext cx="4160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  45% not yet covered by any commitment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4892040" y="3913632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$2.6M</a:t>
            </a:r>
            <a:endParaRPr lang="en-US" sz="1250" dirty="0"/>
          </a:p>
        </p:txBody>
      </p:sp>
      <p:sp>
        <p:nvSpPr>
          <p:cNvPr id="29" name="Text 27"/>
          <p:cNvSpPr txBox="1"/>
          <p:nvPr/>
        </p:nvSpPr>
        <p:spPr>
          <a:xfrm>
            <a:off x="7086600" y="3913632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$6.5M</a:t>
            </a:r>
            <a:endParaRPr lang="en-US" sz="1250" dirty="0"/>
          </a:p>
        </p:txBody>
      </p:sp>
      <p:sp>
        <p:nvSpPr>
          <p:cNvPr id="30" name="Text 28"/>
          <p:cNvSpPr txBox="1"/>
          <p:nvPr/>
        </p:nvSpPr>
        <p:spPr>
          <a:xfrm>
            <a:off x="9281160" y="3913632"/>
            <a:ext cx="2331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$13.0M</a:t>
            </a:r>
            <a:endParaRPr lang="en-US" sz="1250" dirty="0"/>
          </a:p>
        </p:txBody>
      </p:sp>
      <p:sp>
        <p:nvSpPr>
          <p:cNvPr id="31" name="Text 29"/>
          <p:cNvSpPr txBox="1"/>
          <p:nvPr/>
        </p:nvSpPr>
        <p:spPr>
          <a:xfrm>
            <a:off x="566928" y="4325112"/>
            <a:ext cx="4160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savings to the ISVs  ·  35% blended net rate</a:t>
            </a:r>
            <a:endParaRPr lang="en-US" sz="950" dirty="0"/>
          </a:p>
        </p:txBody>
      </p:sp>
      <p:sp>
        <p:nvSpPr>
          <p:cNvPr id="32" name="Text 30"/>
          <p:cNvSpPr txBox="1"/>
          <p:nvPr/>
        </p:nvSpPr>
        <p:spPr>
          <a:xfrm>
            <a:off x="4892040" y="4325112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$0.91M</a:t>
            </a:r>
            <a:endParaRPr lang="en-US" sz="1250" dirty="0"/>
          </a:p>
        </p:txBody>
      </p:sp>
      <p:sp>
        <p:nvSpPr>
          <p:cNvPr id="33" name="Text 31"/>
          <p:cNvSpPr txBox="1"/>
          <p:nvPr/>
        </p:nvSpPr>
        <p:spPr>
          <a:xfrm>
            <a:off x="7086600" y="4325112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$2.27M</a:t>
            </a:r>
            <a:endParaRPr lang="en-US" sz="1250" dirty="0"/>
          </a:p>
        </p:txBody>
      </p:sp>
      <p:sp>
        <p:nvSpPr>
          <p:cNvPr id="34" name="Text 32"/>
          <p:cNvSpPr txBox="1"/>
          <p:nvPr/>
        </p:nvSpPr>
        <p:spPr>
          <a:xfrm>
            <a:off x="9281160" y="4325112"/>
            <a:ext cx="2331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$4.54M</a:t>
            </a:r>
            <a:endParaRPr lang="en-US" sz="1250" dirty="0"/>
          </a:p>
        </p:txBody>
      </p:sp>
      <p:sp>
        <p:nvSpPr>
          <p:cNvPr id="35" name="Text 33"/>
          <p:cNvSpPr txBox="1"/>
          <p:nvPr/>
        </p:nvSpPr>
        <p:spPr>
          <a:xfrm>
            <a:off x="566928" y="4736592"/>
            <a:ext cx="4160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Archera premium pool  ·  22% of addressable spend</a:t>
            </a:r>
            <a:endParaRPr lang="en-US" sz="950" dirty="0"/>
          </a:p>
        </p:txBody>
      </p:sp>
      <p:sp>
        <p:nvSpPr>
          <p:cNvPr id="36" name="Text 34"/>
          <p:cNvSpPr txBox="1"/>
          <p:nvPr/>
        </p:nvSpPr>
        <p:spPr>
          <a:xfrm>
            <a:off x="4892040" y="4736592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$0.57M</a:t>
            </a:r>
            <a:endParaRPr lang="en-US" sz="1250" dirty="0"/>
          </a:p>
        </p:txBody>
      </p:sp>
      <p:sp>
        <p:nvSpPr>
          <p:cNvPr id="37" name="Text 35"/>
          <p:cNvSpPr txBox="1"/>
          <p:nvPr/>
        </p:nvSpPr>
        <p:spPr>
          <a:xfrm>
            <a:off x="7086600" y="4736592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$1.43M</a:t>
            </a:r>
            <a:endParaRPr lang="en-US" sz="1250" dirty="0"/>
          </a:p>
        </p:txBody>
      </p:sp>
      <p:sp>
        <p:nvSpPr>
          <p:cNvPr id="38" name="Text 36"/>
          <p:cNvSpPr txBox="1"/>
          <p:nvPr/>
        </p:nvSpPr>
        <p:spPr>
          <a:xfrm>
            <a:off x="9281160" y="4736592"/>
            <a:ext cx="2331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$2.85M</a:t>
            </a:r>
            <a:endParaRPr lang="en-US" sz="1250" dirty="0"/>
          </a:p>
        </p:txBody>
      </p:sp>
      <p:sp>
        <p:nvSpPr>
          <p:cNvPr id="39" name="Shape 37"/>
          <p:cNvSpPr/>
          <p:nvPr/>
        </p:nvSpPr>
        <p:spPr>
          <a:xfrm>
            <a:off x="566928" y="5102352"/>
            <a:ext cx="11057839" cy="10973"/>
          </a:xfrm>
          <a:prstGeom prst="rect">
            <a:avLst/>
          </a:prstGeom>
          <a:solidFill>
            <a:srgbClr val="3D4569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566928" y="5148072"/>
            <a:ext cx="4160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Recurring revenue to Automatum  ·  20–30% tiered rev-share</a:t>
            </a:r>
            <a:endParaRPr lang="en-US" sz="950" dirty="0"/>
          </a:p>
        </p:txBody>
      </p:sp>
      <p:sp>
        <p:nvSpPr>
          <p:cNvPr id="41" name="Text 39"/>
          <p:cNvSpPr txBox="1"/>
          <p:nvPr/>
        </p:nvSpPr>
        <p:spPr>
          <a:xfrm>
            <a:off x="4892040" y="5148072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C4CB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$114–171K</a:t>
            </a:r>
            <a:endParaRPr lang="en-US" sz="1200" dirty="0"/>
          </a:p>
        </p:txBody>
      </p:sp>
      <p:sp>
        <p:nvSpPr>
          <p:cNvPr id="42" name="Text 40"/>
          <p:cNvSpPr txBox="1"/>
          <p:nvPr/>
        </p:nvSpPr>
        <p:spPr>
          <a:xfrm>
            <a:off x="7086600" y="5148072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$285–428K</a:t>
            </a:r>
            <a:endParaRPr lang="en-US" sz="1200" dirty="0"/>
          </a:p>
        </p:txBody>
      </p:sp>
      <p:sp>
        <p:nvSpPr>
          <p:cNvPr id="43" name="Text 41"/>
          <p:cNvSpPr txBox="1"/>
          <p:nvPr/>
        </p:nvSpPr>
        <p:spPr>
          <a:xfrm>
            <a:off x="9281160" y="5148072"/>
            <a:ext cx="2331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C4CB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$570–855K</a:t>
            </a:r>
            <a:endParaRPr lang="en-US" sz="1200" dirty="0"/>
          </a:p>
        </p:txBody>
      </p:sp>
      <p:sp>
        <p:nvSpPr>
          <p:cNvPr id="44" name="Text 42"/>
          <p:cNvSpPr txBox="1"/>
          <p:nvPr/>
        </p:nvSpPr>
        <p:spPr>
          <a:xfrm>
            <a:off x="566928" y="576072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i="1" dirty="0">
                <a:solidFill>
                  <a:srgbClr val="5B64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Illustrative. Reservable share and the blended Archera rate are assumptions; the 45% coverage gap follows the measured 55% median AWS commitment coverage (ProsperOps). The 22% premium is the gap between the 57% a three-year creates and the 35% blended net the customer keeps. Rev-share tiers per Archera's distributor agreement: Bronze 20% (under $100K commitment MRR), Silver 25% (under $500K), Gold 30% ($1M+) — the base case's ~$119K premium MRR lands in Silver.</a:t>
            </a:r>
            <a:endParaRPr lang="en-US" sz="850" dirty="0"/>
          </a:p>
        </p:txBody>
      </p:sp>
      <p:sp>
        <p:nvSpPr>
          <p:cNvPr id="45" name="Text 43"/>
          <p:cNvSpPr txBox="1"/>
          <p:nvPr/>
        </p:nvSpPr>
        <p:spPr>
          <a:xfrm>
            <a:off x="566928" y="634593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5B64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Archera  ×  Automatum</a:t>
            </a:r>
            <a:endParaRPr lang="en-US" sz="900" dirty="0"/>
          </a:p>
        </p:txBody>
      </p:sp>
      <p:sp>
        <p:nvSpPr>
          <p:cNvPr id="46" name="Text 44"/>
          <p:cNvSpPr txBox="1"/>
          <p:nvPr/>
        </p:nvSpPr>
        <p:spPr>
          <a:xfrm>
            <a:off x="10527487" y="634593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014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6576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60" kern="0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THREE  ·  THE OPPORTUNITY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58368"/>
            <a:ext cx="1105783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400"/>
              </a:lnSpc>
              <a:buNone/>
            </a:pPr>
            <a:r>
              <a:rPr lang="en-US" sz="3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customer, worked.</a:t>
            </a:r>
            <a:endParaRPr lang="en-US" sz="31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335024"/>
            <a:ext cx="8595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single ISV at the base-case spend. No re-architecting and no workload migration — connecting billing is the whole project.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66928" y="2029968"/>
            <a:ext cx="3576218" cy="1499616"/>
          </a:xfrm>
          <a:prstGeom prst="roundRect">
            <a:avLst>
              <a:gd name="adj" fmla="val 4268"/>
            </a:avLst>
          </a:prstGeom>
          <a:solidFill>
            <a:srgbClr val="19205C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2194560"/>
            <a:ext cx="306415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4CB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$300K</a:t>
            </a:r>
            <a:endParaRPr lang="en-US" sz="28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633472"/>
            <a:ext cx="306415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year on AWS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889504"/>
            <a:ext cx="306415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AAB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$25K a month — the base-case ISV.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307738" y="2029968"/>
            <a:ext cx="3576218" cy="1499616"/>
          </a:xfrm>
          <a:prstGeom prst="roundRect">
            <a:avLst>
              <a:gd name="adj" fmla="val 4268"/>
            </a:avLst>
          </a:prstGeom>
          <a:solidFill>
            <a:srgbClr val="19205C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63770" y="2194560"/>
            <a:ext cx="306415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4CB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$180K</a:t>
            </a:r>
            <a:endParaRPr lang="en-US" sz="2800" dirty="0"/>
          </a:p>
        </p:txBody>
      </p:sp>
      <p:sp>
        <p:nvSpPr>
          <p:cNvPr id="11" name="Text 9"/>
          <p:cNvSpPr txBox="1"/>
          <p:nvPr/>
        </p:nvSpPr>
        <p:spPr>
          <a:xfrm>
            <a:off x="4563770" y="2633472"/>
            <a:ext cx="306415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reservable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4563770" y="2889504"/>
            <a:ext cx="306415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AAB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60% of the bill: compute plus RDS, OpenSearch, ElastiCache, Redshift, DynamoDB.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8048549" y="2029968"/>
            <a:ext cx="3576218" cy="1499616"/>
          </a:xfrm>
          <a:prstGeom prst="roundRect">
            <a:avLst>
              <a:gd name="adj" fmla="val 4268"/>
            </a:avLst>
          </a:prstGeom>
          <a:solidFill>
            <a:srgbClr val="1E2668"/>
          </a:solidFill>
          <a:ln w="13970">
            <a:solidFill>
              <a:srgbClr val="F5A62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304581" y="2194560"/>
            <a:ext cx="306415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$81K</a:t>
            </a:r>
            <a:endParaRPr lang="en-US" sz="2800" dirty="0"/>
          </a:p>
        </p:txBody>
      </p:sp>
      <p:sp>
        <p:nvSpPr>
          <p:cNvPr id="15" name="Text 13"/>
          <p:cNvSpPr txBox="1"/>
          <p:nvPr/>
        </p:nvSpPr>
        <p:spPr>
          <a:xfrm>
            <a:off x="8304581" y="2633472"/>
            <a:ext cx="306415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yet covered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8304581" y="2889504"/>
            <a:ext cx="306415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AAB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45% of the reservable base, at the measured median coverage. This is what Archera is for.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566928" y="3621024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8E9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COMES BACK ON THAT $81K, BY TERM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566928" y="3895344"/>
            <a:ext cx="3576218" cy="1225296"/>
          </a:xfrm>
          <a:prstGeom prst="roundRect">
            <a:avLst>
              <a:gd name="adj" fmla="val 5224"/>
            </a:avLst>
          </a:prstGeom>
          <a:solidFill>
            <a:srgbClr val="19205C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22960" y="4041648"/>
            <a:ext cx="306415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0E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30-day  ·  28.5%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822960" y="4297680"/>
            <a:ext cx="306415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$23.1K</a:t>
            </a:r>
            <a:pPr indent="0" marL="0">
              <a:buNone/>
            </a:pPr>
            <a:r>
              <a:rPr lang="en-US" sz="1100" dirty="0">
                <a:solidFill>
                  <a:srgbClr val="AAB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a year</a:t>
            </a:r>
            <a:endParaRPr lang="en-US" sz="2500" dirty="0"/>
          </a:p>
        </p:txBody>
      </p:sp>
      <p:sp>
        <p:nvSpPr>
          <p:cNvPr id="21" name="Text 19"/>
          <p:cNvSpPr txBox="1"/>
          <p:nvPr/>
        </p:nvSpPr>
        <p:spPr>
          <a:xfrm>
            <a:off x="822960" y="4718304"/>
            <a:ext cx="306415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Exit any time after 30 days.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4307738" y="3895344"/>
            <a:ext cx="3576218" cy="1225296"/>
          </a:xfrm>
          <a:prstGeom prst="roundRect">
            <a:avLst>
              <a:gd name="adj" fmla="val 5224"/>
            </a:avLst>
          </a:prstGeom>
          <a:solidFill>
            <a:srgbClr val="19205C"/>
          </a:solidFill>
          <a:ln w="13970">
            <a:solidFill>
              <a:srgbClr val="3B4CC0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563770" y="4041648"/>
            <a:ext cx="306415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5566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Blended  ·  35%</a:t>
            </a:r>
            <a:endParaRPr 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4563770" y="4297680"/>
            <a:ext cx="306415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$28.4K</a:t>
            </a:r>
            <a:pPr indent="0" marL="0">
              <a:buNone/>
            </a:pPr>
            <a:r>
              <a:rPr lang="en-US" sz="1100" dirty="0">
                <a:solidFill>
                  <a:srgbClr val="AAB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a year</a:t>
            </a:r>
            <a:endParaRPr lang="en-US" sz="2500" dirty="0"/>
          </a:p>
        </p:txBody>
      </p:sp>
      <p:sp>
        <p:nvSpPr>
          <p:cNvPr id="25" name="Text 23"/>
          <p:cNvSpPr txBox="1"/>
          <p:nvPr/>
        </p:nvSpPr>
        <p:spPr>
          <a:xfrm>
            <a:off x="4563770" y="4718304"/>
            <a:ext cx="306415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realistic mix across an estate.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8048549" y="3895344"/>
            <a:ext cx="3576218" cy="1225296"/>
          </a:xfrm>
          <a:prstGeom prst="roundRect">
            <a:avLst>
              <a:gd name="adj" fmla="val 5224"/>
            </a:avLst>
          </a:prstGeom>
          <a:solidFill>
            <a:srgbClr val="19205C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8304581" y="4041648"/>
            <a:ext cx="306415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19C6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1-year  ·  42.75%</a:t>
            </a:r>
            <a:endParaRPr lang="en-US" sz="1050" dirty="0"/>
          </a:p>
        </p:txBody>
      </p:sp>
      <p:sp>
        <p:nvSpPr>
          <p:cNvPr id="28" name="Text 26"/>
          <p:cNvSpPr txBox="1"/>
          <p:nvPr/>
        </p:nvSpPr>
        <p:spPr>
          <a:xfrm>
            <a:off x="8304581" y="4297680"/>
            <a:ext cx="306415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$34.6K</a:t>
            </a:r>
            <a:pPr indent="0" marL="0">
              <a:buNone/>
            </a:pPr>
            <a:r>
              <a:rPr lang="en-US" sz="1100" dirty="0">
                <a:solidFill>
                  <a:srgbClr val="AAB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a year</a:t>
            </a:r>
            <a:endParaRPr lang="en-US" sz="2500" dirty="0"/>
          </a:p>
        </p:txBody>
      </p:sp>
      <p:sp>
        <p:nvSpPr>
          <p:cNvPr id="29" name="Text 27"/>
          <p:cNvSpPr txBox="1"/>
          <p:nvPr/>
        </p:nvSpPr>
        <p:spPr>
          <a:xfrm>
            <a:off x="8304581" y="4718304"/>
            <a:ext cx="306415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lock-in as a native one-year, 6.75 points better.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566928" y="5266944"/>
            <a:ext cx="11057839" cy="658368"/>
          </a:xfrm>
          <a:prstGeom prst="roundRect">
            <a:avLst>
              <a:gd name="adj" fmla="val 9722"/>
            </a:avLst>
          </a:prstGeom>
          <a:solidFill>
            <a:srgbClr val="141A4F"/>
          </a:solidFill>
          <a:ln w="13970">
            <a:solidFill>
              <a:srgbClr val="3B4CC0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877824" y="5266944"/>
            <a:ext cx="10436047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$28.4K a year back, on one mid-sized customer. </a:t>
            </a:r>
            <a:pPr indent="0" marL="0">
              <a:buNone/>
            </a:pPr>
            <a:r>
              <a:rPr lang="en-US" sz="13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Whatever that ISV pays Automatum, this is the number that now sits next to it on the renewal.</a:t>
            </a:r>
            <a:endParaRPr lang="en-US" sz="1350" dirty="0"/>
          </a:p>
        </p:txBody>
      </p:sp>
      <p:sp>
        <p:nvSpPr>
          <p:cNvPr id="32" name="Text 30"/>
          <p:cNvSpPr txBox="1"/>
          <p:nvPr/>
        </p:nvSpPr>
        <p:spPr>
          <a:xfrm>
            <a:off x="566928" y="6053328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i="1" dirty="0">
                <a:solidFill>
                  <a:srgbClr val="5B64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Illustrative, at the base-case assumptions from the previous slide. Net of Archera's premium. Drop Automatum's own list price into the final box to close the argument in front of a customer.</a:t>
            </a:r>
            <a:endParaRPr lang="en-US" sz="850" dirty="0"/>
          </a:p>
        </p:txBody>
      </p:sp>
      <p:sp>
        <p:nvSpPr>
          <p:cNvPr id="33" name="Text 31"/>
          <p:cNvSpPr txBox="1"/>
          <p:nvPr/>
        </p:nvSpPr>
        <p:spPr>
          <a:xfrm>
            <a:off x="566928" y="634593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5B64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Archera  ×  Automatum</a:t>
            </a:r>
            <a:endParaRPr lang="en-US" sz="900" dirty="0"/>
          </a:p>
        </p:txBody>
      </p:sp>
      <p:sp>
        <p:nvSpPr>
          <p:cNvPr id="34" name="Text 32"/>
          <p:cNvSpPr txBox="1"/>
          <p:nvPr/>
        </p:nvSpPr>
        <p:spPr>
          <a:xfrm>
            <a:off x="10527487" y="634593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506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6576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60" kern="0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FOUR  ·  THE MOTIONS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1060704"/>
            <a:ext cx="53949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100"/>
              </a:lnSpc>
              <a:buNone/>
            </a:pPr>
            <a:r>
              <a:rPr lang="en-US" sz="3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motions to put</a:t>
            </a:r>
            <a:endParaRPr lang="en-US" sz="3500" dirty="0"/>
          </a:p>
          <a:p>
            <a:pPr indent="0" marL="0">
              <a:lnSpc>
                <a:spcPts val="4100"/>
              </a:lnSpc>
              <a:buNone/>
            </a:pPr>
            <a:r>
              <a:rPr lang="en-US" sz="3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Archera to work.</a:t>
            </a:r>
            <a:endParaRPr lang="en-US" sz="35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2670048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stands on its own and they compound together. The first is the one that works on day one — the two slides after it show how it runs through presales and across the base.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309360" y="804672"/>
            <a:ext cx="5315407" cy="969264"/>
          </a:xfrm>
          <a:prstGeom prst="roundRect">
            <a:avLst>
              <a:gd name="adj" fmla="val 6604"/>
            </a:avLst>
          </a:prstGeom>
          <a:solidFill>
            <a:srgbClr val="1E2668"/>
          </a:solidFill>
          <a:ln w="13970">
            <a:solidFill>
              <a:srgbClr val="3B4CC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547104" y="804672"/>
            <a:ext cx="45720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566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7114032" y="987552"/>
            <a:ext cx="427299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Attach savings to the installed base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7114032" y="1298448"/>
            <a:ext cx="4272991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AB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install, minimal privileges, live in days.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6309360" y="1883664"/>
            <a:ext cx="5315407" cy="969264"/>
          </a:xfrm>
          <a:prstGeom prst="roundRect">
            <a:avLst>
              <a:gd name="adj" fmla="val 6604"/>
            </a:avLst>
          </a:prstGeom>
          <a:solidFill>
            <a:srgbClr val="141A4F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547104" y="1883664"/>
            <a:ext cx="45720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E9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7114032" y="2066544"/>
            <a:ext cx="427299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the subscription self-funding</a:t>
            </a:r>
            <a:endParaRPr lang="en-US" sz="1350" dirty="0"/>
          </a:p>
        </p:txBody>
      </p:sp>
      <p:sp>
        <p:nvSpPr>
          <p:cNvPr id="12" name="Text 10"/>
          <p:cNvSpPr txBox="1"/>
          <p:nvPr/>
        </p:nvSpPr>
        <p:spPr>
          <a:xfrm>
            <a:off x="7114032" y="2377440"/>
            <a:ext cx="4272991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AB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customer's AWS bill starts paying for the programme.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309360" y="2962656"/>
            <a:ext cx="5315407" cy="969264"/>
          </a:xfrm>
          <a:prstGeom prst="roundRect">
            <a:avLst>
              <a:gd name="adj" fmla="val 6604"/>
            </a:avLst>
          </a:prstGeom>
          <a:solidFill>
            <a:srgbClr val="141A4F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547104" y="2962656"/>
            <a:ext cx="45720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E9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7114032" y="3145536"/>
            <a:ext cx="427299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 the FTR gate faster</a:t>
            </a:r>
            <a:endParaRPr lang="en-US" sz="1350" dirty="0"/>
          </a:p>
        </p:txBody>
      </p:sp>
      <p:sp>
        <p:nvSpPr>
          <p:cNvPr id="16" name="Text 14"/>
          <p:cNvSpPr txBox="1"/>
          <p:nvPr/>
        </p:nvSpPr>
        <p:spPr>
          <a:xfrm>
            <a:off x="7114032" y="3456432"/>
            <a:ext cx="4272991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AB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WAFR, Lenses and FTR at no tooling cost.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309360" y="4041648"/>
            <a:ext cx="5315407" cy="969264"/>
          </a:xfrm>
          <a:prstGeom prst="roundRect">
            <a:avLst>
              <a:gd name="adj" fmla="val 6604"/>
            </a:avLst>
          </a:prstGeom>
          <a:solidFill>
            <a:srgbClr val="141A4F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547104" y="4041648"/>
            <a:ext cx="45720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E9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7114032" y="4224528"/>
            <a:ext cx="427299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 the spend nobody can forecast</a:t>
            </a:r>
            <a:endParaRPr lang="en-US" sz="1350" dirty="0"/>
          </a:p>
        </p:txBody>
      </p:sp>
      <p:sp>
        <p:nvSpPr>
          <p:cNvPr id="20" name="Text 18"/>
          <p:cNvSpPr txBox="1"/>
          <p:nvPr/>
        </p:nvSpPr>
        <p:spPr>
          <a:xfrm>
            <a:off x="7114032" y="4535424"/>
            <a:ext cx="4272991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AB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AI, bursty and migrating workloads — covered, not locked.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6309360" y="5120640"/>
            <a:ext cx="5315407" cy="969264"/>
          </a:xfrm>
          <a:prstGeom prst="roundRect">
            <a:avLst>
              <a:gd name="adj" fmla="val 6604"/>
            </a:avLst>
          </a:prstGeom>
          <a:solidFill>
            <a:srgbClr val="141A4F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547104" y="5120640"/>
            <a:ext cx="45720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E9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7114032" y="5303520"/>
            <a:ext cx="427299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a recurring revenue line</a:t>
            </a:r>
            <a:endParaRPr lang="en-US" sz="1350" dirty="0"/>
          </a:p>
        </p:txBody>
      </p:sp>
      <p:sp>
        <p:nvSpPr>
          <p:cNvPr id="24" name="Text 22"/>
          <p:cNvSpPr txBox="1"/>
          <p:nvPr/>
        </p:nvSpPr>
        <p:spPr>
          <a:xfrm>
            <a:off x="7114032" y="5614416"/>
            <a:ext cx="4272991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AB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20–30% tiered rev-share on premiums, billed via AWS Marketplace CPPO.</a:t>
            </a:r>
            <a:endParaRPr lang="en-US" sz="1050" dirty="0"/>
          </a:p>
        </p:txBody>
      </p:sp>
      <p:sp>
        <p:nvSpPr>
          <p:cNvPr id="25" name="Text 23"/>
          <p:cNvSpPr txBox="1"/>
          <p:nvPr/>
        </p:nvSpPr>
        <p:spPr>
          <a:xfrm>
            <a:off x="566928" y="634593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5B64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Archera  ×  Automatum</a:t>
            </a:r>
            <a:endParaRPr lang="en-US" sz="900" dirty="0"/>
          </a:p>
        </p:txBody>
      </p:sp>
      <p:sp>
        <p:nvSpPr>
          <p:cNvPr id="26" name="Text 24"/>
          <p:cNvSpPr txBox="1"/>
          <p:nvPr/>
        </p:nvSpPr>
        <p:spPr>
          <a:xfrm>
            <a:off x="10527487" y="634593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014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6576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60" kern="0" dirty="0">
                <a:solidFill>
                  <a:srgbClr val="5566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CASE 01  ·  THE PRIMARY MOTION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58368"/>
            <a:ext cx="1105783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400"/>
              </a:lnSpc>
              <a:buNone/>
            </a:pPr>
            <a:r>
              <a:rPr lang="en-US" sz="3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Attach savings to every ISV you already serve.</a:t>
            </a:r>
            <a:endParaRPr lang="en-US" sz="31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33502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to build, nothing to staff, and no new commercial relationship to open. The base already exists.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85216" y="2194560"/>
            <a:ext cx="155448" cy="155448"/>
          </a:xfrm>
          <a:prstGeom prst="ellipse">
            <a:avLst/>
          </a:prstGeom>
          <a:solidFill>
            <a:srgbClr val="19C6E6"/>
          </a:solidFill>
          <a:ln w="3175">
            <a:solidFill>
              <a:srgbClr val="19C6E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4400" y="2048256"/>
            <a:ext cx="6675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 a customer's payer account in minutes, with minimal privileges — installed from AWS Marketplace.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85216" y="2816352"/>
            <a:ext cx="155448" cy="155448"/>
          </a:xfrm>
          <a:prstGeom prst="ellipse">
            <a:avLst/>
          </a:prstGeom>
          <a:solidFill>
            <a:srgbClr val="19C6E6"/>
          </a:solidFill>
          <a:ln w="3175">
            <a:solidFill>
              <a:srgbClr val="19C6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2670048"/>
            <a:ext cx="6675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free savings analysis shows the coverage gap in hard numbers before anyone commits to anything.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85216" y="3438144"/>
            <a:ext cx="155448" cy="155448"/>
          </a:xfrm>
          <a:prstGeom prst="ellipse">
            <a:avLst/>
          </a:prstGeom>
          <a:solidFill>
            <a:srgbClr val="19C6E6"/>
          </a:solidFill>
          <a:ln w="3175">
            <a:solidFill>
              <a:srgbClr val="19C6E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3291840"/>
            <a:ext cx="6675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 optimisation only: no re-architecting, no workload migration, no change to how the ISV runs.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85216" y="4059936"/>
            <a:ext cx="155448" cy="155448"/>
          </a:xfrm>
          <a:prstGeom prst="ellipse">
            <a:avLst/>
          </a:prstGeom>
          <a:solidFill>
            <a:srgbClr val="19C6E6"/>
          </a:solidFill>
          <a:ln w="3175">
            <a:solidFill>
              <a:srgbClr val="19C6E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4400" y="3913632"/>
            <a:ext cx="6675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in days — inside Automatum's standard onboarding window, on the same access the listing build requires.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85216" y="4681728"/>
            <a:ext cx="155448" cy="155448"/>
          </a:xfrm>
          <a:prstGeom prst="ellipse">
            <a:avLst/>
          </a:prstGeom>
          <a:solidFill>
            <a:srgbClr val="19C6E6"/>
          </a:solidFill>
          <a:ln w="3175">
            <a:solidFill>
              <a:srgbClr val="19C6E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14400" y="4535424"/>
            <a:ext cx="6675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platform is free. The customer pays a premium only on savings actually created.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7680960" y="1956816"/>
            <a:ext cx="3943807" cy="3310128"/>
          </a:xfrm>
          <a:prstGeom prst="roundRect">
            <a:avLst>
              <a:gd name="adj" fmla="val 1934"/>
            </a:avLst>
          </a:prstGeom>
          <a:solidFill>
            <a:srgbClr val="19205C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955280" y="2176272"/>
            <a:ext cx="339516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19C6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 TO AUTOMATUM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7955280" y="2505456"/>
            <a:ext cx="3395167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value-add that can be offered to the whole base at once, not sold account by account.</a:t>
            </a:r>
            <a:endParaRPr lang="en-US" sz="1150" dirty="0"/>
          </a:p>
        </p:txBody>
      </p:sp>
      <p:sp>
        <p:nvSpPr>
          <p:cNvPr id="18" name="Text 16"/>
          <p:cNvSpPr txBox="1"/>
          <p:nvPr/>
        </p:nvSpPr>
        <p:spPr>
          <a:xfrm>
            <a:off x="7955280" y="3236976"/>
            <a:ext cx="3395167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conversation opens with a number from the customer's own bill, not a pitch.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7955280" y="3968496"/>
            <a:ext cx="3395167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Archera's reference book runs 93–100% commitment utilisation — savings get used, not idled.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7955280" y="4700016"/>
            <a:ext cx="3395167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gives the quarterly check-in a reason to exist beyond listing maintenance.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566928" y="5230368"/>
            <a:ext cx="2231136" cy="713232"/>
          </a:xfrm>
          <a:prstGeom prst="roundRect">
            <a:avLst>
              <a:gd name="adj" fmla="val 8974"/>
            </a:avLst>
          </a:prstGeom>
          <a:solidFill>
            <a:srgbClr val="141A4F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68096" y="532180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 billing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768096" y="5614416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AB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Minimal-privilege install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2962656" y="5230368"/>
            <a:ext cx="2231136" cy="713232"/>
          </a:xfrm>
          <a:prstGeom prst="roundRect">
            <a:avLst>
              <a:gd name="adj" fmla="val 8974"/>
            </a:avLst>
          </a:prstGeom>
          <a:solidFill>
            <a:srgbClr val="141A4F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3163824" y="532180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the gap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3163824" y="5614416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AB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savings analysis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5358384" y="5230368"/>
            <a:ext cx="2231136" cy="713232"/>
          </a:xfrm>
          <a:prstGeom prst="roundRect">
            <a:avLst>
              <a:gd name="adj" fmla="val 8974"/>
            </a:avLst>
          </a:prstGeom>
          <a:solidFill>
            <a:srgbClr val="141A4F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559552" y="532180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 it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5559552" y="5614416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AB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30-day or 1-year terms</a:t>
            </a:r>
            <a:endParaRPr lang="en-US" sz="1000" dirty="0"/>
          </a:p>
        </p:txBody>
      </p:sp>
      <p:sp>
        <p:nvSpPr>
          <p:cNvPr id="30" name="Text 28"/>
          <p:cNvSpPr txBox="1"/>
          <p:nvPr/>
        </p:nvSpPr>
        <p:spPr>
          <a:xfrm>
            <a:off x="566928" y="634593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5B64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Archera  ×  Automatum</a:t>
            </a:r>
            <a:endParaRPr lang="en-US" sz="900" dirty="0"/>
          </a:p>
        </p:txBody>
      </p:sp>
      <p:sp>
        <p:nvSpPr>
          <p:cNvPr id="31" name="Text 29"/>
          <p:cNvSpPr txBox="1"/>
          <p:nvPr/>
        </p:nvSpPr>
        <p:spPr>
          <a:xfrm>
            <a:off x="10527487" y="634593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014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6576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60" kern="0" dirty="0">
                <a:solidFill>
                  <a:srgbClr val="5566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CASE 01  ·  PRESALES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58368"/>
            <a:ext cx="1105783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400"/>
              </a:lnSpc>
              <a:buNone/>
            </a:pPr>
            <a:r>
              <a:rPr lang="en-US" sz="3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Archera enters your presales motion.</a:t>
            </a:r>
            <a:endParaRPr lang="en-US" sz="31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335024"/>
            <a:ext cx="9875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new pipeline and no new meeting. Each stage Automatum already runs gets one insertion point — mapped here against the published motion; swap in your internal stage names.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66928" y="2029968"/>
            <a:ext cx="11057839" cy="658368"/>
          </a:xfrm>
          <a:prstGeom prst="roundRect">
            <a:avLst>
              <a:gd name="adj" fmla="val 9722"/>
            </a:avLst>
          </a:prstGeom>
          <a:solidFill>
            <a:srgbClr val="1E2668"/>
          </a:solidFill>
          <a:ln w="13970">
            <a:solidFill>
              <a:srgbClr val="3B4CC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212140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5566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DISCOVERY</a:t>
            </a:r>
            <a:endParaRPr lang="en-US" sz="85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304288"/>
            <a:ext cx="3246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discovery artefact, not a pitch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4270248" y="2084832"/>
            <a:ext cx="708019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for read-only billing access in the scoping conversation that already happens. Coverage and Effective Savings Rate numbers come back inside the week — and earn a seat with the ISV's finance owner, not just product.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566928" y="2779776"/>
            <a:ext cx="11057839" cy="658368"/>
          </a:xfrm>
          <a:prstGeom prst="roundRect">
            <a:avLst>
              <a:gd name="adj" fmla="val 9722"/>
            </a:avLst>
          </a:prstGeom>
          <a:solidFill>
            <a:srgbClr val="19205C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22960" y="2871216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8E9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LISTING BUILD</a:t>
            </a:r>
            <a:endParaRPr lang="en-US" sz="850" dirty="0"/>
          </a:p>
        </p:txBody>
      </p:sp>
      <p:sp>
        <p:nvSpPr>
          <p:cNvPr id="11" name="Text 9"/>
          <p:cNvSpPr txBox="1"/>
          <p:nvPr/>
        </p:nvSpPr>
        <p:spPr>
          <a:xfrm>
            <a:off x="822960" y="3054096"/>
            <a:ext cx="3246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connected account, two outputs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270248" y="2834640"/>
            <a:ext cx="708019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minimal-privilege install that runs the savings analysis also feeds the Well-Architected and FTR auto-population — no second ask of the customer (assessment scope to confirm with Archera).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66928" y="3529584"/>
            <a:ext cx="11057839" cy="658368"/>
          </a:xfrm>
          <a:prstGeom prst="roundRect">
            <a:avLst>
              <a:gd name="adj" fmla="val 9722"/>
            </a:avLst>
          </a:prstGeom>
          <a:solidFill>
            <a:srgbClr val="19205C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22960" y="3621024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8E9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GO-LIVE</a:t>
            </a:r>
            <a:endParaRPr lang="en-US" sz="850" dirty="0"/>
          </a:p>
        </p:txBody>
      </p:sp>
      <p:sp>
        <p:nvSpPr>
          <p:cNvPr id="15" name="Text 13"/>
          <p:cNvSpPr txBox="1"/>
          <p:nvPr/>
        </p:nvSpPr>
        <p:spPr>
          <a:xfrm>
            <a:off x="822960" y="3803904"/>
            <a:ext cx="3246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Coverage lands before marketplace revenue ramps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270248" y="3584448"/>
            <a:ext cx="708019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saving shows up on the ISV's AWS bill from the first covered month — offsetting the Automatum fee while the listing is still ramping.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66928" y="4279392"/>
            <a:ext cx="11057839" cy="658368"/>
          </a:xfrm>
          <a:prstGeom prst="roundRect">
            <a:avLst>
              <a:gd name="adj" fmla="val 9722"/>
            </a:avLst>
          </a:prstGeom>
          <a:solidFill>
            <a:srgbClr val="19205C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22960" y="4370832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8E9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OFFERS &amp; CO-SELL</a:t>
            </a:r>
            <a:endParaRPr lang="en-US" sz="850" dirty="0"/>
          </a:p>
        </p:txBody>
      </p:sp>
      <p:sp>
        <p:nvSpPr>
          <p:cNvPr id="19" name="Text 17"/>
          <p:cNvSpPr txBox="1"/>
          <p:nvPr/>
        </p:nvSpPr>
        <p:spPr>
          <a:xfrm>
            <a:off x="822960" y="4553712"/>
            <a:ext cx="3246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number the AWS seller can act on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4270248" y="4334256"/>
            <a:ext cx="708019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savings number from the customer's own bill gives the AWS account team a concrete reason to engage — and strengthens the co-sell narrative on the listing side too.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566928" y="5029200"/>
            <a:ext cx="11057839" cy="658368"/>
          </a:xfrm>
          <a:prstGeom prst="roundRect">
            <a:avLst>
              <a:gd name="adj" fmla="val 9722"/>
            </a:avLst>
          </a:prstGeom>
          <a:solidFill>
            <a:srgbClr val="19205C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822960" y="5120640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8E9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QBR</a:t>
            </a:r>
            <a:endParaRPr lang="en-US" sz="850" dirty="0"/>
          </a:p>
        </p:txBody>
      </p:sp>
      <p:sp>
        <p:nvSpPr>
          <p:cNvPr id="23" name="Text 21"/>
          <p:cNvSpPr txBox="1"/>
          <p:nvPr/>
        </p:nvSpPr>
        <p:spPr>
          <a:xfrm>
            <a:off x="822960" y="5303520"/>
            <a:ext cx="3246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maintenance check-in to value review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4270248" y="5084064"/>
            <a:ext cx="708019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Coverage drift, utilisation and savings-to-date give the quarterly conversation an agenda beyond listing upkeep — and set up the renewal.</a:t>
            </a:r>
            <a:endParaRPr lang="en-US" sz="1050" dirty="0"/>
          </a:p>
        </p:txBody>
      </p:sp>
      <p:sp>
        <p:nvSpPr>
          <p:cNvPr id="25" name="Text 23"/>
          <p:cNvSpPr txBox="1"/>
          <p:nvPr/>
        </p:nvSpPr>
        <p:spPr>
          <a:xfrm>
            <a:off x="566928" y="5870448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does what: </a:t>
            </a:r>
            <a:pPr indent="0" marL="0">
              <a:buNone/>
            </a:pPr>
            <a:r>
              <a:rPr lang="en-US" sz="11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Automatum runs the connect and the analysis; Archera builds and manages the commitments; the ISV signs one private offer.</a:t>
            </a:r>
            <a:endParaRPr lang="en-US" sz="1150" dirty="0"/>
          </a:p>
        </p:txBody>
      </p:sp>
      <p:sp>
        <p:nvSpPr>
          <p:cNvPr id="26" name="Text 24"/>
          <p:cNvSpPr txBox="1"/>
          <p:nvPr/>
        </p:nvSpPr>
        <p:spPr>
          <a:xfrm>
            <a:off x="566928" y="634593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5B64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Archera  ×  Automatum</a:t>
            </a:r>
            <a:endParaRPr lang="en-US" sz="900" dirty="0"/>
          </a:p>
        </p:txBody>
      </p:sp>
      <p:sp>
        <p:nvSpPr>
          <p:cNvPr id="27" name="Text 25"/>
          <p:cNvSpPr txBox="1"/>
          <p:nvPr/>
        </p:nvSpPr>
        <p:spPr>
          <a:xfrm>
            <a:off x="10527487" y="634593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014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6576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60" kern="0" dirty="0">
                <a:solidFill>
                  <a:srgbClr val="5566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CASE 01  ·  THE INSTALLED BASE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58368"/>
            <a:ext cx="1105783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400"/>
              </a:lnSpc>
              <a:buNone/>
            </a:pPr>
            <a:r>
              <a:rPr lang="en-US" sz="2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the 80+: sequence by spend, not tenure.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335024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 saving already captured, by annual AWS compute usage — the bands say where to start and what to lead with.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66928" y="2029968"/>
            <a:ext cx="3576218" cy="2304288"/>
          </a:xfrm>
          <a:prstGeom prst="roundRect">
            <a:avLst>
              <a:gd name="adj" fmla="val 2778"/>
            </a:avLst>
          </a:prstGeom>
          <a:solidFill>
            <a:srgbClr val="19205C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2212848"/>
            <a:ext cx="306415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 $500K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414016"/>
            <a:ext cx="306415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0%</a:t>
            </a:r>
            <a:pPr indent="0" marL="0">
              <a:buNone/>
            </a:pPr>
            <a:r>
              <a:rPr lang="en-US" sz="1050" dirty="0">
                <a:solidFill>
                  <a:srgbClr val="AAB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captured</a:t>
            </a:r>
            <a:endParaRPr lang="en-US" sz="24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871216"/>
            <a:ext cx="3064154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of the base. Smallest per account, fastest to close — nobody there has a FinOps function, and the median company is simply paying list.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3840480"/>
            <a:ext cx="306415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Batch the motion: standard analysis, standard offer.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307738" y="2029968"/>
            <a:ext cx="3576218" cy="2304288"/>
          </a:xfrm>
          <a:prstGeom prst="roundRect">
            <a:avLst>
              <a:gd name="adj" fmla="val 2778"/>
            </a:avLst>
          </a:prstGeom>
          <a:solidFill>
            <a:srgbClr val="1E2668"/>
          </a:solidFill>
          <a:ln w="15240">
            <a:solidFill>
              <a:srgbClr val="0E93AE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563770" y="2212848"/>
            <a:ext cx="306415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0E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$500K–$10M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4563770" y="2414016"/>
            <a:ext cx="306415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23%</a:t>
            </a:r>
            <a:pPr indent="0" marL="0">
              <a:buNone/>
            </a:pPr>
            <a:r>
              <a:rPr lang="en-US" sz="1050" dirty="0">
                <a:solidFill>
                  <a:srgbClr val="AAB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captured</a:t>
            </a:r>
            <a:endParaRPr lang="en-US" sz="2400" dirty="0"/>
          </a:p>
        </p:txBody>
      </p:sp>
      <p:sp>
        <p:nvSpPr>
          <p:cNvPr id="13" name="Text 11"/>
          <p:cNvSpPr txBox="1"/>
          <p:nvPr/>
        </p:nvSpPr>
        <p:spPr>
          <a:xfrm>
            <a:off x="4563770" y="2871216"/>
            <a:ext cx="3064154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sweet spot: enough spend for the number to matter, no dedicated FinOps team to defend the status quo.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4563770" y="3840480"/>
            <a:ext cx="306415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b="1" dirty="0">
                <a:solidFill>
                  <a:srgbClr val="0E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here. Two pilots prove the motion on real numbers.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8048549" y="2029968"/>
            <a:ext cx="3576218" cy="2304288"/>
          </a:xfrm>
          <a:prstGeom prst="roundRect">
            <a:avLst>
              <a:gd name="adj" fmla="val 2778"/>
            </a:avLst>
          </a:prstGeom>
          <a:solidFill>
            <a:srgbClr val="19205C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04581" y="2212848"/>
            <a:ext cx="306415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5566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 $10M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8304581" y="2414016"/>
            <a:ext cx="306415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38%</a:t>
            </a:r>
            <a:pPr indent="0" marL="0">
              <a:buNone/>
            </a:pPr>
            <a:r>
              <a:rPr lang="en-US" sz="1050" dirty="0">
                <a:solidFill>
                  <a:srgbClr val="AAB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captured</a:t>
            </a:r>
            <a:endParaRPr lang="en-US" sz="2400" dirty="0"/>
          </a:p>
        </p:txBody>
      </p:sp>
      <p:sp>
        <p:nvSpPr>
          <p:cNvPr id="18" name="Text 16"/>
          <p:cNvSpPr txBox="1"/>
          <p:nvPr/>
        </p:nvSpPr>
        <p:spPr>
          <a:xfrm>
            <a:off x="8304581" y="2871216"/>
            <a:ext cx="3064154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 accounts, biggest absolute savings, hardest sell — they have FinOps and will interrogate every term.</a:t>
            </a:r>
            <a:endParaRPr lang="en-US" sz="1050" dirty="0"/>
          </a:p>
        </p:txBody>
      </p:sp>
      <p:sp>
        <p:nvSpPr>
          <p:cNvPr id="19" name="Text 17"/>
          <p:cNvSpPr txBox="1"/>
          <p:nvPr/>
        </p:nvSpPr>
        <p:spPr>
          <a:xfrm>
            <a:off x="8304581" y="3840480"/>
            <a:ext cx="306415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b="1" dirty="0">
                <a:solidFill>
                  <a:srgbClr val="5566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 last, armed with your own pilot data.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566928" y="4480560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8E9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PLAYS, BY ACCOUNT STATE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566928" y="4718304"/>
            <a:ext cx="3576218" cy="987552"/>
          </a:xfrm>
          <a:prstGeom prst="roundRect">
            <a:avLst>
              <a:gd name="adj" fmla="val 6481"/>
            </a:avLst>
          </a:prstGeom>
          <a:solidFill>
            <a:srgbClr val="141A4F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804672" y="4828032"/>
            <a:ext cx="310073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and stable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804672" y="5084064"/>
            <a:ext cx="310073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Insert at the next QBR. Open with the account's own coverage number, not a product.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4307738" y="4718304"/>
            <a:ext cx="3576218" cy="987552"/>
          </a:xfrm>
          <a:prstGeom prst="roundRect">
            <a:avLst>
              <a:gd name="adj" fmla="val 6481"/>
            </a:avLst>
          </a:prstGeom>
          <a:solidFill>
            <a:srgbClr val="141A4F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545482" y="4828032"/>
            <a:ext cx="310073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onboarding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4545482" y="5084064"/>
            <a:ext cx="310073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 during the listing build — the analysis rides the access the build already needs.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8048549" y="4718304"/>
            <a:ext cx="3576218" cy="987552"/>
          </a:xfrm>
          <a:prstGeom prst="roundRect">
            <a:avLst>
              <a:gd name="adj" fmla="val 6481"/>
            </a:avLst>
          </a:prstGeom>
          <a:solidFill>
            <a:srgbClr val="141A4F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8286293" y="4828032"/>
            <a:ext cx="310073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/ GPU-heavy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8286293" y="5084064"/>
            <a:ext cx="310073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with forecast variance, not the discount — too volatile to commit for a year, let alone three.</a:t>
            </a:r>
            <a:endParaRPr lang="en-US" sz="1050" dirty="0"/>
          </a:p>
        </p:txBody>
      </p:sp>
      <p:sp>
        <p:nvSpPr>
          <p:cNvPr id="30" name="Text 28"/>
          <p:cNvSpPr txBox="1"/>
          <p:nvPr/>
        </p:nvSpPr>
        <p:spPr>
          <a:xfrm>
            <a:off x="566928" y="5815584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i="1" dirty="0">
                <a:solidFill>
                  <a:srgbClr val="5B64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Instrument the motion like marketplace revenue: accounts connected, coverage baseline, savings realised, premium billed, rev-share accrued. The constraint is calendar time and analysis throughput, not lead generation — every account is already a customer. Bands: ProsperOps median Effective Savings Rate by annual AWS compute usage.</a:t>
            </a:r>
            <a:endParaRPr lang="en-US" sz="850" dirty="0"/>
          </a:p>
        </p:txBody>
      </p:sp>
      <p:sp>
        <p:nvSpPr>
          <p:cNvPr id="31" name="Text 29"/>
          <p:cNvSpPr txBox="1"/>
          <p:nvPr/>
        </p:nvSpPr>
        <p:spPr>
          <a:xfrm>
            <a:off x="566928" y="634593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5B64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Archera  ×  Automatum</a:t>
            </a:r>
            <a:endParaRPr lang="en-US" sz="900" dirty="0"/>
          </a:p>
        </p:txBody>
      </p:sp>
      <p:sp>
        <p:nvSpPr>
          <p:cNvPr id="32" name="Text 30"/>
          <p:cNvSpPr txBox="1"/>
          <p:nvPr/>
        </p:nvSpPr>
        <p:spPr>
          <a:xfrm>
            <a:off x="10527487" y="634593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014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6576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60" kern="0" dirty="0">
                <a:solidFill>
                  <a:srgbClr val="5566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CASE 02  ·  THE COMPETITIVE WEDGE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58368"/>
            <a:ext cx="1105783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400"/>
              </a:lnSpc>
              <a:buNone/>
            </a:pPr>
            <a:r>
              <a:rPr lang="en-US" sz="3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the Automatum subscription self-funding.</a:t>
            </a:r>
            <a:endParaRPr lang="en-US" sz="31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335024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Automatum already competes on price — roughly a fifth of what legacy marketplace platforms charge. Archera changes the comparison entirely: the customer's own AWS bill starts paying for the marketplace programme.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66928" y="2304288"/>
            <a:ext cx="5419192" cy="2304288"/>
          </a:xfrm>
          <a:prstGeom prst="roundRect">
            <a:avLst>
              <a:gd name="adj" fmla="val 2778"/>
            </a:avLst>
          </a:prstGeom>
          <a:solidFill>
            <a:srgbClr val="19205C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77824" y="2523744"/>
            <a:ext cx="4797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5B64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PITCH TODAY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877824" y="2816352"/>
            <a:ext cx="479740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3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Marketplace management at a fraction of the incumbents' price.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877824" y="3730752"/>
            <a:ext cx="47974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is a good pitch, and it is still a cost line. A finance team has to approve it against everything else competing for the same budget.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205576" y="2304288"/>
            <a:ext cx="5419192" cy="2304288"/>
          </a:xfrm>
          <a:prstGeom prst="roundRect">
            <a:avLst>
              <a:gd name="adj" fmla="val 2778"/>
            </a:avLst>
          </a:prstGeom>
          <a:solidFill>
            <a:srgbClr val="1E2668"/>
          </a:solidFill>
          <a:ln w="15875">
            <a:solidFill>
              <a:srgbClr val="3B4CC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516472" y="2523744"/>
            <a:ext cx="4797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5566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PITCH WITH ARCHERA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6516472" y="2816352"/>
            <a:ext cx="479740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3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Marketplace management that returns tens of thousands a year.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6516472" y="3730752"/>
            <a:ext cx="47974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subscription, argued from the customer's own billing data. The question moves from “can we afford this?” to “why haven’t we done this already?”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66928" y="4791456"/>
            <a:ext cx="11057839" cy="1005840"/>
          </a:xfrm>
          <a:prstGeom prst="roundRect">
            <a:avLst>
              <a:gd name="adj" fmla="val 6364"/>
            </a:avLst>
          </a:prstGeom>
          <a:solidFill>
            <a:srgbClr val="141A4F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77824" y="4937760"/>
            <a:ext cx="10436047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also changes what churn looks like. </a:t>
            </a:r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subscription that visibly returns more than it costs is not a line item anyone hunts for in a cost-cutting review — and the coverage stops renewing the moment the platform disconnects.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566928" y="6053328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i="1" dirty="0">
                <a:solidFill>
                  <a:srgbClr val="5B64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Pricing comparison per Automatum's published positioning against legacy marketplace platforms. Savings figures per the worked example on slide 7.</a:t>
            </a:r>
            <a:endParaRPr lang="en-US" sz="850" dirty="0"/>
          </a:p>
        </p:txBody>
      </p:sp>
      <p:sp>
        <p:nvSpPr>
          <p:cNvPr id="16" name="Text 14"/>
          <p:cNvSpPr txBox="1"/>
          <p:nvPr/>
        </p:nvSpPr>
        <p:spPr>
          <a:xfrm>
            <a:off x="566928" y="634593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5B64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Archera  ×  Automatum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10527487" y="634593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014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6576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60" kern="0" dirty="0">
                <a:solidFill>
                  <a:srgbClr val="5566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CASE 03  ·  ASSESSMENTS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58368"/>
            <a:ext cx="1105783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400"/>
              </a:lnSpc>
              <a:buNone/>
            </a:pPr>
            <a:r>
              <a:rPr lang="en-US" sz="3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 the FTR gate faster.</a:t>
            </a:r>
            <a:endParaRPr lang="en-US" sz="31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335024"/>
            <a:ext cx="9692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Foundational Technical Review gates ISV Accelerate and co-sell. Archera auto-populates it from the live environment and writes the results back into the native AWS Well-Architected Tool.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66928" y="2139696"/>
            <a:ext cx="3621024" cy="1389888"/>
          </a:xfrm>
          <a:prstGeom prst="roundRect">
            <a:avLst>
              <a:gd name="adj" fmla="val 4605"/>
            </a:avLst>
          </a:prstGeom>
          <a:solidFill>
            <a:srgbClr val="19205C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230428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Auto-populate the review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615184"/>
            <a:ext cx="310896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 the account and the framework fills itself in. No manual data gathering, no questionnaire chase.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52544" y="2139696"/>
            <a:ext cx="3621024" cy="1389888"/>
          </a:xfrm>
          <a:prstGeom prst="roundRect">
            <a:avLst>
              <a:gd name="adj" fmla="val 4605"/>
            </a:avLst>
          </a:prstGeom>
          <a:solidFill>
            <a:srgbClr val="19205C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608576" y="230428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 the whole framework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4608576" y="2615184"/>
            <a:ext cx="310896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WAFR, industry and technology Lenses, and the FTR itself.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66928" y="3694176"/>
            <a:ext cx="3621024" cy="1389888"/>
          </a:xfrm>
          <a:prstGeom prst="roundRect">
            <a:avLst>
              <a:gd name="adj" fmla="val 4605"/>
            </a:avLst>
          </a:prstGeom>
          <a:solidFill>
            <a:srgbClr val="19205C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22960" y="385876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back to the AWS tooling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822960" y="4169664"/>
            <a:ext cx="310896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land in the native AWS Well-Architected Tool, where AWS expects to find them.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352544" y="3694176"/>
            <a:ext cx="3621024" cy="1389888"/>
          </a:xfrm>
          <a:prstGeom prst="roundRect">
            <a:avLst>
              <a:gd name="adj" fmla="val 4605"/>
            </a:avLst>
          </a:prstGeom>
          <a:solidFill>
            <a:srgbClr val="19205C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608576" y="385876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it current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4608576" y="4169664"/>
            <a:ext cx="310896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best-practice adoption, flag regressions, assign remediation, and keep an audit history.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8229600" y="2139696"/>
            <a:ext cx="3395167" cy="2944368"/>
          </a:xfrm>
          <a:prstGeom prst="roundRect">
            <a:avLst>
              <a:gd name="adj" fmla="val 2174"/>
            </a:avLst>
          </a:prstGeom>
          <a:solidFill>
            <a:srgbClr val="1E2668"/>
          </a:solidFill>
          <a:ln w="13970">
            <a:solidFill>
              <a:srgbClr val="3B4CC0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503920" y="2359152"/>
            <a:ext cx="284652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19C6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900" dirty="0"/>
          </a:p>
        </p:txBody>
      </p:sp>
      <p:sp>
        <p:nvSpPr>
          <p:cNvPr id="19" name="Text 17"/>
          <p:cNvSpPr txBox="1"/>
          <p:nvPr/>
        </p:nvSpPr>
        <p:spPr>
          <a:xfrm>
            <a:off x="8503920" y="2706624"/>
            <a:ext cx="2846527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fits inside the ~14-day go-live rather than extending it.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8503920" y="3456432"/>
            <a:ext cx="2846527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Completed reviews help unlock AWS credits, assessment-driven discounts and funding programmes for the ISV.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8503920" y="4206240"/>
            <a:ext cx="2846527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more gate Automatum clears for the customer instead of handing back with instructions.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566928" y="5230368"/>
            <a:ext cx="11057839" cy="841248"/>
          </a:xfrm>
          <a:prstGeom prst="roundRect">
            <a:avLst>
              <a:gd name="adj" fmla="val 7609"/>
            </a:avLst>
          </a:prstGeom>
          <a:solidFill>
            <a:srgbClr val="141A4F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877824" y="5230368"/>
            <a:ext cx="10436047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Worth checking. </a:t>
            </a:r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many of Automatum's 80+ ISVs have a current FTR, and how many stalled on it. That number is the size of this use case, and Automatum is one of the few parties who can actually find out.</a:t>
            </a:r>
            <a:endParaRPr lang="en-US" sz="1250" dirty="0"/>
          </a:p>
        </p:txBody>
      </p:sp>
      <p:sp>
        <p:nvSpPr>
          <p:cNvPr id="24" name="Text 22"/>
          <p:cNvSpPr txBox="1"/>
          <p:nvPr/>
        </p:nvSpPr>
        <p:spPr>
          <a:xfrm>
            <a:off x="566928" y="6163056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i="1" dirty="0">
                <a:solidFill>
                  <a:srgbClr val="5B64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Assessment capabilities per Archera partner materials — confirm current scope, including the credits and funding claims, with Archera.</a:t>
            </a:r>
            <a:endParaRPr lang="en-US" sz="850" dirty="0"/>
          </a:p>
        </p:txBody>
      </p:sp>
      <p:sp>
        <p:nvSpPr>
          <p:cNvPr id="25" name="Text 23"/>
          <p:cNvSpPr txBox="1"/>
          <p:nvPr/>
        </p:nvSpPr>
        <p:spPr>
          <a:xfrm>
            <a:off x="566928" y="634593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5B64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Archera  ×  Automatum</a:t>
            </a:r>
            <a:endParaRPr lang="en-US" sz="900" dirty="0"/>
          </a:p>
        </p:txBody>
      </p:sp>
      <p:sp>
        <p:nvSpPr>
          <p:cNvPr id="26" name="Text 24"/>
          <p:cNvSpPr txBox="1"/>
          <p:nvPr/>
        </p:nvSpPr>
        <p:spPr>
          <a:xfrm>
            <a:off x="10527487" y="634593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014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6576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60" kern="0" dirty="0">
                <a:solidFill>
                  <a:srgbClr val="5566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CASE 04  ·  UNFORECASTABLE SPEND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58368"/>
            <a:ext cx="1105783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400"/>
              </a:lnSpc>
              <a:buNone/>
            </a:pPr>
            <a:r>
              <a:rPr lang="en-US" sz="3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 the spend nobody can forecast.</a:t>
            </a:r>
            <a:endParaRPr lang="en-US" sz="31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335024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Automatum's base skews startup and scaleup SaaS — the segment carrying GPU, training and inference spend with month-to-month variance no one- or three-year term can absorb. Committing it natively means betting a fixed term against a forecast nobody stands behind.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66928" y="2212848"/>
            <a:ext cx="2641016" cy="2011680"/>
          </a:xfrm>
          <a:prstGeom prst="roundRect">
            <a:avLst>
              <a:gd name="adj" fmla="val 3182"/>
            </a:avLst>
          </a:prstGeom>
          <a:solidFill>
            <a:srgbClr val="19205C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2432304"/>
            <a:ext cx="212895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 migrations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3090672"/>
            <a:ext cx="2128952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50"/>
              </a:lnSpc>
              <a:buNone/>
            </a:pPr>
            <a:r>
              <a:rPr lang="en-US" sz="110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Carry workloads mid-move while the team decides what stays.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372536" y="2212848"/>
            <a:ext cx="2641016" cy="2011680"/>
          </a:xfrm>
          <a:prstGeom prst="roundRect">
            <a:avLst>
              <a:gd name="adj" fmla="val 3182"/>
            </a:avLst>
          </a:prstGeom>
          <a:solidFill>
            <a:srgbClr val="19205C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628568" y="2432304"/>
            <a:ext cx="212895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Re-architect freely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3628568" y="3090672"/>
            <a:ext cx="2128952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50"/>
              </a:lnSpc>
              <a:buNone/>
            </a:pPr>
            <a:r>
              <a:rPr lang="en-US" sz="110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Shorter terms plus the release guarantee mean nobody is tied to old infrastructure by a bad commitment.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178144" y="2212848"/>
            <a:ext cx="2641016" cy="2011680"/>
          </a:xfrm>
          <a:prstGeom prst="roundRect">
            <a:avLst>
              <a:gd name="adj" fmla="val 3182"/>
            </a:avLst>
          </a:prstGeom>
          <a:solidFill>
            <a:srgbClr val="19205C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434176" y="2432304"/>
            <a:ext cx="212895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 bursty demand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6434176" y="3090672"/>
            <a:ext cx="2128952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50"/>
              </a:lnSpc>
              <a:buNone/>
            </a:pPr>
            <a:r>
              <a:rPr lang="en-US" sz="110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Commitments sized to the event rather than to the year.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983751" y="2212848"/>
            <a:ext cx="2641016" cy="2011680"/>
          </a:xfrm>
          <a:prstGeom prst="roundRect">
            <a:avLst>
              <a:gd name="adj" fmla="val 3182"/>
            </a:avLst>
          </a:prstGeom>
          <a:solidFill>
            <a:srgbClr val="19205C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239783" y="2432304"/>
            <a:ext cx="212895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 AI workloads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9239783" y="3090672"/>
            <a:ext cx="2128952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50"/>
              </a:lnSpc>
              <a:buNone/>
            </a:pPr>
            <a:r>
              <a:rPr lang="en-US" sz="110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and inference at committed rates, sized to the run — no multi-year bet on a moving baseline.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66928" y="4407408"/>
            <a:ext cx="11057839" cy="1060704"/>
          </a:xfrm>
          <a:prstGeom prst="roundRect">
            <a:avLst>
              <a:gd name="adj" fmla="val 6034"/>
            </a:avLst>
          </a:prstGeom>
          <a:solidFill>
            <a:srgbClr val="1E2668"/>
          </a:solidFill>
          <a:ln w="13970">
            <a:solidFill>
              <a:srgbClr val="F5A623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77824" y="4407408"/>
            <a:ext cx="10436047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spend a customer genuinely cannot commit for a year, the alternative to 28.5% is not 36%. It is 0%.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is the qualifying question for every account: are they buying savings they could not otherwise reach, or paying for an escape hatch they will never use?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566928" y="566928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i="1" dirty="0">
                <a:solidFill>
                  <a:srgbClr val="5B64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Waste rose to 29% of cloud infrastructure spend in Flexera's 2026 State of the Cloud survey — the first increase in five years, attributed to AI workloads. Base-composition skew is a working assumption; confirm from account data.</a:t>
            </a:r>
            <a:endParaRPr lang="en-US" sz="850" dirty="0"/>
          </a:p>
        </p:txBody>
      </p:sp>
      <p:sp>
        <p:nvSpPr>
          <p:cNvPr id="20" name="Text 18"/>
          <p:cNvSpPr txBox="1"/>
          <p:nvPr/>
        </p:nvSpPr>
        <p:spPr>
          <a:xfrm>
            <a:off x="566928" y="634593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5B64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Archera  ×  Automatum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10527487" y="634593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014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6576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60" kern="0" dirty="0">
                <a:solidFill>
                  <a:srgbClr val="5566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CASE 05  ·  REVENUE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58368"/>
            <a:ext cx="1105783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400"/>
              </a:lnSpc>
              <a:buNone/>
            </a:pPr>
            <a:r>
              <a:rPr lang="en-US" sz="3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a recurring revenue line.</a:t>
            </a:r>
            <a:endParaRPr lang="en-US" sz="31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335024"/>
            <a:ext cx="8961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distributor agreement offers two postures — and the recurring revenue line this deck argues for requires the second.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66928" y="1920240"/>
            <a:ext cx="5419192" cy="2926080"/>
          </a:xfrm>
          <a:prstGeom prst="roundRect">
            <a:avLst>
              <a:gd name="adj" fmla="val 2188"/>
            </a:avLst>
          </a:prstGeom>
          <a:solidFill>
            <a:srgbClr val="19205C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77824" y="2139696"/>
            <a:ext cx="4797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0E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REFERRAL TIER</a:t>
            </a:r>
            <a:endParaRPr 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877824" y="2395728"/>
            <a:ext cx="4797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one-time bonus, not a revenue line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896112" y="3127248"/>
            <a:ext cx="137160" cy="137160"/>
          </a:xfrm>
          <a:prstGeom prst="ellipse">
            <a:avLst/>
          </a:prstGeom>
          <a:solidFill>
            <a:srgbClr val="0E93AE"/>
          </a:solidFill>
          <a:ln w="3175">
            <a:solidFill>
              <a:srgbClr val="0E93A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188720" y="2980944"/>
            <a:ext cx="448650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50"/>
              </a:lnSpc>
              <a:buNone/>
            </a:pPr>
            <a:r>
              <a:rPr lang="en-US" sz="11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Automatum registers the lead; Archera runs the sale, onboarding and support.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896112" y="3730752"/>
            <a:ext cx="137160" cy="137160"/>
          </a:xfrm>
          <a:prstGeom prst="ellipse">
            <a:avLst/>
          </a:prstGeom>
          <a:solidFill>
            <a:srgbClr val="0E93AE"/>
          </a:solidFill>
          <a:ln w="3175">
            <a:solidFill>
              <a:srgbClr val="0E93AE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188720" y="3584448"/>
            <a:ext cx="448650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50"/>
              </a:lnSpc>
              <a:buNone/>
            </a:pPr>
            <a:r>
              <a:rPr lang="en-US" sz="11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Pays a one-off bonus of the first month's MRR — nothing recurring.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896112" y="4334256"/>
            <a:ext cx="137160" cy="137160"/>
          </a:xfrm>
          <a:prstGeom prst="ellipse">
            <a:avLst/>
          </a:prstGeom>
          <a:solidFill>
            <a:srgbClr val="0E93AE"/>
          </a:solidFill>
          <a:ln w="3175">
            <a:solidFill>
              <a:srgbClr val="0E93AE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188720" y="4187952"/>
            <a:ext cx="448650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50"/>
              </a:lnSpc>
              <a:buNone/>
            </a:pPr>
            <a:r>
              <a:rPr lang="en-US" sz="11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Fine for the odd out-of-scope account. It is not the line this deck argues for.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205576" y="1920240"/>
            <a:ext cx="5419192" cy="2926080"/>
          </a:xfrm>
          <a:prstGeom prst="roundRect">
            <a:avLst>
              <a:gd name="adj" fmla="val 2188"/>
            </a:avLst>
          </a:prstGeom>
          <a:solidFill>
            <a:srgbClr val="1E2668"/>
          </a:solidFill>
          <a:ln w="15875">
            <a:solidFill>
              <a:srgbClr val="3B4CC0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516472" y="2139696"/>
            <a:ext cx="4797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5566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CO-SELLER TIER</a:t>
            </a:r>
            <a:endParaRPr lang="en-US" sz="950" dirty="0"/>
          </a:p>
        </p:txBody>
      </p:sp>
      <p:sp>
        <p:nvSpPr>
          <p:cNvPr id="16" name="Text 14"/>
          <p:cNvSpPr txBox="1"/>
          <p:nvPr/>
        </p:nvSpPr>
        <p:spPr>
          <a:xfrm>
            <a:off x="6516472" y="2395728"/>
            <a:ext cx="4797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20–30% recurring, rising with the book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6516472" y="2852928"/>
            <a:ext cx="4797400" cy="457200"/>
          </a:xfrm>
          <a:prstGeom prst="roundRect">
            <a:avLst>
              <a:gd name="adj" fmla="val 12000"/>
            </a:avLst>
          </a:prstGeom>
          <a:solidFill>
            <a:srgbClr val="141A4F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681064" y="2852928"/>
            <a:ext cx="44682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BRONZE  20%</a:t>
            </a:r>
            <a:pPr indent="0" marL="0">
              <a:buNone/>
            </a:pPr>
            <a:r>
              <a:rPr lang="en-US" sz="950" dirty="0">
                <a:solidFill>
                  <a:srgbClr val="AAB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under $100K MRR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6681064" y="2852928"/>
            <a:ext cx="43036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i="1" dirty="0">
                <a:solidFill>
                  <a:srgbClr val="8E9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conservative ~$48K MRR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6516472" y="3401568"/>
            <a:ext cx="4797400" cy="457200"/>
          </a:xfrm>
          <a:prstGeom prst="roundRect">
            <a:avLst>
              <a:gd name="adj" fmla="val 12000"/>
            </a:avLst>
          </a:prstGeom>
          <a:solidFill>
            <a:srgbClr val="3B4CC0"/>
          </a:solidFill>
          <a:ln w="12700">
            <a:solidFill>
              <a:srgbClr val="5566D8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681064" y="3401568"/>
            <a:ext cx="44682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SILVER  25%</a:t>
            </a:r>
            <a:pPr indent="0" marL="0">
              <a:buNone/>
            </a:pPr>
            <a:r>
              <a:rPr lang="en-US" sz="950" dirty="0">
                <a:solidFill>
                  <a:srgbClr val="C4CB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under $500K</a:t>
            </a:r>
            <a:endParaRPr lang="en-US" sz="1150" dirty="0"/>
          </a:p>
        </p:txBody>
      </p:sp>
      <p:sp>
        <p:nvSpPr>
          <p:cNvPr id="22" name="Text 20"/>
          <p:cNvSpPr txBox="1"/>
          <p:nvPr/>
        </p:nvSpPr>
        <p:spPr>
          <a:xfrm>
            <a:off x="6681064" y="3401568"/>
            <a:ext cx="43036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i="1" dirty="0">
                <a:solidFill>
                  <a:srgbClr val="C4CB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~$119K · optimistic ~$238K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6516472" y="3950208"/>
            <a:ext cx="4797400" cy="457200"/>
          </a:xfrm>
          <a:prstGeom prst="roundRect">
            <a:avLst>
              <a:gd name="adj" fmla="val 12000"/>
            </a:avLst>
          </a:prstGeom>
          <a:solidFill>
            <a:srgbClr val="141A4F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681064" y="3950208"/>
            <a:ext cx="44682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  30%</a:t>
            </a:r>
            <a:pPr indent="0" marL="0">
              <a:buNone/>
            </a:pPr>
            <a:r>
              <a:rPr lang="en-US" sz="950" dirty="0">
                <a:solidFill>
                  <a:srgbClr val="AAB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$1M+ MRR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6681064" y="3950208"/>
            <a:ext cx="43036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i="1" dirty="0">
                <a:solidFill>
                  <a:srgbClr val="8E9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multi-year ambition</a:t>
            </a:r>
            <a:endParaRPr lang="en-US" sz="850" dirty="0"/>
          </a:p>
        </p:txBody>
      </p:sp>
      <p:sp>
        <p:nvSpPr>
          <p:cNvPr id="26" name="Text 24"/>
          <p:cNvSpPr txBox="1"/>
          <p:nvPr/>
        </p:nvSpPr>
        <p:spPr>
          <a:xfrm>
            <a:off x="6516472" y="4535424"/>
            <a:ext cx="4797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Automatum runs the motion with joint GTM support; Archera provides Tier-2 support.</a:t>
            </a:r>
            <a:endParaRPr lang="en-US" sz="1000" dirty="0"/>
          </a:p>
        </p:txBody>
      </p:sp>
      <p:sp>
        <p:nvSpPr>
          <p:cNvPr id="27" name="Text 25"/>
          <p:cNvSpPr txBox="1"/>
          <p:nvPr/>
        </p:nvSpPr>
        <p:spPr>
          <a:xfrm>
            <a:off x="566928" y="6089904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i="1" dirty="0">
                <a:solidFill>
                  <a:srgbClr val="5B64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 bands measured on commitment MRR — Archera's GRI/GSP (Guaranteed RI and Savings Plan) revenue across the partner's book. Scenario placements per the slide 6 model (premium pool ÷ 12).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566928" y="5010912"/>
            <a:ext cx="11057839" cy="969264"/>
          </a:xfrm>
          <a:prstGeom prst="roundRect">
            <a:avLst>
              <a:gd name="adj" fmla="val 6604"/>
            </a:avLst>
          </a:prstGeom>
          <a:solidFill>
            <a:srgbClr val="141A4F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877824" y="5010912"/>
            <a:ext cx="10436047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Timely angle. </a:t>
            </a:r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AWS's 2025 policy ends the sharing of Reserved Instances and Savings Plans across customers. Archera offers a compliant model plus a net-new revenue stream — directly relevant to any consolidated-billing or managed accounts Automatum operates.</a:t>
            </a:r>
            <a:endParaRPr lang="en-US" sz="1250" dirty="0"/>
          </a:p>
        </p:txBody>
      </p:sp>
      <p:sp>
        <p:nvSpPr>
          <p:cNvPr id="30" name="Text 28"/>
          <p:cNvSpPr txBox="1"/>
          <p:nvPr/>
        </p:nvSpPr>
        <p:spPr>
          <a:xfrm>
            <a:off x="566928" y="634593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5B64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Archera  ×  Automatum</a:t>
            </a:r>
            <a:endParaRPr lang="en-US" sz="900" dirty="0"/>
          </a:p>
        </p:txBody>
      </p:sp>
      <p:sp>
        <p:nvSpPr>
          <p:cNvPr id="31" name="Text 29"/>
          <p:cNvSpPr txBox="1"/>
          <p:nvPr/>
        </p:nvSpPr>
        <p:spPr>
          <a:xfrm>
            <a:off x="10527487" y="634593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014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6576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60" kern="0" dirty="0">
                <a:solidFill>
                  <a:srgbClr val="5566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CASE 05  ·  THE RAILS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58368"/>
            <a:ext cx="1105783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400"/>
              </a:lnSpc>
              <a:buNone/>
            </a:pPr>
            <a:r>
              <a:rPr lang="en-US" sz="3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the money moves.</a:t>
            </a:r>
            <a:endParaRPr lang="en-US" sz="31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335024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premium is metered, marketplace-billed, and channel-shared — the same rails Automatum already reconciles.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66928" y="2029968"/>
            <a:ext cx="6903720" cy="548640"/>
          </a:xfrm>
          <a:prstGeom prst="roundRect">
            <a:avLst>
              <a:gd name="adj" fmla="val 11667"/>
            </a:avLst>
          </a:prstGeom>
          <a:solidFill>
            <a:srgbClr val="19205C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2157984"/>
            <a:ext cx="292608" cy="292608"/>
          </a:xfrm>
          <a:prstGeom prst="ellipse">
            <a:avLst/>
          </a:prstGeom>
          <a:solidFill>
            <a:srgbClr val="3B4CC0"/>
          </a:solidFill>
          <a:ln w="9525">
            <a:solidFill>
              <a:srgbClr val="5566D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49808" y="215798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1188720" y="2084832"/>
            <a:ext cx="3246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Archera's Marketplace listing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4498848" y="2084832"/>
            <a:ext cx="2788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SaaS listing the private offer is issued against.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566928" y="2670048"/>
            <a:ext cx="6903720" cy="548640"/>
          </a:xfrm>
          <a:prstGeom prst="roundRect">
            <a:avLst>
              <a:gd name="adj" fmla="val 11667"/>
            </a:avLst>
          </a:prstGeom>
          <a:solidFill>
            <a:srgbClr val="19205C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49808" y="2798064"/>
            <a:ext cx="292608" cy="292608"/>
          </a:xfrm>
          <a:prstGeom prst="ellipse">
            <a:avLst/>
          </a:prstGeom>
          <a:solidFill>
            <a:srgbClr val="3B4CC0"/>
          </a:solidFill>
          <a:ln w="9525">
            <a:solidFill>
              <a:srgbClr val="5566D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49808" y="279806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1188720" y="2724912"/>
            <a:ext cx="3246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CPPO, Automatum as channel partner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4498848" y="2724912"/>
            <a:ext cx="2788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offer carries Automatum's margin as the channel partner of record.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566928" y="3310128"/>
            <a:ext cx="6903720" cy="548640"/>
          </a:xfrm>
          <a:prstGeom prst="roundRect">
            <a:avLst>
              <a:gd name="adj" fmla="val 11667"/>
            </a:avLst>
          </a:prstGeom>
          <a:solidFill>
            <a:srgbClr val="19205C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49808" y="3438144"/>
            <a:ext cx="292608" cy="292608"/>
          </a:xfrm>
          <a:prstGeom prst="ellipse">
            <a:avLst/>
          </a:prstGeom>
          <a:solidFill>
            <a:srgbClr val="3B4CC0"/>
          </a:solidFill>
          <a:ln w="9525">
            <a:solidFill>
              <a:srgbClr val="5566D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49808" y="343814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1188720" y="3364992"/>
            <a:ext cx="3246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ISV accepts on their own account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4498848" y="3364992"/>
            <a:ext cx="2788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click on the private offer; onboarded via the Archera Partner Portal.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566928" y="3950208"/>
            <a:ext cx="6903720" cy="548640"/>
          </a:xfrm>
          <a:prstGeom prst="roundRect">
            <a:avLst>
              <a:gd name="adj" fmla="val 11667"/>
            </a:avLst>
          </a:prstGeom>
          <a:solidFill>
            <a:srgbClr val="19205C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49808" y="4078224"/>
            <a:ext cx="292608" cy="292608"/>
          </a:xfrm>
          <a:prstGeom prst="ellipse">
            <a:avLst/>
          </a:prstGeom>
          <a:solidFill>
            <a:srgbClr val="3B4CC0"/>
          </a:solidFill>
          <a:ln w="9525">
            <a:solidFill>
              <a:srgbClr val="5566D8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49808" y="407822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1188720" y="4005072"/>
            <a:ext cx="3246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Premium meters monthly on savings realised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4498848" y="4005072"/>
            <a:ext cx="2788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Variable, not a flat subscription — the no-savings-no-fee mechanic, metered.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566928" y="4590288"/>
            <a:ext cx="6903720" cy="548640"/>
          </a:xfrm>
          <a:prstGeom prst="roundRect">
            <a:avLst>
              <a:gd name="adj" fmla="val 11667"/>
            </a:avLst>
          </a:prstGeom>
          <a:solidFill>
            <a:srgbClr val="19205C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49808" y="4718304"/>
            <a:ext cx="292608" cy="292608"/>
          </a:xfrm>
          <a:prstGeom prst="ellipse">
            <a:avLst/>
          </a:prstGeom>
          <a:solidFill>
            <a:srgbClr val="3B4CC0"/>
          </a:solidFill>
          <a:ln w="9525">
            <a:solidFill>
              <a:srgbClr val="5566D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749808" y="471830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1188720" y="4645152"/>
            <a:ext cx="3246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Billed on the AWS invoice · draws down EDP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4498848" y="4645152"/>
            <a:ext cx="2788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disburses; Automatum's share arrives through its existing disbursement channel.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7726680" y="2029968"/>
            <a:ext cx="3898087" cy="1572768"/>
          </a:xfrm>
          <a:prstGeom prst="roundRect">
            <a:avLst>
              <a:gd name="adj" fmla="val 4070"/>
            </a:avLst>
          </a:prstGeom>
          <a:solidFill>
            <a:srgbClr val="1E2668"/>
          </a:solidFill>
          <a:ln w="13970">
            <a:solidFill>
              <a:srgbClr val="3B4CC0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7964424" y="2212848"/>
            <a:ext cx="342259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19C6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AUTOMATUM STANDS UP</a:t>
            </a:r>
            <a:endParaRPr lang="en-US" sz="850" dirty="0"/>
          </a:p>
        </p:txBody>
      </p:sp>
      <p:sp>
        <p:nvSpPr>
          <p:cNvPr id="32" name="Text 30"/>
          <p:cNvSpPr txBox="1"/>
          <p:nvPr/>
        </p:nvSpPr>
        <p:spPr>
          <a:xfrm>
            <a:off x="7964424" y="2450592"/>
            <a:ext cx="3422599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Channel-partner registration against Archera's listing, an offer template, and metering reconciliation in the existing rhythm. No new billing system.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7726680" y="3749040"/>
            <a:ext cx="3898087" cy="1389888"/>
          </a:xfrm>
          <a:prstGeom prst="roundRect">
            <a:avLst>
              <a:gd name="adj" fmla="val 4605"/>
            </a:avLst>
          </a:prstGeom>
          <a:solidFill>
            <a:srgbClr val="19205C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7964424" y="3913632"/>
            <a:ext cx="342259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TERMS, PER THE AGREEMENT</a:t>
            </a:r>
            <a:endParaRPr lang="en-US" sz="850" dirty="0"/>
          </a:p>
        </p:txBody>
      </p:sp>
      <p:sp>
        <p:nvSpPr>
          <p:cNvPr id="35" name="Text 33"/>
          <p:cNvSpPr txBox="1"/>
          <p:nvPr/>
        </p:nvSpPr>
        <p:spPr>
          <a:xfrm>
            <a:off x="7964424" y="4133088"/>
            <a:ext cx="3422599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9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20–30% tiered rev-share on marketplace net revenue, paid monthly and reported in the Partner Portal. Rev-share applies to net-new entities only — Archera checks each against its existing book. Still open: execution, the starting tier, and the joint GTM plan.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566928" y="5303520"/>
            <a:ext cx="11057839" cy="603504"/>
          </a:xfrm>
          <a:prstGeom prst="roundRect">
            <a:avLst>
              <a:gd name="adj" fmla="val 10606"/>
            </a:avLst>
          </a:prstGeom>
          <a:solidFill>
            <a:srgbClr val="141A4F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877824" y="5303520"/>
            <a:ext cx="1043604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Rev-share counts net-new Archera customers only. </a:t>
            </a:r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ISV Archera signs directly first is permanently off Automatum's rev-share — the strongest argument for moving first. For the ISV, the charge is simply marketplace spend on the AWS invoice.</a:t>
            </a:r>
            <a:endParaRPr lang="en-US" sz="1200" dirty="0"/>
          </a:p>
        </p:txBody>
      </p:sp>
      <p:sp>
        <p:nvSpPr>
          <p:cNvPr id="38" name="Text 36"/>
          <p:cNvSpPr txBox="1"/>
          <p:nvPr/>
        </p:nvSpPr>
        <p:spPr>
          <a:xfrm>
            <a:off x="566928" y="5998464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i="1" dirty="0">
                <a:solidFill>
                  <a:srgbClr val="5B64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Terms per Archera's Distributor Partner Agreement template (Appendix A) — unsigned, so everything here is subject to execution. Azure and GCP channel private offers are approved routes under the same agreement.</a:t>
            </a:r>
            <a:endParaRPr lang="en-US" sz="850" dirty="0"/>
          </a:p>
        </p:txBody>
      </p:sp>
      <p:sp>
        <p:nvSpPr>
          <p:cNvPr id="39" name="Text 37"/>
          <p:cNvSpPr txBox="1"/>
          <p:nvPr/>
        </p:nvSpPr>
        <p:spPr>
          <a:xfrm>
            <a:off x="566928" y="634593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5B64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Archera  ×  Automatum</a:t>
            </a:r>
            <a:endParaRPr lang="en-US" sz="900" dirty="0"/>
          </a:p>
        </p:txBody>
      </p:sp>
      <p:sp>
        <p:nvSpPr>
          <p:cNvPr id="40" name="Text 38"/>
          <p:cNvSpPr txBox="1"/>
          <p:nvPr/>
        </p:nvSpPr>
        <p:spPr>
          <a:xfrm>
            <a:off x="10527487" y="634593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41A4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6576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60" kern="0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FIVE  ·  THE RECKONING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58368"/>
            <a:ext cx="1105783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400"/>
              </a:lnSpc>
              <a:buNone/>
            </a:pPr>
            <a:r>
              <a:rPr lang="en-US" sz="3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already works at this scale.</a:t>
            </a:r>
            <a:endParaRPr lang="en-US" sz="31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298448"/>
            <a:ext cx="9692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realised savings — actual bill reduction after Archera's premium — measured over a recent full month from live platform data, across five enterprises on three clouds.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66928" y="1975104"/>
            <a:ext cx="2641016" cy="877824"/>
          </a:xfrm>
          <a:prstGeom prst="roundRect">
            <a:avLst>
              <a:gd name="adj" fmla="val 7292"/>
            </a:avLst>
          </a:prstGeom>
          <a:solidFill>
            <a:srgbClr val="19205C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86384" y="2066544"/>
            <a:ext cx="220210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5566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~$20.2M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786384" y="2468880"/>
            <a:ext cx="22021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AB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annualised net savings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3372536" y="1975104"/>
            <a:ext cx="2641016" cy="877824"/>
          </a:xfrm>
          <a:prstGeom prst="roundRect">
            <a:avLst>
              <a:gd name="adj" fmla="val 7292"/>
            </a:avLst>
          </a:prstGeom>
          <a:solidFill>
            <a:srgbClr val="19205C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591992" y="2066544"/>
            <a:ext cx="220210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5566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~37%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3591992" y="2468880"/>
            <a:ext cx="22021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AB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 the reservable base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178144" y="1975104"/>
            <a:ext cx="2641016" cy="877824"/>
          </a:xfrm>
          <a:prstGeom prst="roundRect">
            <a:avLst>
              <a:gd name="adj" fmla="val 7292"/>
            </a:avLst>
          </a:prstGeom>
          <a:solidFill>
            <a:srgbClr val="19205C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397600" y="2066544"/>
            <a:ext cx="220210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5566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93–100%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6397600" y="2468880"/>
            <a:ext cx="22021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AB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commitment utilisation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8983751" y="1975104"/>
            <a:ext cx="2641016" cy="877824"/>
          </a:xfrm>
          <a:prstGeom prst="roundRect">
            <a:avLst>
              <a:gd name="adj" fmla="val 7292"/>
            </a:avLst>
          </a:prstGeom>
          <a:solidFill>
            <a:srgbClr val="19205C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203207" y="2066544"/>
            <a:ext cx="220210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5566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clouds</a:t>
            </a:r>
            <a:endParaRPr lang="en-US" sz="2200" dirty="0"/>
          </a:p>
        </p:txBody>
      </p:sp>
      <p:sp>
        <p:nvSpPr>
          <p:cNvPr id="16" name="Text 14"/>
          <p:cNvSpPr txBox="1"/>
          <p:nvPr/>
        </p:nvSpPr>
        <p:spPr>
          <a:xfrm>
            <a:off x="9203207" y="2468880"/>
            <a:ext cx="22021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AB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· Azure · GCP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566928" y="3054096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8E9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 (BY VERTICAL)</a:t>
            </a:r>
            <a:endParaRPr lang="en-US" sz="850" dirty="0"/>
          </a:p>
        </p:txBody>
      </p:sp>
      <p:sp>
        <p:nvSpPr>
          <p:cNvPr id="18" name="Text 16"/>
          <p:cNvSpPr txBox="1"/>
          <p:nvPr/>
        </p:nvSpPr>
        <p:spPr>
          <a:xfrm>
            <a:off x="3584448" y="3054096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8E9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CLOUDS</a:t>
            </a:r>
            <a:endParaRPr lang="en-US" sz="850" dirty="0"/>
          </a:p>
        </p:txBody>
      </p:sp>
      <p:sp>
        <p:nvSpPr>
          <p:cNvPr id="19" name="Text 17"/>
          <p:cNvSpPr txBox="1"/>
          <p:nvPr/>
        </p:nvSpPr>
        <p:spPr>
          <a:xfrm>
            <a:off x="5184648" y="3054096"/>
            <a:ext cx="1508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00" kern="0" dirty="0">
                <a:solidFill>
                  <a:srgbClr val="8E9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SAVINGS / MO</a:t>
            </a:r>
            <a:endParaRPr lang="en-US" sz="850" dirty="0"/>
          </a:p>
        </p:txBody>
      </p:sp>
      <p:sp>
        <p:nvSpPr>
          <p:cNvPr id="20" name="Text 18"/>
          <p:cNvSpPr txBox="1"/>
          <p:nvPr/>
        </p:nvSpPr>
        <p:spPr>
          <a:xfrm>
            <a:off x="6784848" y="3054096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00" kern="0" dirty="0">
                <a:solidFill>
                  <a:srgbClr val="8E9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BASE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566928" y="3291840"/>
            <a:ext cx="7223760" cy="10973"/>
          </a:xfrm>
          <a:prstGeom prst="rect">
            <a:avLst/>
          </a:prstGeom>
          <a:solidFill>
            <a:srgbClr val="3D4569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566928" y="3383280"/>
            <a:ext cx="2971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4CB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infrastructure / DevOps SaaS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3584448" y="3383280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AB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· Azure · GCP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5184648" y="3383280"/>
            <a:ext cx="1508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$1,098,000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6784848" y="3383280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19C6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42%</a:t>
            </a:r>
            <a:endParaRPr lang="en-US" sz="1150" dirty="0"/>
          </a:p>
        </p:txBody>
      </p:sp>
      <p:sp>
        <p:nvSpPr>
          <p:cNvPr id="26" name="Text 24"/>
          <p:cNvSpPr txBox="1"/>
          <p:nvPr/>
        </p:nvSpPr>
        <p:spPr>
          <a:xfrm>
            <a:off x="566928" y="3840480"/>
            <a:ext cx="2971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4CB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&amp; analytics SaaS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3584448" y="3840480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AB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</a:t>
            </a:r>
            <a:endParaRPr lang="en-US" sz="1000" dirty="0"/>
          </a:p>
        </p:txBody>
      </p:sp>
      <p:sp>
        <p:nvSpPr>
          <p:cNvPr id="28" name="Text 26"/>
          <p:cNvSpPr txBox="1"/>
          <p:nvPr/>
        </p:nvSpPr>
        <p:spPr>
          <a:xfrm>
            <a:off x="5184648" y="3840480"/>
            <a:ext cx="1508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$209,800</a:t>
            </a:r>
            <a:endParaRPr lang="en-US" sz="1150" dirty="0"/>
          </a:p>
        </p:txBody>
      </p:sp>
      <p:sp>
        <p:nvSpPr>
          <p:cNvPr id="29" name="Text 27"/>
          <p:cNvSpPr txBox="1"/>
          <p:nvPr/>
        </p:nvSpPr>
        <p:spPr>
          <a:xfrm>
            <a:off x="6784848" y="3840480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19C6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28%</a:t>
            </a:r>
            <a:endParaRPr lang="en-US" sz="1150" dirty="0"/>
          </a:p>
        </p:txBody>
      </p:sp>
      <p:sp>
        <p:nvSpPr>
          <p:cNvPr id="30" name="Text 28"/>
          <p:cNvSpPr txBox="1"/>
          <p:nvPr/>
        </p:nvSpPr>
        <p:spPr>
          <a:xfrm>
            <a:off x="566928" y="4297680"/>
            <a:ext cx="2971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4CB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Vertical-market ERP SaaS</a:t>
            </a:r>
            <a:endParaRPr lang="en-US" sz="1100" dirty="0"/>
          </a:p>
        </p:txBody>
      </p:sp>
      <p:sp>
        <p:nvSpPr>
          <p:cNvPr id="31" name="Text 29"/>
          <p:cNvSpPr txBox="1"/>
          <p:nvPr/>
        </p:nvSpPr>
        <p:spPr>
          <a:xfrm>
            <a:off x="3584448" y="4297680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AB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· Azure · GCP</a:t>
            </a:r>
            <a:endParaRPr lang="en-US" sz="1000" dirty="0"/>
          </a:p>
        </p:txBody>
      </p:sp>
      <p:sp>
        <p:nvSpPr>
          <p:cNvPr id="32" name="Text 30"/>
          <p:cNvSpPr txBox="1"/>
          <p:nvPr/>
        </p:nvSpPr>
        <p:spPr>
          <a:xfrm>
            <a:off x="5184648" y="4297680"/>
            <a:ext cx="1508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$164,600</a:t>
            </a:r>
            <a:endParaRPr lang="en-US" sz="1150" dirty="0"/>
          </a:p>
        </p:txBody>
      </p:sp>
      <p:sp>
        <p:nvSpPr>
          <p:cNvPr id="33" name="Text 31"/>
          <p:cNvSpPr txBox="1"/>
          <p:nvPr/>
        </p:nvSpPr>
        <p:spPr>
          <a:xfrm>
            <a:off x="6784848" y="4297680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19C6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26%</a:t>
            </a:r>
            <a:endParaRPr lang="en-US" sz="1150" dirty="0"/>
          </a:p>
        </p:txBody>
      </p:sp>
      <p:sp>
        <p:nvSpPr>
          <p:cNvPr id="34" name="Text 32"/>
          <p:cNvSpPr txBox="1"/>
          <p:nvPr/>
        </p:nvSpPr>
        <p:spPr>
          <a:xfrm>
            <a:off x="566928" y="4754880"/>
            <a:ext cx="2971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4CB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Building-materials distribution</a:t>
            </a:r>
            <a:endParaRPr lang="en-US" sz="1100" dirty="0"/>
          </a:p>
        </p:txBody>
      </p:sp>
      <p:sp>
        <p:nvSpPr>
          <p:cNvPr id="35" name="Text 33"/>
          <p:cNvSpPr txBox="1"/>
          <p:nvPr/>
        </p:nvSpPr>
        <p:spPr>
          <a:xfrm>
            <a:off x="3584448" y="4754880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AB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</a:t>
            </a:r>
            <a:endParaRPr lang="en-US" sz="1000" dirty="0"/>
          </a:p>
        </p:txBody>
      </p:sp>
      <p:sp>
        <p:nvSpPr>
          <p:cNvPr id="36" name="Text 34"/>
          <p:cNvSpPr txBox="1"/>
          <p:nvPr/>
        </p:nvSpPr>
        <p:spPr>
          <a:xfrm>
            <a:off x="5184648" y="4754880"/>
            <a:ext cx="1508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$150,000</a:t>
            </a:r>
            <a:endParaRPr lang="en-US" sz="1150" dirty="0"/>
          </a:p>
        </p:txBody>
      </p:sp>
      <p:sp>
        <p:nvSpPr>
          <p:cNvPr id="37" name="Text 35"/>
          <p:cNvSpPr txBox="1"/>
          <p:nvPr/>
        </p:nvSpPr>
        <p:spPr>
          <a:xfrm>
            <a:off x="6784848" y="4754880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19C6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61%</a:t>
            </a:r>
            <a:endParaRPr lang="en-US" sz="1150" dirty="0"/>
          </a:p>
        </p:txBody>
      </p:sp>
      <p:sp>
        <p:nvSpPr>
          <p:cNvPr id="38" name="Text 36"/>
          <p:cNvSpPr txBox="1"/>
          <p:nvPr/>
        </p:nvSpPr>
        <p:spPr>
          <a:xfrm>
            <a:off x="566928" y="5212080"/>
            <a:ext cx="2971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4CB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EHS / regulatory-compliance SaaS</a:t>
            </a:r>
            <a:endParaRPr lang="en-US" sz="1100" dirty="0"/>
          </a:p>
        </p:txBody>
      </p:sp>
      <p:sp>
        <p:nvSpPr>
          <p:cNvPr id="39" name="Text 37"/>
          <p:cNvSpPr txBox="1"/>
          <p:nvPr/>
        </p:nvSpPr>
        <p:spPr>
          <a:xfrm>
            <a:off x="3584448" y="5212080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AB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· Azure</a:t>
            </a:r>
            <a:endParaRPr lang="en-US" sz="1000" dirty="0"/>
          </a:p>
        </p:txBody>
      </p:sp>
      <p:sp>
        <p:nvSpPr>
          <p:cNvPr id="40" name="Text 38"/>
          <p:cNvSpPr txBox="1"/>
          <p:nvPr/>
        </p:nvSpPr>
        <p:spPr>
          <a:xfrm>
            <a:off x="5184648" y="5212080"/>
            <a:ext cx="1508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$60,000</a:t>
            </a:r>
            <a:endParaRPr lang="en-US" sz="1150" dirty="0"/>
          </a:p>
        </p:txBody>
      </p:sp>
      <p:sp>
        <p:nvSpPr>
          <p:cNvPr id="41" name="Text 39"/>
          <p:cNvSpPr txBox="1"/>
          <p:nvPr/>
        </p:nvSpPr>
        <p:spPr>
          <a:xfrm>
            <a:off x="6784848" y="5212080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19C6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20%</a:t>
            </a:r>
            <a:endParaRPr lang="en-US" sz="1150" dirty="0"/>
          </a:p>
        </p:txBody>
      </p:sp>
      <p:sp>
        <p:nvSpPr>
          <p:cNvPr id="42" name="Shape 40"/>
          <p:cNvSpPr/>
          <p:nvPr/>
        </p:nvSpPr>
        <p:spPr>
          <a:xfrm>
            <a:off x="8138160" y="3054096"/>
            <a:ext cx="3486607" cy="2615184"/>
          </a:xfrm>
          <a:prstGeom prst="roundRect">
            <a:avLst>
              <a:gd name="adj" fmla="val 2448"/>
            </a:avLst>
          </a:prstGeom>
          <a:solidFill>
            <a:srgbClr val="19205C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8430768" y="3310128"/>
            <a:ext cx="2901391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“Teams no longer have to worry about over-committing or being stuck on the wrong instance types. It’s simplified our FinOps workflows tremendously.”</a:t>
            </a:r>
            <a:endParaRPr lang="en-US" sz="1400" dirty="0"/>
          </a:p>
        </p:txBody>
      </p:sp>
      <p:sp>
        <p:nvSpPr>
          <p:cNvPr id="44" name="Text 42"/>
          <p:cNvSpPr txBox="1"/>
          <p:nvPr/>
        </p:nvSpPr>
        <p:spPr>
          <a:xfrm>
            <a:off x="8430768" y="4882896"/>
            <a:ext cx="2901391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Ashish Gupta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AAB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 of AI Infrastructure, Floyo</a:t>
            </a:r>
            <a:endParaRPr lang="en-US" sz="1150" dirty="0"/>
          </a:p>
        </p:txBody>
      </p:sp>
      <p:sp>
        <p:nvSpPr>
          <p:cNvPr id="45" name="Text 43"/>
          <p:cNvSpPr txBox="1"/>
          <p:nvPr/>
        </p:nvSpPr>
        <p:spPr>
          <a:xfrm>
            <a:off x="566928" y="5815584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i="1" dirty="0">
                <a:solidFill>
                  <a:srgbClr val="5B64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Figures from Archera's customer reference pack, which is marked confidential — confirm clearance with Archera before circulating this deck outside Automatum. All savings are net of Archera's premium and achieved through rate optimisation only: no re-architecting and no workload migration. Anonymised by vertical; a named reference exists in Archera's pack, pending clearance. Quote from Archera's published materials — separate from the five anonymised enterprises.</a:t>
            </a:r>
            <a:endParaRPr lang="en-US" sz="850" dirty="0"/>
          </a:p>
        </p:txBody>
      </p:sp>
      <p:sp>
        <p:nvSpPr>
          <p:cNvPr id="46" name="Text 44"/>
          <p:cNvSpPr txBox="1"/>
          <p:nvPr/>
        </p:nvSpPr>
        <p:spPr>
          <a:xfrm>
            <a:off x="566928" y="634593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5B64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Archera  ×  Automatum</a:t>
            </a:r>
            <a:endParaRPr lang="en-US" sz="900" dirty="0"/>
          </a:p>
        </p:txBody>
      </p:sp>
      <p:sp>
        <p:nvSpPr>
          <p:cNvPr id="47" name="Text 45"/>
          <p:cNvSpPr txBox="1"/>
          <p:nvPr/>
        </p:nvSpPr>
        <p:spPr>
          <a:xfrm>
            <a:off x="10527487" y="634593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014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6576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60" kern="0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FIVE  ·  THE RECKONING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58368"/>
            <a:ext cx="1105783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400"/>
              </a:lnSpc>
              <a:buNone/>
            </a:pPr>
            <a:r>
              <a:rPr lang="en-US" sz="3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it plugs in, and a 90-day plan.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566928" y="1353312"/>
            <a:ext cx="2641016" cy="1115568"/>
          </a:xfrm>
          <a:prstGeom prst="roundRect">
            <a:avLst>
              <a:gd name="adj" fmla="val 5738"/>
            </a:avLst>
          </a:prstGeom>
          <a:solidFill>
            <a:srgbClr val="1E2668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04672" y="1517904"/>
            <a:ext cx="21655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19C6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</a:t>
            </a:r>
            <a:endParaRPr lang="en-US" sz="950" dirty="0"/>
          </a:p>
        </p:txBody>
      </p:sp>
      <p:sp>
        <p:nvSpPr>
          <p:cNvPr id="6" name="Text 4"/>
          <p:cNvSpPr txBox="1"/>
          <p:nvPr/>
        </p:nvSpPr>
        <p:spPr>
          <a:xfrm>
            <a:off x="804672" y="1755648"/>
            <a:ext cx="21655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FTR / Well-Architected in the go-live window — scope to confirm.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3372536" y="1353312"/>
            <a:ext cx="2641016" cy="1115568"/>
          </a:xfrm>
          <a:prstGeom prst="roundRect">
            <a:avLst>
              <a:gd name="adj" fmla="val 5738"/>
            </a:avLst>
          </a:prstGeom>
          <a:solidFill>
            <a:srgbClr val="1E2668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610280" y="1517904"/>
            <a:ext cx="21655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19C6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TRANSACT</a:t>
            </a:r>
            <a:endParaRPr lang="en-US" sz="950" dirty="0"/>
          </a:p>
        </p:txBody>
      </p:sp>
      <p:sp>
        <p:nvSpPr>
          <p:cNvPr id="9" name="Text 7"/>
          <p:cNvSpPr txBox="1"/>
          <p:nvPr/>
        </p:nvSpPr>
        <p:spPr>
          <a:xfrm>
            <a:off x="3610280" y="1755648"/>
            <a:ext cx="21655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Premiums billed through the same CPPO channel as the listing.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6178144" y="1353312"/>
            <a:ext cx="2641016" cy="1115568"/>
          </a:xfrm>
          <a:prstGeom prst="roundRect">
            <a:avLst>
              <a:gd name="adj" fmla="val 5738"/>
            </a:avLst>
          </a:prstGeom>
          <a:solidFill>
            <a:srgbClr val="1E2668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15888" y="1517904"/>
            <a:ext cx="21655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19C6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CO-SELL</a:t>
            </a:r>
            <a:endParaRPr lang="en-US" sz="950" dirty="0"/>
          </a:p>
        </p:txBody>
      </p:sp>
      <p:sp>
        <p:nvSpPr>
          <p:cNvPr id="12" name="Text 10"/>
          <p:cNvSpPr txBox="1"/>
          <p:nvPr/>
        </p:nvSpPr>
        <p:spPr>
          <a:xfrm>
            <a:off x="6415888" y="1755648"/>
            <a:ext cx="21655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Savings data gives AWS sellers a reason to engage the account.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8983751" y="1353312"/>
            <a:ext cx="2641016" cy="1115568"/>
          </a:xfrm>
          <a:prstGeom prst="roundRect">
            <a:avLst>
              <a:gd name="adj" fmla="val 5738"/>
            </a:avLst>
          </a:prstGeom>
          <a:solidFill>
            <a:srgbClr val="1E2668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221495" y="1517904"/>
            <a:ext cx="21655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19C6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</a:t>
            </a:r>
            <a:endParaRPr lang="en-US" sz="950" dirty="0"/>
          </a:p>
        </p:txBody>
      </p:sp>
      <p:sp>
        <p:nvSpPr>
          <p:cNvPr id="15" name="Text 13"/>
          <p:cNvSpPr txBox="1"/>
          <p:nvPr/>
        </p:nvSpPr>
        <p:spPr>
          <a:xfrm>
            <a:off x="9221495" y="1755648"/>
            <a:ext cx="21655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Ongoing visibility, regression alerts and recurring premium revenue.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566928" y="2578608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AAB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install earns its keep at every stage of the motion Automatum already runs.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66928" y="2999232"/>
            <a:ext cx="3576218" cy="2798064"/>
          </a:xfrm>
          <a:prstGeom prst="roundRect">
            <a:avLst>
              <a:gd name="adj" fmla="val 2288"/>
            </a:avLst>
          </a:prstGeom>
          <a:solidFill>
            <a:srgbClr val="19205C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41248" y="3200400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E9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1408176" y="3218688"/>
            <a:ext cx="247893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5566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DAYS 0–30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841248" y="3566160"/>
            <a:ext cx="302757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 up and pilot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859536" y="4142232"/>
            <a:ext cx="128016" cy="128016"/>
          </a:xfrm>
          <a:prstGeom prst="ellipse">
            <a:avLst/>
          </a:prstGeom>
          <a:solidFill>
            <a:srgbClr val="19C6E6"/>
          </a:solidFill>
          <a:ln w="3175">
            <a:solidFill>
              <a:srgbClr val="19C6E6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133856" y="4005072"/>
            <a:ext cx="271668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 Archera from AWS Marketplace on two friendly ISV accounts.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859536" y="4709160"/>
            <a:ext cx="128016" cy="128016"/>
          </a:xfrm>
          <a:prstGeom prst="ellipse">
            <a:avLst/>
          </a:prstGeom>
          <a:solidFill>
            <a:srgbClr val="19C6E6"/>
          </a:solidFill>
          <a:ln w="3175">
            <a:solidFill>
              <a:srgbClr val="19C6E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1133856" y="4572000"/>
            <a:ext cx="271668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 free savings analysis and baseline current commitment coverage.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859536" y="5276088"/>
            <a:ext cx="128016" cy="128016"/>
          </a:xfrm>
          <a:prstGeom prst="ellipse">
            <a:avLst/>
          </a:prstGeom>
          <a:solidFill>
            <a:srgbClr val="19C6E6"/>
          </a:solidFill>
          <a:ln w="3175">
            <a:solidFill>
              <a:srgbClr val="19C6E6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1133856" y="5138928"/>
            <a:ext cx="271668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one automated Well-Architected Review end to end.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4307738" y="2999232"/>
            <a:ext cx="3576218" cy="2798064"/>
          </a:xfrm>
          <a:prstGeom prst="roundRect">
            <a:avLst>
              <a:gd name="adj" fmla="val 2288"/>
            </a:avLst>
          </a:prstGeom>
          <a:solidFill>
            <a:srgbClr val="19205C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4582058" y="3200400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E9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5148986" y="3218688"/>
            <a:ext cx="247893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5566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DAYS 30–60</a:t>
            </a:r>
            <a:endParaRPr lang="en-US" sz="900" dirty="0"/>
          </a:p>
        </p:txBody>
      </p:sp>
      <p:sp>
        <p:nvSpPr>
          <p:cNvPr id="30" name="Text 28"/>
          <p:cNvSpPr txBox="1"/>
          <p:nvPr/>
        </p:nvSpPr>
        <p:spPr>
          <a:xfrm>
            <a:off x="4582058" y="3566160"/>
            <a:ext cx="302757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Productise</a:t>
            </a:r>
            <a:endParaRPr lang="en-US" sz="1500" dirty="0"/>
          </a:p>
        </p:txBody>
      </p:sp>
      <p:sp>
        <p:nvSpPr>
          <p:cNvPr id="31" name="Shape 29"/>
          <p:cNvSpPr/>
          <p:nvPr/>
        </p:nvSpPr>
        <p:spPr>
          <a:xfrm>
            <a:off x="4600346" y="4142232"/>
            <a:ext cx="128016" cy="128016"/>
          </a:xfrm>
          <a:prstGeom prst="ellipse">
            <a:avLst/>
          </a:prstGeom>
          <a:solidFill>
            <a:srgbClr val="19C6E6"/>
          </a:solidFill>
          <a:ln w="3175">
            <a:solidFill>
              <a:srgbClr val="19C6E6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4874666" y="4005072"/>
            <a:ext cx="271668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Package the attach offer, with the savings number as the opening line.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4600346" y="4709160"/>
            <a:ext cx="128016" cy="128016"/>
          </a:xfrm>
          <a:prstGeom prst="ellipse">
            <a:avLst/>
          </a:prstGeom>
          <a:solidFill>
            <a:srgbClr val="19C6E6"/>
          </a:solidFill>
          <a:ln w="3175">
            <a:solidFill>
              <a:srgbClr val="19C6E6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4874666" y="4572000"/>
            <a:ext cx="271668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Execute the distributor agreement and clear its free enablement bar.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4600346" y="5276088"/>
            <a:ext cx="128016" cy="128016"/>
          </a:xfrm>
          <a:prstGeom prst="ellipse">
            <a:avLst/>
          </a:prstGeom>
          <a:solidFill>
            <a:srgbClr val="19C6E6"/>
          </a:solidFill>
          <a:ln w="3175">
            <a:solidFill>
              <a:srgbClr val="19C6E6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4874666" y="5138928"/>
            <a:ext cx="271668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Brief the account team on the talk track and the qualifying question.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8048549" y="2999232"/>
            <a:ext cx="3576218" cy="2798064"/>
          </a:xfrm>
          <a:prstGeom prst="roundRect">
            <a:avLst>
              <a:gd name="adj" fmla="val 2288"/>
            </a:avLst>
          </a:prstGeom>
          <a:solidFill>
            <a:srgbClr val="19205C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8322869" y="3200400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E9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300" dirty="0"/>
          </a:p>
        </p:txBody>
      </p:sp>
      <p:sp>
        <p:nvSpPr>
          <p:cNvPr id="39" name="Text 37"/>
          <p:cNvSpPr txBox="1"/>
          <p:nvPr/>
        </p:nvSpPr>
        <p:spPr>
          <a:xfrm>
            <a:off x="8889797" y="3218688"/>
            <a:ext cx="247893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5566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DAYS 60–90</a:t>
            </a:r>
            <a:endParaRPr lang="en-US" sz="900" dirty="0"/>
          </a:p>
        </p:txBody>
      </p:sp>
      <p:sp>
        <p:nvSpPr>
          <p:cNvPr id="40" name="Text 38"/>
          <p:cNvSpPr txBox="1"/>
          <p:nvPr/>
        </p:nvSpPr>
        <p:spPr>
          <a:xfrm>
            <a:off x="8322869" y="3566160"/>
            <a:ext cx="302757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Roll out and co-sell</a:t>
            </a:r>
            <a:endParaRPr lang="en-US" sz="1500" dirty="0"/>
          </a:p>
        </p:txBody>
      </p:sp>
      <p:sp>
        <p:nvSpPr>
          <p:cNvPr id="41" name="Shape 39"/>
          <p:cNvSpPr/>
          <p:nvPr/>
        </p:nvSpPr>
        <p:spPr>
          <a:xfrm>
            <a:off x="8341157" y="4142232"/>
            <a:ext cx="128016" cy="128016"/>
          </a:xfrm>
          <a:prstGeom prst="ellipse">
            <a:avLst/>
          </a:prstGeom>
          <a:solidFill>
            <a:srgbClr val="19C6E6"/>
          </a:solidFill>
          <a:ln w="3175">
            <a:solidFill>
              <a:srgbClr val="19C6E6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8615477" y="4005072"/>
            <a:ext cx="271668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the base mid-band first, largest accounts last — the slide 11 order.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8341157" y="4709160"/>
            <a:ext cx="128016" cy="128016"/>
          </a:xfrm>
          <a:prstGeom prst="ellipse">
            <a:avLst/>
          </a:prstGeom>
          <a:solidFill>
            <a:srgbClr val="19C6E6"/>
          </a:solidFill>
          <a:ln w="3175">
            <a:solidFill>
              <a:srgbClr val="19C6E6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8615477" y="4572000"/>
            <a:ext cx="271668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Co-sell with AWS and Archera on qualified accounts.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8341157" y="5276088"/>
            <a:ext cx="128016" cy="128016"/>
          </a:xfrm>
          <a:prstGeom prst="ellipse">
            <a:avLst/>
          </a:prstGeom>
          <a:solidFill>
            <a:srgbClr val="19C6E6"/>
          </a:solidFill>
          <a:ln w="3175">
            <a:solidFill>
              <a:srgbClr val="19C6E6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8615477" y="5138928"/>
            <a:ext cx="271668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 savings delivered, AWS funding unlocked, and new margin.</a:t>
            </a:r>
            <a:endParaRPr lang="en-US" sz="1100" dirty="0"/>
          </a:p>
        </p:txBody>
      </p:sp>
      <p:sp>
        <p:nvSpPr>
          <p:cNvPr id="47" name="Text 45"/>
          <p:cNvSpPr txBox="1"/>
          <p:nvPr/>
        </p:nvSpPr>
        <p:spPr>
          <a:xfrm>
            <a:off x="566928" y="634593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5B64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Archera  ×  Automatum</a:t>
            </a:r>
            <a:endParaRPr lang="en-US" sz="900" dirty="0"/>
          </a:p>
        </p:txBody>
      </p:sp>
      <p:sp>
        <p:nvSpPr>
          <p:cNvPr id="48" name="Text 46"/>
          <p:cNvSpPr txBox="1"/>
          <p:nvPr/>
        </p:nvSpPr>
        <p:spPr>
          <a:xfrm>
            <a:off x="10527487" y="634593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014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6576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60" kern="0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FIVE  ·  THE RECKONING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58368"/>
            <a:ext cx="1105783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400"/>
              </a:lnSpc>
              <a:buNone/>
            </a:pPr>
            <a:r>
              <a:rPr lang="en-US" sz="3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not to use this, and what to validate.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566928" y="1481328"/>
            <a:ext cx="11057839" cy="1207008"/>
          </a:xfrm>
          <a:prstGeom prst="roundRect">
            <a:avLst>
              <a:gd name="adj" fmla="val 5303"/>
            </a:avLst>
          </a:prstGeom>
          <a:solidFill>
            <a:srgbClr val="1E2668"/>
          </a:solidFill>
          <a:ln w="13970">
            <a:solidFill>
              <a:srgbClr val="F5A62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96112" y="1481328"/>
            <a:ext cx="10399471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a workload is genuinely stable and the customer will run it for three years, they should buy the three-year commitment themselves and keep all 57%.</a:t>
            </a:r>
            <a:endParaRPr lang="en-US" sz="135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Archera is for the spend that genuinely cannot be committed — which, for a startup and scaleup base, is a great deal more of the bill than most teams would guess.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566928" y="2907792"/>
            <a:ext cx="2641016" cy="2157984"/>
          </a:xfrm>
          <a:prstGeom prst="roundRect">
            <a:avLst>
              <a:gd name="adj" fmla="val 2966"/>
            </a:avLst>
          </a:prstGeom>
          <a:solidFill>
            <a:srgbClr val="19205C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3108960"/>
            <a:ext cx="212895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Rebate cover: off by default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3950208"/>
            <a:ext cx="2128952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50"/>
              </a:lnSpc>
              <a:buNone/>
            </a:pPr>
            <a:r>
              <a:rPr lang="en-US" sz="110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has to be switched on with Archera. A customer can hold release-only cover while believing they are rebate-protected.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372536" y="2907792"/>
            <a:ext cx="2641016" cy="2157984"/>
          </a:xfrm>
          <a:prstGeom prst="roundRect">
            <a:avLst>
              <a:gd name="adj" fmla="val 2966"/>
            </a:avLst>
          </a:prstGeom>
          <a:solidFill>
            <a:srgbClr val="19205C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628568" y="3108960"/>
            <a:ext cx="212895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Buybacks are not automatic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3628568" y="3950208"/>
            <a:ext cx="2128952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50"/>
              </a:lnSpc>
              <a:buNone/>
            </a:pPr>
            <a:r>
              <a:rPr lang="en-US" sz="110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Somebody has to file the request — and for EC2, the RI Marketplace must be enabled on the account first.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178144" y="2907792"/>
            <a:ext cx="2641016" cy="2157984"/>
          </a:xfrm>
          <a:prstGeom prst="roundRect">
            <a:avLst>
              <a:gd name="adj" fmla="val 2966"/>
            </a:avLst>
          </a:prstGeom>
          <a:solidFill>
            <a:srgbClr val="19205C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34176" y="3108960"/>
            <a:ext cx="212895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the economics per account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6434176" y="3950208"/>
            <a:ext cx="2128952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50"/>
              </a:lnSpc>
              <a:buNone/>
            </a:pPr>
            <a:r>
              <a:rPr lang="en-US" sz="110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Pricing is transparent, but the right term depends on expected utilisation. Run the numbers before recommending one.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8983751" y="2907792"/>
            <a:ext cx="2641016" cy="2157984"/>
          </a:xfrm>
          <a:prstGeom prst="roundRect">
            <a:avLst>
              <a:gd name="adj" fmla="val 2966"/>
            </a:avLst>
          </a:prstGeom>
          <a:solidFill>
            <a:srgbClr val="19205C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239783" y="3108960"/>
            <a:ext cx="212895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access and billing ownership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9239783" y="3950208"/>
            <a:ext cx="2128952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50"/>
              </a:lnSpc>
              <a:buNone/>
            </a:pPr>
            <a:r>
              <a:rPr lang="en-US" sz="110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Minimal-privilege install, and the customer keeps full ownership and control of their AWS billing. Make that explicit in every engagement.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66928" y="5175504"/>
            <a:ext cx="11057839" cy="950976"/>
          </a:xfrm>
          <a:prstGeom prst="roundRect">
            <a:avLst>
              <a:gd name="adj" fmla="val 6731"/>
            </a:avLst>
          </a:prstGeom>
          <a:solidFill>
            <a:srgbClr val="141A4F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77824" y="5175504"/>
            <a:ext cx="10436047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disclosure. </a:t>
            </a:r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Anyone recommending this is paid on it — Archera, us, and once the rev-share is live, Automatum too. We will still tell you when the right answer is the native three-year. And the guarantees themselves are contractual under Archera's terms, backed by third-party reinsurance — not regulated insurance.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566928" y="6181344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i="1" dirty="0">
                <a:solidFill>
                  <a:srgbClr val="5B64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review the agreement's term before signing: it auto-renews in 18-month cycles unless terminated with at least six months' written notice, under Delaware law.</a:t>
            </a:r>
            <a:endParaRPr lang="en-US" sz="850" dirty="0"/>
          </a:p>
        </p:txBody>
      </p:sp>
      <p:sp>
        <p:nvSpPr>
          <p:cNvPr id="21" name="Text 19"/>
          <p:cNvSpPr txBox="1"/>
          <p:nvPr/>
        </p:nvSpPr>
        <p:spPr>
          <a:xfrm>
            <a:off x="566928" y="634593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5B64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Archera  ×  Automatum</a:t>
            </a:r>
            <a:endParaRPr lang="en-US" sz="900" dirty="0"/>
          </a:p>
        </p:txBody>
      </p:sp>
      <p:sp>
        <p:nvSpPr>
          <p:cNvPr id="22" name="Text 20"/>
          <p:cNvSpPr txBox="1"/>
          <p:nvPr/>
        </p:nvSpPr>
        <p:spPr>
          <a:xfrm>
            <a:off x="10527487" y="634593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506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6576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60" kern="0" dirty="0">
                <a:solidFill>
                  <a:srgbClr val="19C6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TAKEAWAY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914400"/>
            <a:ext cx="104241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7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 your customers’ AWS bills
</a:t>
            </a:r>
            <a:pPr indent="0" marL="0">
              <a:lnSpc>
                <a:spcPts val="4700"/>
              </a:lnSpc>
              <a:buNone/>
            </a:pPr>
            <a:r>
              <a:rPr lang="en-US" sz="4000" b="1" dirty="0">
                <a:solidFill>
                  <a:srgbClr val="5566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into a reason to stay.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2615184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4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free platform, attached to a base that already exists. It auto-populates the Well-Architected reviews Automatum's ISVs need, produces savings on bills they already pay, and opens a recurring revenue line through the marketplace channel Automatum already runs — with almost no cost to introduce.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566928" y="3858768"/>
            <a:ext cx="3576218" cy="1719072"/>
          </a:xfrm>
          <a:prstGeom prst="roundRect">
            <a:avLst>
              <a:gd name="adj" fmla="val 3723"/>
            </a:avLst>
          </a:prstGeom>
          <a:solidFill>
            <a:srgbClr val="141A4F"/>
          </a:solidFill>
          <a:ln w="15875">
            <a:solidFill>
              <a:srgbClr val="3B4CC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41248" y="4059936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566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841248" y="4370832"/>
            <a:ext cx="302757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two pilot ISVs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841248" y="4919472"/>
            <a:ext cx="30275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Steady-state or AI-heavy AWS spend, and a relationship that will tolerate a first run.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307738" y="3858768"/>
            <a:ext cx="3576218" cy="1719072"/>
          </a:xfrm>
          <a:prstGeom prst="roundRect">
            <a:avLst>
              <a:gd name="adj" fmla="val 3723"/>
            </a:avLst>
          </a:prstGeom>
          <a:solidFill>
            <a:srgbClr val="141A4F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82058" y="4059936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8E9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4582058" y="4370832"/>
            <a:ext cx="302757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 free savings analysis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4582058" y="4919472"/>
            <a:ext cx="30275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measured coverage baseline, at no cost and no commitment.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8048549" y="3858768"/>
            <a:ext cx="3576218" cy="1719072"/>
          </a:xfrm>
          <a:prstGeom prst="roundRect">
            <a:avLst>
              <a:gd name="adj" fmla="val 3723"/>
            </a:avLst>
          </a:prstGeom>
          <a:solidFill>
            <a:srgbClr val="141A4F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322869" y="4059936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8E9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8322869" y="4370832"/>
            <a:ext cx="302757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 the distributor agreement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8322869" y="4919472"/>
            <a:ext cx="30275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20–30% tiered rev-share, paid monthly through the marketplace channel.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566928" y="60533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80" kern="0" dirty="0">
                <a:solidFill>
                  <a:srgbClr val="5B64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Prepared by Only Best Practices  ·  AWS Alliance Advisory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10527487" y="605332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506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6576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60" kern="0" dirty="0">
                <a:solidFill>
                  <a:srgbClr val="19C6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 THIS ON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58368"/>
            <a:ext cx="1105783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400"/>
              </a:lnSpc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Archera × Automatum, in one frame.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133856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whole argument, for whoever was not in the room.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627632"/>
            <a:ext cx="3551834" cy="4169664"/>
          </a:xfrm>
          <a:prstGeom prst="roundRect">
            <a:avLst>
              <a:gd name="adj" fmla="val 1802"/>
            </a:avLst>
          </a:prstGeom>
          <a:solidFill>
            <a:srgbClr val="141A4F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1810512"/>
            <a:ext cx="303977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5566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STRUCTURE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084832"/>
            <a:ext cx="303977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native 3-year RI or Savings Plan, bought into the customer's own payer account.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688336"/>
            <a:ext cx="303977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Their obligation: 30 days or 12 months. Archera carries the balance; AWS bills them directly.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3291840"/>
            <a:ext cx="303977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Fee: 50% of the created saving on the 30-day term, 25% on the 1-year. No savings, no fee.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4023360"/>
            <a:ext cx="1325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AB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 as you go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2194560" y="4123944"/>
            <a:ext cx="1005840" cy="91440"/>
          </a:xfrm>
          <a:prstGeom prst="rect">
            <a:avLst/>
          </a:prstGeom>
          <a:solidFill>
            <a:srgbClr val="1E2668"/>
          </a:solidFill>
          <a:ln w="3175">
            <a:solidFill>
              <a:srgbClr val="1E266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273552" y="4023360"/>
            <a:ext cx="71719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AAB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0%</a:t>
            </a:r>
            <a:endParaRPr lang="en-US" sz="950" dirty="0"/>
          </a:p>
        </p:txBody>
      </p:sp>
      <p:sp>
        <p:nvSpPr>
          <p:cNvPr id="13" name="Text 11"/>
          <p:cNvSpPr txBox="1"/>
          <p:nvPr/>
        </p:nvSpPr>
        <p:spPr>
          <a:xfrm>
            <a:off x="822960" y="4361688"/>
            <a:ext cx="1325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Archera 30-day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2194560" y="4462272"/>
            <a:ext cx="1005840" cy="91440"/>
          </a:xfrm>
          <a:prstGeom prst="rect">
            <a:avLst/>
          </a:prstGeom>
          <a:solidFill>
            <a:srgbClr val="1E2668"/>
          </a:solidFill>
          <a:ln w="3175">
            <a:solidFill>
              <a:srgbClr val="1E266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194560" y="4462272"/>
            <a:ext cx="502920" cy="91440"/>
          </a:xfrm>
          <a:prstGeom prst="rect">
            <a:avLst/>
          </a:prstGeom>
          <a:solidFill>
            <a:srgbClr val="0E93AE"/>
          </a:solidFill>
          <a:ln w="3175">
            <a:solidFill>
              <a:srgbClr val="0E93AE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3273552" y="4361688"/>
            <a:ext cx="71719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E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28.5%  · exit</a:t>
            </a:r>
            <a:endParaRPr lang="en-US" sz="950" dirty="0"/>
          </a:p>
        </p:txBody>
      </p:sp>
      <p:sp>
        <p:nvSpPr>
          <p:cNvPr id="17" name="Text 15"/>
          <p:cNvSpPr txBox="1"/>
          <p:nvPr/>
        </p:nvSpPr>
        <p:spPr>
          <a:xfrm>
            <a:off x="822960" y="4700016"/>
            <a:ext cx="1325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AB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 1-year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2194560" y="4800600"/>
            <a:ext cx="1005840" cy="91440"/>
          </a:xfrm>
          <a:prstGeom prst="rect">
            <a:avLst/>
          </a:prstGeom>
          <a:solidFill>
            <a:srgbClr val="1E2668"/>
          </a:solidFill>
          <a:ln w="3175">
            <a:solidFill>
              <a:srgbClr val="1E266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194560" y="4800600"/>
            <a:ext cx="635267" cy="91440"/>
          </a:xfrm>
          <a:prstGeom prst="rect">
            <a:avLst/>
          </a:prstGeom>
          <a:solidFill>
            <a:srgbClr val="5B6486"/>
          </a:solidFill>
          <a:ln w="3175">
            <a:solidFill>
              <a:srgbClr val="5B648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273552" y="4700016"/>
            <a:ext cx="71719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AAB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36%</a:t>
            </a:r>
            <a:endParaRPr lang="en-US" sz="950" dirty="0"/>
          </a:p>
        </p:txBody>
      </p:sp>
      <p:sp>
        <p:nvSpPr>
          <p:cNvPr id="21" name="Text 19"/>
          <p:cNvSpPr txBox="1"/>
          <p:nvPr/>
        </p:nvSpPr>
        <p:spPr>
          <a:xfrm>
            <a:off x="822960" y="5038344"/>
            <a:ext cx="1325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Archera 1-year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2194560" y="5138928"/>
            <a:ext cx="1005840" cy="91440"/>
          </a:xfrm>
          <a:prstGeom prst="rect">
            <a:avLst/>
          </a:prstGeom>
          <a:solidFill>
            <a:srgbClr val="1E2668"/>
          </a:solidFill>
          <a:ln w="3175">
            <a:solidFill>
              <a:srgbClr val="1E2668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194560" y="5138928"/>
            <a:ext cx="754380" cy="91440"/>
          </a:xfrm>
          <a:prstGeom prst="rect">
            <a:avLst/>
          </a:prstGeom>
          <a:solidFill>
            <a:srgbClr val="5566D8"/>
          </a:solidFill>
          <a:ln w="3175">
            <a:solidFill>
              <a:srgbClr val="5566D8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3273552" y="5038344"/>
            <a:ext cx="71719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5566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42.75%  · exit</a:t>
            </a:r>
            <a:endParaRPr lang="en-US" sz="950" dirty="0"/>
          </a:p>
        </p:txBody>
      </p:sp>
      <p:sp>
        <p:nvSpPr>
          <p:cNvPr id="25" name="Text 23"/>
          <p:cNvSpPr txBox="1"/>
          <p:nvPr/>
        </p:nvSpPr>
        <p:spPr>
          <a:xfrm>
            <a:off x="822960" y="5376672"/>
            <a:ext cx="1325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AB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 3-year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2194560" y="5477256"/>
            <a:ext cx="1005840" cy="91440"/>
          </a:xfrm>
          <a:prstGeom prst="rect">
            <a:avLst/>
          </a:prstGeom>
          <a:solidFill>
            <a:srgbClr val="1E2668"/>
          </a:solidFill>
          <a:ln w="3175">
            <a:solidFill>
              <a:srgbClr val="1E2668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194560" y="5477256"/>
            <a:ext cx="1005840" cy="91440"/>
          </a:xfrm>
          <a:prstGeom prst="rect">
            <a:avLst/>
          </a:prstGeom>
          <a:solidFill>
            <a:srgbClr val="8E96C8"/>
          </a:solidFill>
          <a:ln w="3175">
            <a:solidFill>
              <a:srgbClr val="8E96C8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3273552" y="5376672"/>
            <a:ext cx="71719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AAB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57%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4319930" y="1627632"/>
            <a:ext cx="3551834" cy="4169664"/>
          </a:xfrm>
          <a:prstGeom prst="roundRect">
            <a:avLst>
              <a:gd name="adj" fmla="val 1802"/>
            </a:avLst>
          </a:prstGeom>
          <a:solidFill>
            <a:srgbClr val="141A4F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4575962" y="1810512"/>
            <a:ext cx="303977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NOT TO — AND THE FINE PRINT</a:t>
            </a:r>
            <a:endParaRPr lang="en-US" sz="900" dirty="0"/>
          </a:p>
        </p:txBody>
      </p:sp>
      <p:sp>
        <p:nvSpPr>
          <p:cNvPr id="31" name="Text 29"/>
          <p:cNvSpPr txBox="1"/>
          <p:nvPr/>
        </p:nvSpPr>
        <p:spPr>
          <a:xfrm>
            <a:off x="4575962" y="2103120"/>
            <a:ext cx="303977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Stable three-year workloads</a:t>
            </a:r>
            <a:endParaRPr lang="en-US" sz="1050" dirty="0"/>
          </a:p>
        </p:txBody>
      </p:sp>
      <p:sp>
        <p:nvSpPr>
          <p:cNvPr id="32" name="Text 30"/>
          <p:cNvSpPr txBox="1"/>
          <p:nvPr/>
        </p:nvSpPr>
        <p:spPr>
          <a:xfrm>
            <a:off x="4575962" y="2350008"/>
            <a:ext cx="303977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Buy the native 3-year and keep all 57%. Archera is only for the spend that cannot honestly be committed.</a:t>
            </a:r>
            <a:endParaRPr lang="en-US" sz="950" dirty="0"/>
          </a:p>
        </p:txBody>
      </p:sp>
      <p:sp>
        <p:nvSpPr>
          <p:cNvPr id="33" name="Text 31"/>
          <p:cNvSpPr txBox="1"/>
          <p:nvPr/>
        </p:nvSpPr>
        <p:spPr>
          <a:xfrm>
            <a:off x="4575962" y="2999232"/>
            <a:ext cx="303977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Rebate cover is off by default</a:t>
            </a:r>
            <a:endParaRPr lang="en-US" sz="1050" dirty="0"/>
          </a:p>
        </p:txBody>
      </p:sp>
      <p:sp>
        <p:nvSpPr>
          <p:cNvPr id="34" name="Text 32"/>
          <p:cNvSpPr txBox="1"/>
          <p:nvPr/>
        </p:nvSpPr>
        <p:spPr>
          <a:xfrm>
            <a:off x="4575962" y="3246120"/>
            <a:ext cx="303977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must be switched on with Archera — release-only cover is not rebate cover.</a:t>
            </a:r>
            <a:endParaRPr lang="en-US" sz="950" dirty="0"/>
          </a:p>
        </p:txBody>
      </p:sp>
      <p:sp>
        <p:nvSpPr>
          <p:cNvPr id="35" name="Text 33"/>
          <p:cNvSpPr txBox="1"/>
          <p:nvPr/>
        </p:nvSpPr>
        <p:spPr>
          <a:xfrm>
            <a:off x="4575962" y="3895344"/>
            <a:ext cx="303977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Buybacks are filed, not automatic</a:t>
            </a:r>
            <a:endParaRPr lang="en-US" sz="1050" dirty="0"/>
          </a:p>
        </p:txBody>
      </p:sp>
      <p:sp>
        <p:nvSpPr>
          <p:cNvPr id="36" name="Text 34"/>
          <p:cNvSpPr txBox="1"/>
          <p:nvPr/>
        </p:nvSpPr>
        <p:spPr>
          <a:xfrm>
            <a:off x="4575962" y="4142232"/>
            <a:ext cx="303977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Somebody requests the release, and EC2 buybacks need the RI Marketplace enabled first.</a:t>
            </a:r>
            <a:endParaRPr lang="en-US" sz="950" dirty="0"/>
          </a:p>
        </p:txBody>
      </p:sp>
      <p:sp>
        <p:nvSpPr>
          <p:cNvPr id="37" name="Text 35"/>
          <p:cNvSpPr txBox="1"/>
          <p:nvPr/>
        </p:nvSpPr>
        <p:spPr>
          <a:xfrm>
            <a:off x="4575962" y="4791456"/>
            <a:ext cx="303977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guarantees are contractual</a:t>
            </a:r>
            <a:endParaRPr lang="en-US" sz="1050" dirty="0"/>
          </a:p>
        </p:txBody>
      </p:sp>
      <p:sp>
        <p:nvSpPr>
          <p:cNvPr id="38" name="Text 36"/>
          <p:cNvSpPr txBox="1"/>
          <p:nvPr/>
        </p:nvSpPr>
        <p:spPr>
          <a:xfrm>
            <a:off x="4575962" y="5038344"/>
            <a:ext cx="303977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Backed by third-party reinsurance — not a regulated insurance policy.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8072933" y="1627632"/>
            <a:ext cx="3551834" cy="4169664"/>
          </a:xfrm>
          <a:prstGeom prst="roundRect">
            <a:avLst>
              <a:gd name="adj" fmla="val 1802"/>
            </a:avLst>
          </a:prstGeom>
          <a:solidFill>
            <a:srgbClr val="1E2668"/>
          </a:solidFill>
          <a:ln w="13970">
            <a:solidFill>
              <a:srgbClr val="3B4CC0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8328965" y="1810512"/>
            <a:ext cx="303977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19C6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PARTNERSHIP</a:t>
            </a:r>
            <a:endParaRPr lang="en-US" sz="900" dirty="0"/>
          </a:p>
        </p:txBody>
      </p:sp>
      <p:sp>
        <p:nvSpPr>
          <p:cNvPr id="41" name="Text 39"/>
          <p:cNvSpPr txBox="1"/>
          <p:nvPr/>
        </p:nvSpPr>
        <p:spPr>
          <a:xfrm>
            <a:off x="8328965" y="2084832"/>
            <a:ext cx="303977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platform is free; the premium meters monthly on savings realised, billed through AWS Marketplace CPPO.</a:t>
            </a:r>
            <a:endParaRPr lang="en-US" sz="1000" dirty="0"/>
          </a:p>
        </p:txBody>
      </p:sp>
      <p:sp>
        <p:nvSpPr>
          <p:cNvPr id="42" name="Text 40"/>
          <p:cNvSpPr txBox="1"/>
          <p:nvPr/>
        </p:nvSpPr>
        <p:spPr>
          <a:xfrm>
            <a:off x="8328965" y="2779776"/>
            <a:ext cx="303977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Co-Seller rev-share: 20% / 25% / 30% by commitment MRR — on entities net-new to Archera only.</a:t>
            </a:r>
            <a:endParaRPr lang="en-US" sz="1000" dirty="0"/>
          </a:p>
        </p:txBody>
      </p:sp>
      <p:sp>
        <p:nvSpPr>
          <p:cNvPr id="43" name="Text 41"/>
          <p:cNvSpPr txBox="1"/>
          <p:nvPr/>
        </p:nvSpPr>
        <p:spPr>
          <a:xfrm>
            <a:off x="8328965" y="3584448"/>
            <a:ext cx="303977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8E9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THREE ASKS</a:t>
            </a:r>
            <a:endParaRPr lang="en-US" sz="850" dirty="0"/>
          </a:p>
        </p:txBody>
      </p:sp>
      <p:sp>
        <p:nvSpPr>
          <p:cNvPr id="44" name="Shape 42"/>
          <p:cNvSpPr/>
          <p:nvPr/>
        </p:nvSpPr>
        <p:spPr>
          <a:xfrm>
            <a:off x="8347253" y="3941064"/>
            <a:ext cx="274320" cy="274320"/>
          </a:xfrm>
          <a:prstGeom prst="ellipse">
            <a:avLst/>
          </a:prstGeom>
          <a:solidFill>
            <a:srgbClr val="3B4CC0"/>
          </a:solidFill>
          <a:ln w="9525">
            <a:solidFill>
              <a:srgbClr val="5566D8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8347253" y="394106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46" name="Text 44"/>
          <p:cNvSpPr txBox="1"/>
          <p:nvPr/>
        </p:nvSpPr>
        <p:spPr>
          <a:xfrm>
            <a:off x="8731301" y="3840480"/>
            <a:ext cx="261914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two pilot ISVs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8347253" y="4507992"/>
            <a:ext cx="274320" cy="274320"/>
          </a:xfrm>
          <a:prstGeom prst="ellipse">
            <a:avLst/>
          </a:prstGeom>
          <a:solidFill>
            <a:srgbClr val="3B4CC0"/>
          </a:solidFill>
          <a:ln w="9525">
            <a:solidFill>
              <a:srgbClr val="5566D8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8347253" y="450799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49" name="Text 47"/>
          <p:cNvSpPr txBox="1"/>
          <p:nvPr/>
        </p:nvSpPr>
        <p:spPr>
          <a:xfrm>
            <a:off x="8731301" y="4407408"/>
            <a:ext cx="261914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 free savings analysis</a:t>
            </a:r>
            <a:endParaRPr lang="en-US" sz="1100" dirty="0"/>
          </a:p>
        </p:txBody>
      </p:sp>
      <p:sp>
        <p:nvSpPr>
          <p:cNvPr id="50" name="Shape 48"/>
          <p:cNvSpPr/>
          <p:nvPr/>
        </p:nvSpPr>
        <p:spPr>
          <a:xfrm>
            <a:off x="8347253" y="5074920"/>
            <a:ext cx="274320" cy="274320"/>
          </a:xfrm>
          <a:prstGeom prst="ellipse">
            <a:avLst/>
          </a:prstGeom>
          <a:solidFill>
            <a:srgbClr val="3B4CC0"/>
          </a:solidFill>
          <a:ln w="9525">
            <a:solidFill>
              <a:srgbClr val="5566D8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8347253" y="50749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52" name="Text 50"/>
          <p:cNvSpPr txBox="1"/>
          <p:nvPr/>
        </p:nvSpPr>
        <p:spPr>
          <a:xfrm>
            <a:off x="8731301" y="4974336"/>
            <a:ext cx="261914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 the distributor agreement</a:t>
            </a:r>
            <a:endParaRPr lang="en-US" sz="1100" dirty="0"/>
          </a:p>
        </p:txBody>
      </p:sp>
      <p:sp>
        <p:nvSpPr>
          <p:cNvPr id="53" name="Text 51"/>
          <p:cNvSpPr txBox="1"/>
          <p:nvPr/>
        </p:nvSpPr>
        <p:spPr>
          <a:xfrm>
            <a:off x="566928" y="594360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i="1" dirty="0">
                <a:solidFill>
                  <a:srgbClr val="5B64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Figures per this deck: savings vs on-demand from Archera's AWS pricing; tiers per the distributor agreement template (unsigned). Full sources on the slides behind each claim.</a:t>
            </a:r>
            <a:endParaRPr lang="en-US" sz="850" dirty="0"/>
          </a:p>
        </p:txBody>
      </p:sp>
      <p:sp>
        <p:nvSpPr>
          <p:cNvPr id="54" name="Text 52"/>
          <p:cNvSpPr txBox="1"/>
          <p:nvPr/>
        </p:nvSpPr>
        <p:spPr>
          <a:xfrm>
            <a:off x="566928" y="63093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80" kern="0" dirty="0">
                <a:solidFill>
                  <a:srgbClr val="5B64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Prepared by Only Best Practices  ·  AWS Alliance Advisory</a:t>
            </a:r>
            <a:endParaRPr lang="en-US" sz="1000" dirty="0"/>
          </a:p>
        </p:txBody>
      </p:sp>
      <p:sp>
        <p:nvSpPr>
          <p:cNvPr id="55" name="Text 53"/>
          <p:cNvSpPr txBox="1"/>
          <p:nvPr/>
        </p:nvSpPr>
        <p:spPr>
          <a:xfrm>
            <a:off x="10527487" y="630936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Only Best Practices · AWS Alliance Advisory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Putting Archera to work for Automatum</dc:title>
  <dc:subject>PptxGenJS Presentation</dc:subject>
  <dc:creator>Only Best Practices</dc:creator>
  <cp:lastModifiedBy>Only Best Practices</cp:lastModifiedBy>
  <cp:revision>1</cp:revision>
  <dcterms:created xsi:type="dcterms:W3CDTF">2026-08-27T07:41:54Z</dcterms:created>
  <dcterms:modified xsi:type="dcterms:W3CDTF">2026-08-27T07:41:54Z</dcterms:modified>
</cp:coreProperties>
</file>